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0" r:id="rId1"/>
  </p:sldMasterIdLst>
  <p:notesMasterIdLst>
    <p:notesMasterId r:id="rId125"/>
  </p:notesMasterIdLst>
  <p:handoutMasterIdLst>
    <p:handoutMasterId r:id="rId126"/>
  </p:handoutMasterIdLst>
  <p:sldIdLst>
    <p:sldId id="256" r:id="rId2"/>
    <p:sldId id="551" r:id="rId3"/>
    <p:sldId id="257" r:id="rId4"/>
    <p:sldId id="273" r:id="rId5"/>
    <p:sldId id="531" r:id="rId6"/>
    <p:sldId id="272" r:id="rId7"/>
    <p:sldId id="554" r:id="rId8"/>
    <p:sldId id="540" r:id="rId9"/>
    <p:sldId id="266" r:id="rId10"/>
    <p:sldId id="280" r:id="rId11"/>
    <p:sldId id="267" r:id="rId12"/>
    <p:sldId id="268" r:id="rId13"/>
    <p:sldId id="553" r:id="rId14"/>
    <p:sldId id="265" r:id="rId15"/>
    <p:sldId id="533" r:id="rId16"/>
    <p:sldId id="534" r:id="rId17"/>
    <p:sldId id="541" r:id="rId18"/>
    <p:sldId id="473" r:id="rId19"/>
    <p:sldId id="474" r:id="rId20"/>
    <p:sldId id="475" r:id="rId21"/>
    <p:sldId id="476" r:id="rId22"/>
    <p:sldId id="477" r:id="rId23"/>
    <p:sldId id="535" r:id="rId24"/>
    <p:sldId id="556" r:id="rId25"/>
    <p:sldId id="557" r:id="rId26"/>
    <p:sldId id="558" r:id="rId27"/>
    <p:sldId id="559" r:id="rId28"/>
    <p:sldId id="478" r:id="rId29"/>
    <p:sldId id="561" r:id="rId30"/>
    <p:sldId id="562" r:id="rId31"/>
    <p:sldId id="560" r:id="rId32"/>
    <p:sldId id="479" r:id="rId33"/>
    <p:sldId id="587" r:id="rId34"/>
    <p:sldId id="484" r:id="rId35"/>
    <p:sldId id="536" r:id="rId36"/>
    <p:sldId id="485" r:id="rId37"/>
    <p:sldId id="486" r:id="rId38"/>
    <p:sldId id="488" r:id="rId39"/>
    <p:sldId id="489" r:id="rId40"/>
    <p:sldId id="490" r:id="rId41"/>
    <p:sldId id="542" r:id="rId42"/>
    <p:sldId id="492" r:id="rId43"/>
    <p:sldId id="494" r:id="rId44"/>
    <p:sldId id="543" r:id="rId45"/>
    <p:sldId id="549" r:id="rId46"/>
    <p:sldId id="495" r:id="rId47"/>
    <p:sldId id="286" r:id="rId48"/>
    <p:sldId id="287" r:id="rId49"/>
    <p:sldId id="288" r:id="rId50"/>
    <p:sldId id="289" r:id="rId51"/>
    <p:sldId id="290" r:id="rId52"/>
    <p:sldId id="545" r:id="rId53"/>
    <p:sldId id="295" r:id="rId54"/>
    <p:sldId id="296" r:id="rId55"/>
    <p:sldId id="297" r:id="rId56"/>
    <p:sldId id="577" r:id="rId57"/>
    <p:sldId id="298" r:id="rId58"/>
    <p:sldId id="574" r:id="rId59"/>
    <p:sldId id="304" r:id="rId60"/>
    <p:sldId id="573" r:id="rId61"/>
    <p:sldId id="307" r:id="rId62"/>
    <p:sldId id="572" r:id="rId63"/>
    <p:sldId id="537" r:id="rId64"/>
    <p:sldId id="571" r:id="rId65"/>
    <p:sldId id="544" r:id="rId66"/>
    <p:sldId id="569" r:id="rId67"/>
    <p:sldId id="570" r:id="rId68"/>
    <p:sldId id="567" r:id="rId69"/>
    <p:sldId id="568" r:id="rId70"/>
    <p:sldId id="566" r:id="rId71"/>
    <p:sldId id="565" r:id="rId72"/>
    <p:sldId id="588" r:id="rId73"/>
    <p:sldId id="589" r:id="rId74"/>
    <p:sldId id="590" r:id="rId75"/>
    <p:sldId id="591" r:id="rId76"/>
    <p:sldId id="564" r:id="rId77"/>
    <p:sldId id="563" r:id="rId78"/>
    <p:sldId id="529" r:id="rId79"/>
    <p:sldId id="508" r:id="rId80"/>
    <p:sldId id="509" r:id="rId81"/>
    <p:sldId id="510" r:id="rId82"/>
    <p:sldId id="511" r:id="rId83"/>
    <p:sldId id="512" r:id="rId84"/>
    <p:sldId id="350" r:id="rId85"/>
    <p:sldId id="351" r:id="rId86"/>
    <p:sldId id="359" r:id="rId87"/>
    <p:sldId id="357" r:id="rId88"/>
    <p:sldId id="353" r:id="rId89"/>
    <p:sldId id="355" r:id="rId90"/>
    <p:sldId id="356" r:id="rId91"/>
    <p:sldId id="352" r:id="rId92"/>
    <p:sldId id="550" r:id="rId93"/>
    <p:sldId id="552" r:id="rId94"/>
    <p:sldId id="358" r:id="rId95"/>
    <p:sldId id="360" r:id="rId96"/>
    <p:sldId id="361" r:id="rId97"/>
    <p:sldId id="362" r:id="rId98"/>
    <p:sldId id="363" r:id="rId99"/>
    <p:sldId id="364" r:id="rId100"/>
    <p:sldId id="365" r:id="rId101"/>
    <p:sldId id="366" r:id="rId102"/>
    <p:sldId id="367" r:id="rId103"/>
    <p:sldId id="368" r:id="rId104"/>
    <p:sldId id="584" r:id="rId105"/>
    <p:sldId id="370" r:id="rId106"/>
    <p:sldId id="371" r:id="rId107"/>
    <p:sldId id="372" r:id="rId108"/>
    <p:sldId id="377" r:id="rId109"/>
    <p:sldId id="378" r:id="rId110"/>
    <p:sldId id="538" r:id="rId111"/>
    <p:sldId id="539" r:id="rId112"/>
    <p:sldId id="390" r:id="rId113"/>
    <p:sldId id="396" r:id="rId114"/>
    <p:sldId id="397" r:id="rId115"/>
    <p:sldId id="532" r:id="rId116"/>
    <p:sldId id="400" r:id="rId117"/>
    <p:sldId id="401" r:id="rId118"/>
    <p:sldId id="402" r:id="rId119"/>
    <p:sldId id="405" r:id="rId120"/>
    <p:sldId id="580" r:id="rId121"/>
    <p:sldId id="583" r:id="rId122"/>
    <p:sldId id="592" r:id="rId123"/>
    <p:sldId id="593" r:id="rId124"/>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9A830AD-9B9C-404A-AF80-62B3261AF643}">
          <p14:sldIdLst>
            <p14:sldId id="256"/>
            <p14:sldId id="551"/>
            <p14:sldId id="257"/>
            <p14:sldId id="273"/>
            <p14:sldId id="531"/>
            <p14:sldId id="272"/>
            <p14:sldId id="554"/>
            <p14:sldId id="540"/>
            <p14:sldId id="266"/>
            <p14:sldId id="280"/>
            <p14:sldId id="267"/>
            <p14:sldId id="268"/>
            <p14:sldId id="553"/>
            <p14:sldId id="265"/>
            <p14:sldId id="533"/>
            <p14:sldId id="534"/>
            <p14:sldId id="541"/>
            <p14:sldId id="473"/>
            <p14:sldId id="474"/>
            <p14:sldId id="475"/>
            <p14:sldId id="476"/>
            <p14:sldId id="477"/>
            <p14:sldId id="535"/>
            <p14:sldId id="556"/>
            <p14:sldId id="557"/>
            <p14:sldId id="558"/>
            <p14:sldId id="559"/>
            <p14:sldId id="478"/>
            <p14:sldId id="561"/>
            <p14:sldId id="562"/>
            <p14:sldId id="560"/>
            <p14:sldId id="479"/>
            <p14:sldId id="587"/>
            <p14:sldId id="484"/>
            <p14:sldId id="536"/>
            <p14:sldId id="485"/>
            <p14:sldId id="486"/>
            <p14:sldId id="488"/>
            <p14:sldId id="489"/>
            <p14:sldId id="490"/>
            <p14:sldId id="542"/>
            <p14:sldId id="492"/>
            <p14:sldId id="494"/>
            <p14:sldId id="543"/>
            <p14:sldId id="549"/>
            <p14:sldId id="495"/>
            <p14:sldId id="286"/>
            <p14:sldId id="287"/>
            <p14:sldId id="288"/>
            <p14:sldId id="289"/>
            <p14:sldId id="290"/>
            <p14:sldId id="545"/>
            <p14:sldId id="295"/>
            <p14:sldId id="296"/>
            <p14:sldId id="297"/>
            <p14:sldId id="577"/>
            <p14:sldId id="298"/>
            <p14:sldId id="574"/>
            <p14:sldId id="304"/>
            <p14:sldId id="573"/>
            <p14:sldId id="307"/>
            <p14:sldId id="572"/>
            <p14:sldId id="537"/>
            <p14:sldId id="571"/>
            <p14:sldId id="544"/>
            <p14:sldId id="569"/>
            <p14:sldId id="570"/>
            <p14:sldId id="567"/>
            <p14:sldId id="568"/>
            <p14:sldId id="566"/>
            <p14:sldId id="565"/>
            <p14:sldId id="588"/>
            <p14:sldId id="589"/>
            <p14:sldId id="590"/>
            <p14:sldId id="591"/>
            <p14:sldId id="564"/>
            <p14:sldId id="563"/>
            <p14:sldId id="529"/>
            <p14:sldId id="508"/>
            <p14:sldId id="509"/>
            <p14:sldId id="510"/>
            <p14:sldId id="511"/>
            <p14:sldId id="512"/>
            <p14:sldId id="350"/>
            <p14:sldId id="351"/>
            <p14:sldId id="359"/>
            <p14:sldId id="357"/>
            <p14:sldId id="353"/>
            <p14:sldId id="355"/>
            <p14:sldId id="356"/>
            <p14:sldId id="352"/>
            <p14:sldId id="550"/>
            <p14:sldId id="552"/>
            <p14:sldId id="358"/>
            <p14:sldId id="360"/>
            <p14:sldId id="361"/>
            <p14:sldId id="362"/>
            <p14:sldId id="363"/>
            <p14:sldId id="364"/>
            <p14:sldId id="365"/>
            <p14:sldId id="366"/>
            <p14:sldId id="367"/>
            <p14:sldId id="368"/>
            <p14:sldId id="584"/>
            <p14:sldId id="370"/>
            <p14:sldId id="371"/>
            <p14:sldId id="372"/>
            <p14:sldId id="377"/>
            <p14:sldId id="378"/>
            <p14:sldId id="538"/>
            <p14:sldId id="539"/>
            <p14:sldId id="390"/>
            <p14:sldId id="396"/>
            <p14:sldId id="397"/>
            <p14:sldId id="532"/>
            <p14:sldId id="400"/>
            <p14:sldId id="401"/>
            <p14:sldId id="402"/>
            <p14:sldId id="405"/>
            <p14:sldId id="580"/>
            <p14:sldId id="583"/>
            <p14:sldId id="592"/>
            <p14:sldId id="5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59D39-3C65-AA57-A2CD-98D243F2B6E6}" v="741" dt="2021-02-01T21:13:57.582"/>
    <p1510:client id="{BD2F17DE-8237-1C32-48F2-1726C7AFD183}" v="392" dt="2021-02-02T13:59:31.063"/>
    <p1510:client id="{61465287-BBA4-4EC3-9BC2-692E0F3DCEAE}" v="124" dt="2021-02-02T15:25:46.078"/>
    <p1510:client id="{8CB6F3C6-7736-120B-C9CE-338F7F9B341C}" v="49" dt="2021-02-01T19:59:37.834"/>
    <p1510:client id="{CDE9398F-2A0E-9E66-D109-54A48253DE10}" v="346" dt="2021-02-02T22:19:52.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69037" autoAdjust="0"/>
  </p:normalViewPr>
  <p:slideViewPr>
    <p:cSldViewPr>
      <p:cViewPr varScale="1">
        <p:scale>
          <a:sx n="71" d="100"/>
          <a:sy n="71" d="100"/>
        </p:scale>
        <p:origin x="1608"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C00CC3-A8A2-49EE-9FEB-02DDBA8CB35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B3EE42D-41E2-4271-8DD0-66CBDA216D68}">
      <dgm:prSet/>
      <dgm:spPr/>
      <dgm:t>
        <a:bodyPr/>
        <a:lstStyle/>
        <a:p>
          <a:r>
            <a:rPr lang="en-US" dirty="0"/>
            <a:t>Assesses relative weight for height.</a:t>
          </a:r>
        </a:p>
      </dgm:t>
    </dgm:pt>
    <dgm:pt modelId="{BCC83C80-97FB-4DCA-8ED8-37A060014436}" type="parTrans" cxnId="{C9F1BB05-7058-417D-896D-9CC2A548196A}">
      <dgm:prSet/>
      <dgm:spPr/>
      <dgm:t>
        <a:bodyPr/>
        <a:lstStyle/>
        <a:p>
          <a:endParaRPr lang="en-US"/>
        </a:p>
      </dgm:t>
    </dgm:pt>
    <dgm:pt modelId="{CEC84CFD-7C75-4463-96E0-6BA21CCC0CCE}" type="sibTrans" cxnId="{C9F1BB05-7058-417D-896D-9CC2A548196A}">
      <dgm:prSet/>
      <dgm:spPr/>
      <dgm:t>
        <a:bodyPr/>
        <a:lstStyle/>
        <a:p>
          <a:endParaRPr lang="en-US"/>
        </a:p>
      </dgm:t>
    </dgm:pt>
    <dgm:pt modelId="{CD1E855F-96DD-43B8-B576-11411ECE2C7F}">
      <dgm:prSet/>
      <dgm:spPr/>
      <dgm:t>
        <a:bodyPr/>
        <a:lstStyle/>
        <a:p>
          <a:r>
            <a:rPr lang="en-US" dirty="0"/>
            <a:t>It provides a range with which to evaluate a healthy body (18.5- 24.9)</a:t>
          </a:r>
        </a:p>
      </dgm:t>
    </dgm:pt>
    <dgm:pt modelId="{EA942356-0681-476A-A40F-12D7BE2E52AA}" type="parTrans" cxnId="{37C46A7B-0793-4CA2-90D9-2E9A10B60A0F}">
      <dgm:prSet/>
      <dgm:spPr/>
      <dgm:t>
        <a:bodyPr/>
        <a:lstStyle/>
        <a:p>
          <a:endParaRPr lang="en-US"/>
        </a:p>
      </dgm:t>
    </dgm:pt>
    <dgm:pt modelId="{19F409F2-6FC0-4302-AE92-2E9A389C78EF}" type="sibTrans" cxnId="{37C46A7B-0793-4CA2-90D9-2E9A10B60A0F}">
      <dgm:prSet/>
      <dgm:spPr/>
      <dgm:t>
        <a:bodyPr/>
        <a:lstStyle/>
        <a:p>
          <a:endParaRPr lang="en-US"/>
        </a:p>
      </dgm:t>
    </dgm:pt>
    <dgm:pt modelId="{CE442CF1-969A-47C9-BC2C-6D1921C80C57}">
      <dgm:prSet/>
      <dgm:spPr/>
      <dgm:t>
        <a:bodyPr/>
        <a:lstStyle/>
        <a:p>
          <a:r>
            <a:rPr lang="en-US" dirty="0"/>
            <a:t>It doesn’t reflect body composition (&gt;muscle mass may appear overweight)</a:t>
          </a:r>
        </a:p>
      </dgm:t>
    </dgm:pt>
    <dgm:pt modelId="{C193EA8D-3A3E-4CC4-A46D-2C26E8E42C34}" type="parTrans" cxnId="{B2C35591-98A8-4A13-8EA3-B7EF801DEE04}">
      <dgm:prSet/>
      <dgm:spPr/>
      <dgm:t>
        <a:bodyPr/>
        <a:lstStyle/>
        <a:p>
          <a:endParaRPr lang="en-US"/>
        </a:p>
      </dgm:t>
    </dgm:pt>
    <dgm:pt modelId="{B1A46979-9BA6-4E93-BED0-9C7B74A7C2A2}" type="sibTrans" cxnId="{B2C35591-98A8-4A13-8EA3-B7EF801DEE04}">
      <dgm:prSet/>
      <dgm:spPr/>
      <dgm:t>
        <a:bodyPr/>
        <a:lstStyle/>
        <a:p>
          <a:endParaRPr lang="en-US"/>
        </a:p>
      </dgm:t>
    </dgm:pt>
    <dgm:pt modelId="{4B081349-AD9C-48B5-9095-01176A25B6C5}" type="pres">
      <dgm:prSet presAssocID="{05C00CC3-A8A2-49EE-9FEB-02DDBA8CB35D}" presName="root" presStyleCnt="0">
        <dgm:presLayoutVars>
          <dgm:dir/>
          <dgm:resizeHandles val="exact"/>
        </dgm:presLayoutVars>
      </dgm:prSet>
      <dgm:spPr/>
    </dgm:pt>
    <dgm:pt modelId="{9912EC64-E7D2-40D8-B309-F636A1B4EC83}" type="pres">
      <dgm:prSet presAssocID="{2B3EE42D-41E2-4271-8DD0-66CBDA216D68}" presName="compNode" presStyleCnt="0"/>
      <dgm:spPr/>
    </dgm:pt>
    <dgm:pt modelId="{BDB5414A-1334-423D-935D-7B2614D9B450}" type="pres">
      <dgm:prSet presAssocID="{2B3EE42D-41E2-4271-8DD0-66CBDA216D68}" presName="bgRect" presStyleLbl="bgShp" presStyleIdx="0" presStyleCnt="3"/>
      <dgm:spPr/>
    </dgm:pt>
    <dgm:pt modelId="{87FDFE07-A45E-46C7-A075-4CCB1C1567C6}" type="pres">
      <dgm:prSet presAssocID="{2B3EE42D-41E2-4271-8DD0-66CBDA216D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AE294903-1A75-4695-AF51-D3F0CA0CB76B}" type="pres">
      <dgm:prSet presAssocID="{2B3EE42D-41E2-4271-8DD0-66CBDA216D68}" presName="spaceRect" presStyleCnt="0"/>
      <dgm:spPr/>
    </dgm:pt>
    <dgm:pt modelId="{6D65E171-DE47-4A44-ACEC-45742022FC71}" type="pres">
      <dgm:prSet presAssocID="{2B3EE42D-41E2-4271-8DD0-66CBDA216D68}" presName="parTx" presStyleLbl="revTx" presStyleIdx="0" presStyleCnt="3">
        <dgm:presLayoutVars>
          <dgm:chMax val="0"/>
          <dgm:chPref val="0"/>
        </dgm:presLayoutVars>
      </dgm:prSet>
      <dgm:spPr/>
    </dgm:pt>
    <dgm:pt modelId="{C25F240B-11B5-47F6-9748-EEEBF1F6D7D8}" type="pres">
      <dgm:prSet presAssocID="{CEC84CFD-7C75-4463-96E0-6BA21CCC0CCE}" presName="sibTrans" presStyleCnt="0"/>
      <dgm:spPr/>
    </dgm:pt>
    <dgm:pt modelId="{9CCD2FC0-8E06-4770-8324-8A0F769A6979}" type="pres">
      <dgm:prSet presAssocID="{CD1E855F-96DD-43B8-B576-11411ECE2C7F}" presName="compNode" presStyleCnt="0"/>
      <dgm:spPr/>
    </dgm:pt>
    <dgm:pt modelId="{E4423DEB-6865-4447-8343-04FD60106693}" type="pres">
      <dgm:prSet presAssocID="{CD1E855F-96DD-43B8-B576-11411ECE2C7F}" presName="bgRect" presStyleLbl="bgShp" presStyleIdx="1" presStyleCnt="3"/>
      <dgm:spPr/>
    </dgm:pt>
    <dgm:pt modelId="{72B3E5A9-3199-4748-A50B-74329701F6EE}" type="pres">
      <dgm:prSet presAssocID="{CD1E855F-96DD-43B8-B576-11411ECE2C7F}"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uffle with solid fill"/>
        </a:ext>
      </dgm:extLst>
    </dgm:pt>
    <dgm:pt modelId="{69E0F219-457C-4663-851C-BEB22EB490CA}" type="pres">
      <dgm:prSet presAssocID="{CD1E855F-96DD-43B8-B576-11411ECE2C7F}" presName="spaceRect" presStyleCnt="0"/>
      <dgm:spPr/>
    </dgm:pt>
    <dgm:pt modelId="{9A8F51A2-FE86-454F-B497-48A04A8CF65A}" type="pres">
      <dgm:prSet presAssocID="{CD1E855F-96DD-43B8-B576-11411ECE2C7F}" presName="parTx" presStyleLbl="revTx" presStyleIdx="1" presStyleCnt="3">
        <dgm:presLayoutVars>
          <dgm:chMax val="0"/>
          <dgm:chPref val="0"/>
        </dgm:presLayoutVars>
      </dgm:prSet>
      <dgm:spPr/>
    </dgm:pt>
    <dgm:pt modelId="{9F9519D2-C81F-41E0-9425-69A244A43C2B}" type="pres">
      <dgm:prSet presAssocID="{19F409F2-6FC0-4302-AE92-2E9A389C78EF}" presName="sibTrans" presStyleCnt="0"/>
      <dgm:spPr/>
    </dgm:pt>
    <dgm:pt modelId="{0D5570AF-FFCB-4714-9DD8-37F4F29A5AAC}" type="pres">
      <dgm:prSet presAssocID="{CE442CF1-969A-47C9-BC2C-6D1921C80C57}" presName="compNode" presStyleCnt="0"/>
      <dgm:spPr/>
    </dgm:pt>
    <dgm:pt modelId="{5C074F84-3B60-4621-AD00-DAA1FA09D7D0}" type="pres">
      <dgm:prSet presAssocID="{CE442CF1-969A-47C9-BC2C-6D1921C80C57}" presName="bgRect" presStyleLbl="bgShp" presStyleIdx="2" presStyleCnt="3"/>
      <dgm:spPr/>
    </dgm:pt>
    <dgm:pt modelId="{25EC13BD-B702-4AA7-8CA0-35EDAAA3203E}" type="pres">
      <dgm:prSet presAssocID="{CE442CF1-969A-47C9-BC2C-6D1921C80C5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umbbell"/>
        </a:ext>
      </dgm:extLst>
    </dgm:pt>
    <dgm:pt modelId="{635064CA-1FD8-46F6-B39D-7A2CC8C6A31A}" type="pres">
      <dgm:prSet presAssocID="{CE442CF1-969A-47C9-BC2C-6D1921C80C57}" presName="spaceRect" presStyleCnt="0"/>
      <dgm:spPr/>
    </dgm:pt>
    <dgm:pt modelId="{15E7AE6D-FA29-4AA0-9DF3-7FC6A3776AA6}" type="pres">
      <dgm:prSet presAssocID="{CE442CF1-969A-47C9-BC2C-6D1921C80C57}" presName="parTx" presStyleLbl="revTx" presStyleIdx="2" presStyleCnt="3">
        <dgm:presLayoutVars>
          <dgm:chMax val="0"/>
          <dgm:chPref val="0"/>
        </dgm:presLayoutVars>
      </dgm:prSet>
      <dgm:spPr/>
    </dgm:pt>
  </dgm:ptLst>
  <dgm:cxnLst>
    <dgm:cxn modelId="{C9F1BB05-7058-417D-896D-9CC2A548196A}" srcId="{05C00CC3-A8A2-49EE-9FEB-02DDBA8CB35D}" destId="{2B3EE42D-41E2-4271-8DD0-66CBDA216D68}" srcOrd="0" destOrd="0" parTransId="{BCC83C80-97FB-4DCA-8ED8-37A060014436}" sibTransId="{CEC84CFD-7C75-4463-96E0-6BA21CCC0CCE}"/>
    <dgm:cxn modelId="{84D09E42-A376-451A-B9DE-930813648ABA}" type="presOf" srcId="{CD1E855F-96DD-43B8-B576-11411ECE2C7F}" destId="{9A8F51A2-FE86-454F-B497-48A04A8CF65A}" srcOrd="0" destOrd="0" presId="urn:microsoft.com/office/officeart/2018/2/layout/IconVerticalSolidList"/>
    <dgm:cxn modelId="{37C46A7B-0793-4CA2-90D9-2E9A10B60A0F}" srcId="{05C00CC3-A8A2-49EE-9FEB-02DDBA8CB35D}" destId="{CD1E855F-96DD-43B8-B576-11411ECE2C7F}" srcOrd="1" destOrd="0" parTransId="{EA942356-0681-476A-A40F-12D7BE2E52AA}" sibTransId="{19F409F2-6FC0-4302-AE92-2E9A389C78EF}"/>
    <dgm:cxn modelId="{B2C35591-98A8-4A13-8EA3-B7EF801DEE04}" srcId="{05C00CC3-A8A2-49EE-9FEB-02DDBA8CB35D}" destId="{CE442CF1-969A-47C9-BC2C-6D1921C80C57}" srcOrd="2" destOrd="0" parTransId="{C193EA8D-3A3E-4CC4-A46D-2C26E8E42C34}" sibTransId="{B1A46979-9BA6-4E93-BED0-9C7B74A7C2A2}"/>
    <dgm:cxn modelId="{9975F9A0-9D1D-4112-BCC4-230ECB8E11E0}" type="presOf" srcId="{CE442CF1-969A-47C9-BC2C-6D1921C80C57}" destId="{15E7AE6D-FA29-4AA0-9DF3-7FC6A3776AA6}" srcOrd="0" destOrd="0" presId="urn:microsoft.com/office/officeart/2018/2/layout/IconVerticalSolidList"/>
    <dgm:cxn modelId="{ACAEDFAA-0B87-42CD-B407-B93CCFB4BE3A}" type="presOf" srcId="{2B3EE42D-41E2-4271-8DD0-66CBDA216D68}" destId="{6D65E171-DE47-4A44-ACEC-45742022FC71}" srcOrd="0" destOrd="0" presId="urn:microsoft.com/office/officeart/2018/2/layout/IconVerticalSolidList"/>
    <dgm:cxn modelId="{72FCEDB3-2E2C-4717-A36F-2FE53EC42A37}" type="presOf" srcId="{05C00CC3-A8A2-49EE-9FEB-02DDBA8CB35D}" destId="{4B081349-AD9C-48B5-9095-01176A25B6C5}" srcOrd="0" destOrd="0" presId="urn:microsoft.com/office/officeart/2018/2/layout/IconVerticalSolidList"/>
    <dgm:cxn modelId="{0E5D5405-5481-470D-B45F-961F13A9539E}" type="presParOf" srcId="{4B081349-AD9C-48B5-9095-01176A25B6C5}" destId="{9912EC64-E7D2-40D8-B309-F636A1B4EC83}" srcOrd="0" destOrd="0" presId="urn:microsoft.com/office/officeart/2018/2/layout/IconVerticalSolidList"/>
    <dgm:cxn modelId="{C818D4B0-01FD-4877-BACF-D4206DD21F30}" type="presParOf" srcId="{9912EC64-E7D2-40D8-B309-F636A1B4EC83}" destId="{BDB5414A-1334-423D-935D-7B2614D9B450}" srcOrd="0" destOrd="0" presId="urn:microsoft.com/office/officeart/2018/2/layout/IconVerticalSolidList"/>
    <dgm:cxn modelId="{82E2EB70-F6E9-4741-BE6C-93BCB7F7DE4E}" type="presParOf" srcId="{9912EC64-E7D2-40D8-B309-F636A1B4EC83}" destId="{87FDFE07-A45E-46C7-A075-4CCB1C1567C6}" srcOrd="1" destOrd="0" presId="urn:microsoft.com/office/officeart/2018/2/layout/IconVerticalSolidList"/>
    <dgm:cxn modelId="{99240166-1791-402C-995A-7EC293AF803F}" type="presParOf" srcId="{9912EC64-E7D2-40D8-B309-F636A1B4EC83}" destId="{AE294903-1A75-4695-AF51-D3F0CA0CB76B}" srcOrd="2" destOrd="0" presId="urn:microsoft.com/office/officeart/2018/2/layout/IconVerticalSolidList"/>
    <dgm:cxn modelId="{F603A2C6-93F4-4F8A-8C15-8CCD9A06B536}" type="presParOf" srcId="{9912EC64-E7D2-40D8-B309-F636A1B4EC83}" destId="{6D65E171-DE47-4A44-ACEC-45742022FC71}" srcOrd="3" destOrd="0" presId="urn:microsoft.com/office/officeart/2018/2/layout/IconVerticalSolidList"/>
    <dgm:cxn modelId="{5EC1A5C4-5EC9-43E5-9094-ED19831D99F5}" type="presParOf" srcId="{4B081349-AD9C-48B5-9095-01176A25B6C5}" destId="{C25F240B-11B5-47F6-9748-EEEBF1F6D7D8}" srcOrd="1" destOrd="0" presId="urn:microsoft.com/office/officeart/2018/2/layout/IconVerticalSolidList"/>
    <dgm:cxn modelId="{1EA6A748-2575-4C74-A187-F4FD802B0153}" type="presParOf" srcId="{4B081349-AD9C-48B5-9095-01176A25B6C5}" destId="{9CCD2FC0-8E06-4770-8324-8A0F769A6979}" srcOrd="2" destOrd="0" presId="urn:microsoft.com/office/officeart/2018/2/layout/IconVerticalSolidList"/>
    <dgm:cxn modelId="{CE3C8750-2EC6-4BCE-B7B8-39772B37786A}" type="presParOf" srcId="{9CCD2FC0-8E06-4770-8324-8A0F769A6979}" destId="{E4423DEB-6865-4447-8343-04FD60106693}" srcOrd="0" destOrd="0" presId="urn:microsoft.com/office/officeart/2018/2/layout/IconVerticalSolidList"/>
    <dgm:cxn modelId="{E932E199-51B1-4973-9F37-71E50EA98CD2}" type="presParOf" srcId="{9CCD2FC0-8E06-4770-8324-8A0F769A6979}" destId="{72B3E5A9-3199-4748-A50B-74329701F6EE}" srcOrd="1" destOrd="0" presId="urn:microsoft.com/office/officeart/2018/2/layout/IconVerticalSolidList"/>
    <dgm:cxn modelId="{B01AA211-F506-4AD9-8A7C-15A2CBF8337D}" type="presParOf" srcId="{9CCD2FC0-8E06-4770-8324-8A0F769A6979}" destId="{69E0F219-457C-4663-851C-BEB22EB490CA}" srcOrd="2" destOrd="0" presId="urn:microsoft.com/office/officeart/2018/2/layout/IconVerticalSolidList"/>
    <dgm:cxn modelId="{2A0A95E1-1F3B-4938-98E9-1B05EAB7EF25}" type="presParOf" srcId="{9CCD2FC0-8E06-4770-8324-8A0F769A6979}" destId="{9A8F51A2-FE86-454F-B497-48A04A8CF65A}" srcOrd="3" destOrd="0" presId="urn:microsoft.com/office/officeart/2018/2/layout/IconVerticalSolidList"/>
    <dgm:cxn modelId="{88FCAB39-211B-491D-9B61-8955637B6744}" type="presParOf" srcId="{4B081349-AD9C-48B5-9095-01176A25B6C5}" destId="{9F9519D2-C81F-41E0-9425-69A244A43C2B}" srcOrd="3" destOrd="0" presId="urn:microsoft.com/office/officeart/2018/2/layout/IconVerticalSolidList"/>
    <dgm:cxn modelId="{C2804740-F324-4777-BDD3-797B68B85D80}" type="presParOf" srcId="{4B081349-AD9C-48B5-9095-01176A25B6C5}" destId="{0D5570AF-FFCB-4714-9DD8-37F4F29A5AAC}" srcOrd="4" destOrd="0" presId="urn:microsoft.com/office/officeart/2018/2/layout/IconVerticalSolidList"/>
    <dgm:cxn modelId="{84E0C91B-4BA8-44C8-87C7-84D67F467982}" type="presParOf" srcId="{0D5570AF-FFCB-4714-9DD8-37F4F29A5AAC}" destId="{5C074F84-3B60-4621-AD00-DAA1FA09D7D0}" srcOrd="0" destOrd="0" presId="urn:microsoft.com/office/officeart/2018/2/layout/IconVerticalSolidList"/>
    <dgm:cxn modelId="{B8C428AD-F35A-4E99-AD54-5C6948D20BCD}" type="presParOf" srcId="{0D5570AF-FFCB-4714-9DD8-37F4F29A5AAC}" destId="{25EC13BD-B702-4AA7-8CA0-35EDAAA3203E}" srcOrd="1" destOrd="0" presId="urn:microsoft.com/office/officeart/2018/2/layout/IconVerticalSolidList"/>
    <dgm:cxn modelId="{FCA0A375-7657-44E5-8128-82908AE8EC87}" type="presParOf" srcId="{0D5570AF-FFCB-4714-9DD8-37F4F29A5AAC}" destId="{635064CA-1FD8-46F6-B39D-7A2CC8C6A31A}" srcOrd="2" destOrd="0" presId="urn:microsoft.com/office/officeart/2018/2/layout/IconVerticalSolidList"/>
    <dgm:cxn modelId="{35756721-E04B-4F61-AB35-118EDF22CF95}" type="presParOf" srcId="{0D5570AF-FFCB-4714-9DD8-37F4F29A5AAC}" destId="{15E7AE6D-FA29-4AA0-9DF3-7FC6A3776AA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9C5EC5-A264-4E6D-A664-95B00A6C4F6A}"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E2E7B6B0-673A-47A8-BCE9-7292AE0C8D1F}">
      <dgm:prSet/>
      <dgm:spPr/>
      <dgm:t>
        <a:bodyPr/>
        <a:lstStyle/>
        <a:p>
          <a:pPr>
            <a:lnSpc>
              <a:spcPct val="100000"/>
            </a:lnSpc>
          </a:pPr>
          <a:r>
            <a:rPr lang="en-US"/>
            <a:t>Alert, responsiveness</a:t>
          </a:r>
        </a:p>
      </dgm:t>
    </dgm:pt>
    <dgm:pt modelId="{ED3D01D3-89FB-43C6-9FB4-63D2457DD830}" type="parTrans" cxnId="{245893E5-41B4-4CE6-8E0B-4AB642E9FC50}">
      <dgm:prSet/>
      <dgm:spPr/>
      <dgm:t>
        <a:bodyPr/>
        <a:lstStyle/>
        <a:p>
          <a:endParaRPr lang="en-US"/>
        </a:p>
      </dgm:t>
    </dgm:pt>
    <dgm:pt modelId="{0659E847-FE32-4DF2-BBA2-18FB5443658A}" type="sibTrans" cxnId="{245893E5-41B4-4CE6-8E0B-4AB642E9FC50}">
      <dgm:prSet/>
      <dgm:spPr/>
      <dgm:t>
        <a:bodyPr/>
        <a:lstStyle/>
        <a:p>
          <a:endParaRPr lang="en-US"/>
        </a:p>
      </dgm:t>
    </dgm:pt>
    <dgm:pt modelId="{72EDF380-46CB-4953-A066-D112551B8D9F}">
      <dgm:prSet custT="1"/>
      <dgm:spPr/>
      <dgm:t>
        <a:bodyPr/>
        <a:lstStyle/>
        <a:p>
          <a:pPr>
            <a:lnSpc>
              <a:spcPct val="100000"/>
            </a:lnSpc>
          </a:pPr>
          <a:r>
            <a:rPr lang="en-US" sz="1600" dirty="0"/>
            <a:t>B vitamin deficiencies, thiamine, alcohol</a:t>
          </a:r>
        </a:p>
      </dgm:t>
    </dgm:pt>
    <dgm:pt modelId="{3456C7E8-8E5D-4068-B4DD-366F0C75663B}" type="parTrans" cxnId="{4A369022-F983-4589-B564-C348D09A0E9A}">
      <dgm:prSet/>
      <dgm:spPr/>
      <dgm:t>
        <a:bodyPr/>
        <a:lstStyle/>
        <a:p>
          <a:endParaRPr lang="en-US"/>
        </a:p>
      </dgm:t>
    </dgm:pt>
    <dgm:pt modelId="{2DEA05F1-C15A-45F9-932A-79AF1864D79E}" type="sibTrans" cxnId="{4A369022-F983-4589-B564-C348D09A0E9A}">
      <dgm:prSet/>
      <dgm:spPr/>
      <dgm:t>
        <a:bodyPr/>
        <a:lstStyle/>
        <a:p>
          <a:endParaRPr lang="en-US"/>
        </a:p>
      </dgm:t>
    </dgm:pt>
    <dgm:pt modelId="{FE0BD05C-8C1E-40D4-8615-51936C93F992}">
      <dgm:prSet/>
      <dgm:spPr/>
      <dgm:t>
        <a:bodyPr/>
        <a:lstStyle/>
        <a:p>
          <a:pPr>
            <a:lnSpc>
              <a:spcPct val="100000"/>
            </a:lnSpc>
          </a:pPr>
          <a:r>
            <a:rPr lang="en-US"/>
            <a:t>Anthropometric measurement</a:t>
          </a:r>
        </a:p>
      </dgm:t>
    </dgm:pt>
    <dgm:pt modelId="{0AD1FEE0-97E2-4215-AEE2-BE4F43502515}" type="parTrans" cxnId="{7D69D0E7-6DDC-4775-A0CA-EE254BA73122}">
      <dgm:prSet/>
      <dgm:spPr/>
      <dgm:t>
        <a:bodyPr/>
        <a:lstStyle/>
        <a:p>
          <a:endParaRPr lang="en-US"/>
        </a:p>
      </dgm:t>
    </dgm:pt>
    <dgm:pt modelId="{A1D1EE3F-1ACD-487B-A788-65EF4CF572E6}" type="sibTrans" cxnId="{7D69D0E7-6DDC-4775-A0CA-EE254BA73122}">
      <dgm:prSet/>
      <dgm:spPr/>
      <dgm:t>
        <a:bodyPr/>
        <a:lstStyle/>
        <a:p>
          <a:endParaRPr lang="en-US"/>
        </a:p>
      </dgm:t>
    </dgm:pt>
    <dgm:pt modelId="{4ED22CA0-F137-428E-8010-887E6228A177}">
      <dgm:prSet custT="1"/>
      <dgm:spPr/>
      <dgm:t>
        <a:bodyPr/>
        <a:lstStyle/>
        <a:p>
          <a:pPr>
            <a:lnSpc>
              <a:spcPct val="100000"/>
            </a:lnSpc>
          </a:pPr>
          <a:r>
            <a:rPr lang="en-US" sz="1200" dirty="0"/>
            <a:t>Skin fold measurements, height</a:t>
          </a:r>
        </a:p>
      </dgm:t>
    </dgm:pt>
    <dgm:pt modelId="{ED07FB50-CA03-46FB-AA8C-2475B8D55154}" type="parTrans" cxnId="{841946DF-66EE-4C63-A335-107026B74721}">
      <dgm:prSet/>
      <dgm:spPr/>
      <dgm:t>
        <a:bodyPr/>
        <a:lstStyle/>
        <a:p>
          <a:endParaRPr lang="en-US"/>
        </a:p>
      </dgm:t>
    </dgm:pt>
    <dgm:pt modelId="{5EB904CB-E260-4F50-B287-EC1A0F996448}" type="sibTrans" cxnId="{841946DF-66EE-4C63-A335-107026B74721}">
      <dgm:prSet/>
      <dgm:spPr/>
      <dgm:t>
        <a:bodyPr/>
        <a:lstStyle/>
        <a:p>
          <a:endParaRPr lang="en-US"/>
        </a:p>
      </dgm:t>
    </dgm:pt>
    <dgm:pt modelId="{A941D555-E58F-465C-81A7-8B7491D5A219}">
      <dgm:prSet custT="1"/>
      <dgm:spPr/>
      <dgm:t>
        <a:bodyPr/>
        <a:lstStyle/>
        <a:p>
          <a:pPr>
            <a:lnSpc>
              <a:spcPct val="100000"/>
            </a:lnSpc>
          </a:pPr>
          <a:r>
            <a:rPr lang="en-US" sz="1200" dirty="0"/>
            <a:t>Daily weight –same time every day</a:t>
          </a:r>
        </a:p>
      </dgm:t>
    </dgm:pt>
    <dgm:pt modelId="{217846E4-4AFF-4646-A4F5-04F9B40580BA}" type="parTrans" cxnId="{9F832865-D0C4-4D87-878B-99002AA00F96}">
      <dgm:prSet/>
      <dgm:spPr/>
      <dgm:t>
        <a:bodyPr/>
        <a:lstStyle/>
        <a:p>
          <a:endParaRPr lang="en-US"/>
        </a:p>
      </dgm:t>
    </dgm:pt>
    <dgm:pt modelId="{8E6C7EA8-A44F-4923-8AAB-7AD95F4FF6AD}" type="sibTrans" cxnId="{9F832865-D0C4-4D87-878B-99002AA00F96}">
      <dgm:prSet/>
      <dgm:spPr/>
      <dgm:t>
        <a:bodyPr/>
        <a:lstStyle/>
        <a:p>
          <a:endParaRPr lang="en-US"/>
        </a:p>
      </dgm:t>
    </dgm:pt>
    <dgm:pt modelId="{CFEEB32B-EBF3-41DD-9F63-5855E490EC2D}">
      <dgm:prSet custT="1"/>
      <dgm:spPr/>
      <dgm:t>
        <a:bodyPr/>
        <a:lstStyle/>
        <a:p>
          <a:pPr>
            <a:lnSpc>
              <a:spcPct val="100000"/>
            </a:lnSpc>
          </a:pPr>
          <a:r>
            <a:rPr lang="en-US" sz="1200" dirty="0"/>
            <a:t>Mid-arm circumference-muscle wasting</a:t>
          </a:r>
        </a:p>
      </dgm:t>
    </dgm:pt>
    <dgm:pt modelId="{3D7455C0-6B58-4CB4-BAA6-736BE918572B}" type="parTrans" cxnId="{8B3C93BB-01F4-40C9-B2FF-66CF4667F5B7}">
      <dgm:prSet/>
      <dgm:spPr/>
      <dgm:t>
        <a:bodyPr/>
        <a:lstStyle/>
        <a:p>
          <a:endParaRPr lang="en-US"/>
        </a:p>
      </dgm:t>
    </dgm:pt>
    <dgm:pt modelId="{79490954-B594-41B6-AE20-B8A82F642ECA}" type="sibTrans" cxnId="{8B3C93BB-01F4-40C9-B2FF-66CF4667F5B7}">
      <dgm:prSet/>
      <dgm:spPr/>
      <dgm:t>
        <a:bodyPr/>
        <a:lstStyle/>
        <a:p>
          <a:endParaRPr lang="en-US"/>
        </a:p>
      </dgm:t>
    </dgm:pt>
    <dgm:pt modelId="{3ED27740-B102-49ED-AA20-E69284D450D3}">
      <dgm:prSet custT="1"/>
      <dgm:spPr/>
      <dgm:t>
        <a:bodyPr/>
        <a:lstStyle/>
        <a:p>
          <a:pPr>
            <a:lnSpc>
              <a:spcPct val="100000"/>
            </a:lnSpc>
          </a:pPr>
          <a:r>
            <a:rPr lang="en-US" sz="1200" dirty="0"/>
            <a:t>Elbow breadth, wrist circumference-body frame</a:t>
          </a:r>
        </a:p>
      </dgm:t>
    </dgm:pt>
    <dgm:pt modelId="{1CC37FA1-91B5-4336-8103-1A63EA8CB13C}" type="parTrans" cxnId="{366EBEF1-1FAE-40A4-B586-FB9EA2B87B95}">
      <dgm:prSet/>
      <dgm:spPr/>
      <dgm:t>
        <a:bodyPr/>
        <a:lstStyle/>
        <a:p>
          <a:endParaRPr lang="en-US"/>
        </a:p>
      </dgm:t>
    </dgm:pt>
    <dgm:pt modelId="{617C58BF-FF7D-40C0-A372-F085EEEB2E95}" type="sibTrans" cxnId="{366EBEF1-1FAE-40A4-B586-FB9EA2B87B95}">
      <dgm:prSet/>
      <dgm:spPr/>
      <dgm:t>
        <a:bodyPr/>
        <a:lstStyle/>
        <a:p>
          <a:endParaRPr lang="en-US"/>
        </a:p>
      </dgm:t>
    </dgm:pt>
    <dgm:pt modelId="{FEED81FB-4FAA-4F0E-9C16-3DEE84D268F0}">
      <dgm:prSet/>
      <dgm:spPr/>
      <dgm:t>
        <a:bodyPr/>
        <a:lstStyle/>
        <a:p>
          <a:pPr>
            <a:lnSpc>
              <a:spcPct val="100000"/>
            </a:lnSpc>
          </a:pPr>
          <a:r>
            <a:rPr lang="en-US"/>
            <a:t>Posture, muscle tone, skeletal deformities</a:t>
          </a:r>
        </a:p>
      </dgm:t>
    </dgm:pt>
    <dgm:pt modelId="{7CD8CFA3-944B-42F3-9B4A-B0FDE8B62E24}" type="parTrans" cxnId="{C5CB969D-2EB8-46ED-B6F1-D9A04C4C6F67}">
      <dgm:prSet/>
      <dgm:spPr/>
      <dgm:t>
        <a:bodyPr/>
        <a:lstStyle/>
        <a:p>
          <a:endParaRPr lang="en-US"/>
        </a:p>
      </dgm:t>
    </dgm:pt>
    <dgm:pt modelId="{D357A735-BCB9-4975-A60F-83D49F2234DF}" type="sibTrans" cxnId="{C5CB969D-2EB8-46ED-B6F1-D9A04C4C6F67}">
      <dgm:prSet/>
      <dgm:spPr/>
      <dgm:t>
        <a:bodyPr/>
        <a:lstStyle/>
        <a:p>
          <a:endParaRPr lang="en-US"/>
        </a:p>
      </dgm:t>
    </dgm:pt>
    <dgm:pt modelId="{DBF3CA7F-EF0E-4B50-B69C-3905D89C38D1}">
      <dgm:prSet/>
      <dgm:spPr/>
      <dgm:t>
        <a:bodyPr/>
        <a:lstStyle/>
        <a:p>
          <a:pPr>
            <a:lnSpc>
              <a:spcPct val="100000"/>
            </a:lnSpc>
          </a:pPr>
          <a:r>
            <a:rPr lang="en-US"/>
            <a:t>Protein, calcium, Vit D def</a:t>
          </a:r>
        </a:p>
      </dgm:t>
    </dgm:pt>
    <dgm:pt modelId="{874A008D-BF46-4386-94F7-C21C1E635664}" type="parTrans" cxnId="{56BB2066-7ADE-4568-AC57-9E10A15078F3}">
      <dgm:prSet/>
      <dgm:spPr/>
      <dgm:t>
        <a:bodyPr/>
        <a:lstStyle/>
        <a:p>
          <a:endParaRPr lang="en-US"/>
        </a:p>
      </dgm:t>
    </dgm:pt>
    <dgm:pt modelId="{1A19BB64-28E8-4C72-80C2-2C62A73618E9}" type="sibTrans" cxnId="{56BB2066-7ADE-4568-AC57-9E10A15078F3}">
      <dgm:prSet/>
      <dgm:spPr/>
      <dgm:t>
        <a:bodyPr/>
        <a:lstStyle/>
        <a:p>
          <a:endParaRPr lang="en-US"/>
        </a:p>
      </dgm:t>
    </dgm:pt>
    <dgm:pt modelId="{D9C55C8B-59B6-4B73-9409-1FBF1B5839CD}">
      <dgm:prSet/>
      <dgm:spPr/>
      <dgm:t>
        <a:bodyPr/>
        <a:lstStyle/>
        <a:p>
          <a:pPr>
            <a:lnSpc>
              <a:spcPct val="100000"/>
            </a:lnSpc>
          </a:pPr>
          <a:r>
            <a:rPr lang="en-US"/>
            <a:t>Vital signs</a:t>
          </a:r>
        </a:p>
      </dgm:t>
    </dgm:pt>
    <dgm:pt modelId="{615720B9-36B5-450A-8F5D-517E2D6273DE}" type="parTrans" cxnId="{4F56E171-251C-4DBC-ABDA-CEA667C8C297}">
      <dgm:prSet/>
      <dgm:spPr/>
      <dgm:t>
        <a:bodyPr/>
        <a:lstStyle/>
        <a:p>
          <a:endParaRPr lang="en-US"/>
        </a:p>
      </dgm:t>
    </dgm:pt>
    <dgm:pt modelId="{F87F7A81-3F36-456D-BBF2-1CBBD5BF3481}" type="sibTrans" cxnId="{4F56E171-251C-4DBC-ABDA-CEA667C8C297}">
      <dgm:prSet/>
      <dgm:spPr/>
      <dgm:t>
        <a:bodyPr/>
        <a:lstStyle/>
        <a:p>
          <a:endParaRPr lang="en-US"/>
        </a:p>
      </dgm:t>
    </dgm:pt>
    <dgm:pt modelId="{7F779B9C-1AB1-4C10-907A-467E156A5685}">
      <dgm:prSet/>
      <dgm:spPr/>
      <dgm:t>
        <a:bodyPr/>
        <a:lstStyle/>
        <a:p>
          <a:pPr>
            <a:lnSpc>
              <a:spcPct val="100000"/>
            </a:lnSpc>
          </a:pPr>
          <a:r>
            <a:rPr lang="en-US"/>
            <a:t>B/P down, pulse up = dehydration</a:t>
          </a:r>
        </a:p>
      </dgm:t>
    </dgm:pt>
    <dgm:pt modelId="{1ECCA62F-ECEE-43B8-B005-85A84E79D8AB}" type="parTrans" cxnId="{31675E7D-3AFF-4EC8-83CC-A4BF19D3E445}">
      <dgm:prSet/>
      <dgm:spPr/>
      <dgm:t>
        <a:bodyPr/>
        <a:lstStyle/>
        <a:p>
          <a:endParaRPr lang="en-US"/>
        </a:p>
      </dgm:t>
    </dgm:pt>
    <dgm:pt modelId="{43BCB977-65B0-4B63-9751-70A0BA503347}" type="sibTrans" cxnId="{31675E7D-3AFF-4EC8-83CC-A4BF19D3E445}">
      <dgm:prSet/>
      <dgm:spPr/>
      <dgm:t>
        <a:bodyPr/>
        <a:lstStyle/>
        <a:p>
          <a:endParaRPr lang="en-US"/>
        </a:p>
      </dgm:t>
    </dgm:pt>
    <dgm:pt modelId="{CCB0701C-ABC1-41C4-BFB1-0CD018569C24}">
      <dgm:prSet/>
      <dgm:spPr/>
      <dgm:t>
        <a:bodyPr/>
        <a:lstStyle/>
        <a:p>
          <a:pPr>
            <a:lnSpc>
              <a:spcPct val="100000"/>
            </a:lnSpc>
          </a:pPr>
          <a:r>
            <a:rPr lang="en-US"/>
            <a:t>B/P up, pulse down= over hydration</a:t>
          </a:r>
        </a:p>
      </dgm:t>
    </dgm:pt>
    <dgm:pt modelId="{83A83B80-43AE-4BAA-80F2-7286E9CF078E}" type="parTrans" cxnId="{FA192AC1-9600-4DE9-846B-06F3AF3D1C57}">
      <dgm:prSet/>
      <dgm:spPr/>
      <dgm:t>
        <a:bodyPr/>
        <a:lstStyle/>
        <a:p>
          <a:endParaRPr lang="en-US"/>
        </a:p>
      </dgm:t>
    </dgm:pt>
    <dgm:pt modelId="{11F6D843-618B-4CC0-9165-B2C04774793B}" type="sibTrans" cxnId="{FA192AC1-9600-4DE9-846B-06F3AF3D1C57}">
      <dgm:prSet/>
      <dgm:spPr/>
      <dgm:t>
        <a:bodyPr/>
        <a:lstStyle/>
        <a:p>
          <a:endParaRPr lang="en-US"/>
        </a:p>
      </dgm:t>
    </dgm:pt>
    <dgm:pt modelId="{BD952846-4A13-4C7F-906E-E9B472771A2F}" type="pres">
      <dgm:prSet presAssocID="{039C5EC5-A264-4E6D-A664-95B00A6C4F6A}" presName="root" presStyleCnt="0">
        <dgm:presLayoutVars>
          <dgm:dir/>
          <dgm:resizeHandles val="exact"/>
        </dgm:presLayoutVars>
      </dgm:prSet>
      <dgm:spPr/>
    </dgm:pt>
    <dgm:pt modelId="{AB4B8AE3-7ABE-492B-B11E-1CBB48F7066C}" type="pres">
      <dgm:prSet presAssocID="{E2E7B6B0-673A-47A8-BCE9-7292AE0C8D1F}" presName="compNode" presStyleCnt="0"/>
      <dgm:spPr/>
    </dgm:pt>
    <dgm:pt modelId="{63A2B0F1-1BD1-47A8-BF0D-DE51D3621D6C}" type="pres">
      <dgm:prSet presAssocID="{E2E7B6B0-673A-47A8-BCE9-7292AE0C8D1F}" presName="bgRect" presStyleLbl="bgShp" presStyleIdx="0" presStyleCnt="4"/>
      <dgm:spPr/>
    </dgm:pt>
    <dgm:pt modelId="{BDA7437F-3DBD-4596-9951-FECFC9D74594}" type="pres">
      <dgm:prSet presAssocID="{E2E7B6B0-673A-47A8-BCE9-7292AE0C8D1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ttle"/>
        </a:ext>
      </dgm:extLst>
    </dgm:pt>
    <dgm:pt modelId="{610B0515-9665-4818-B6EF-5DEE3FDC6C97}" type="pres">
      <dgm:prSet presAssocID="{E2E7B6B0-673A-47A8-BCE9-7292AE0C8D1F}" presName="spaceRect" presStyleCnt="0"/>
      <dgm:spPr/>
    </dgm:pt>
    <dgm:pt modelId="{94BB35AF-C5B6-42B2-9497-01F2BFBF75DC}" type="pres">
      <dgm:prSet presAssocID="{E2E7B6B0-673A-47A8-BCE9-7292AE0C8D1F}" presName="parTx" presStyleLbl="revTx" presStyleIdx="0" presStyleCnt="8">
        <dgm:presLayoutVars>
          <dgm:chMax val="0"/>
          <dgm:chPref val="0"/>
        </dgm:presLayoutVars>
      </dgm:prSet>
      <dgm:spPr/>
    </dgm:pt>
    <dgm:pt modelId="{42FD234D-5871-4FB9-8751-FD554BBD1C98}" type="pres">
      <dgm:prSet presAssocID="{E2E7B6B0-673A-47A8-BCE9-7292AE0C8D1F}" presName="desTx" presStyleLbl="revTx" presStyleIdx="1" presStyleCnt="8">
        <dgm:presLayoutVars/>
      </dgm:prSet>
      <dgm:spPr/>
    </dgm:pt>
    <dgm:pt modelId="{679B0905-7D74-45B2-A88F-DCF4D2499086}" type="pres">
      <dgm:prSet presAssocID="{0659E847-FE32-4DF2-BBA2-18FB5443658A}" presName="sibTrans" presStyleCnt="0"/>
      <dgm:spPr/>
    </dgm:pt>
    <dgm:pt modelId="{09B8D7AE-3ED6-4D5A-AD6C-D19886BEAD03}" type="pres">
      <dgm:prSet presAssocID="{FE0BD05C-8C1E-40D4-8615-51936C93F992}" presName="compNode" presStyleCnt="0"/>
      <dgm:spPr/>
    </dgm:pt>
    <dgm:pt modelId="{10571652-931B-4266-A5DB-72F8632E8F6C}" type="pres">
      <dgm:prSet presAssocID="{FE0BD05C-8C1E-40D4-8615-51936C93F992}" presName="bgRect" presStyleLbl="bgShp" presStyleIdx="1" presStyleCnt="4"/>
      <dgm:spPr/>
    </dgm:pt>
    <dgm:pt modelId="{A5F27AEA-6BC9-4E3B-B276-7399C019FFAF}" type="pres">
      <dgm:prSet presAssocID="{FE0BD05C-8C1E-40D4-8615-51936C93F99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
        </a:ext>
      </dgm:extLst>
    </dgm:pt>
    <dgm:pt modelId="{0AC8F874-624C-4A89-BFD5-BDBA35E737CA}" type="pres">
      <dgm:prSet presAssocID="{FE0BD05C-8C1E-40D4-8615-51936C93F992}" presName="spaceRect" presStyleCnt="0"/>
      <dgm:spPr/>
    </dgm:pt>
    <dgm:pt modelId="{C600A575-75D3-42A3-A646-28089592AA58}" type="pres">
      <dgm:prSet presAssocID="{FE0BD05C-8C1E-40D4-8615-51936C93F992}" presName="parTx" presStyleLbl="revTx" presStyleIdx="2" presStyleCnt="8">
        <dgm:presLayoutVars>
          <dgm:chMax val="0"/>
          <dgm:chPref val="0"/>
        </dgm:presLayoutVars>
      </dgm:prSet>
      <dgm:spPr/>
    </dgm:pt>
    <dgm:pt modelId="{24357B68-9F66-42CA-85C8-F13664F498C7}" type="pres">
      <dgm:prSet presAssocID="{FE0BD05C-8C1E-40D4-8615-51936C93F992}" presName="desTx" presStyleLbl="revTx" presStyleIdx="3" presStyleCnt="8">
        <dgm:presLayoutVars/>
      </dgm:prSet>
      <dgm:spPr/>
    </dgm:pt>
    <dgm:pt modelId="{75664853-E596-4264-912D-C7B8D87B8395}" type="pres">
      <dgm:prSet presAssocID="{A1D1EE3F-1ACD-487B-A788-65EF4CF572E6}" presName="sibTrans" presStyleCnt="0"/>
      <dgm:spPr/>
    </dgm:pt>
    <dgm:pt modelId="{75830B63-E78D-4DE0-A9ED-6EB4B274B226}" type="pres">
      <dgm:prSet presAssocID="{FEED81FB-4FAA-4F0E-9C16-3DEE84D268F0}" presName="compNode" presStyleCnt="0"/>
      <dgm:spPr/>
    </dgm:pt>
    <dgm:pt modelId="{6463D818-3D78-447E-9BCE-99061D94F260}" type="pres">
      <dgm:prSet presAssocID="{FEED81FB-4FAA-4F0E-9C16-3DEE84D268F0}" presName="bgRect" presStyleLbl="bgShp" presStyleIdx="2" presStyleCnt="4"/>
      <dgm:spPr/>
    </dgm:pt>
    <dgm:pt modelId="{114633B7-51D5-4469-8B47-BF4FE5D68E90}" type="pres">
      <dgm:prSet presAssocID="{FEED81FB-4FAA-4F0E-9C16-3DEE84D268F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ne"/>
        </a:ext>
      </dgm:extLst>
    </dgm:pt>
    <dgm:pt modelId="{8CDA685A-42EB-4F74-ABBE-648AED7A7697}" type="pres">
      <dgm:prSet presAssocID="{FEED81FB-4FAA-4F0E-9C16-3DEE84D268F0}" presName="spaceRect" presStyleCnt="0"/>
      <dgm:spPr/>
    </dgm:pt>
    <dgm:pt modelId="{271899AC-9CD3-4AF7-814A-287B3D9484FD}" type="pres">
      <dgm:prSet presAssocID="{FEED81FB-4FAA-4F0E-9C16-3DEE84D268F0}" presName="parTx" presStyleLbl="revTx" presStyleIdx="4" presStyleCnt="8">
        <dgm:presLayoutVars>
          <dgm:chMax val="0"/>
          <dgm:chPref val="0"/>
        </dgm:presLayoutVars>
      </dgm:prSet>
      <dgm:spPr/>
    </dgm:pt>
    <dgm:pt modelId="{94029EA4-90F2-4BB1-8843-32DF31BD7E32}" type="pres">
      <dgm:prSet presAssocID="{FEED81FB-4FAA-4F0E-9C16-3DEE84D268F0}" presName="desTx" presStyleLbl="revTx" presStyleIdx="5" presStyleCnt="8">
        <dgm:presLayoutVars/>
      </dgm:prSet>
      <dgm:spPr/>
    </dgm:pt>
    <dgm:pt modelId="{F8AEEA0C-D4AA-42D8-8F3B-E666ECDD69D6}" type="pres">
      <dgm:prSet presAssocID="{D357A735-BCB9-4975-A60F-83D49F2234DF}" presName="sibTrans" presStyleCnt="0"/>
      <dgm:spPr/>
    </dgm:pt>
    <dgm:pt modelId="{70263B98-0B8D-449B-881A-AA36D1CC38F4}" type="pres">
      <dgm:prSet presAssocID="{D9C55C8B-59B6-4B73-9409-1FBF1B5839CD}" presName="compNode" presStyleCnt="0"/>
      <dgm:spPr/>
    </dgm:pt>
    <dgm:pt modelId="{C094088D-A7C8-4ECB-9241-D54C5D9B4444}" type="pres">
      <dgm:prSet presAssocID="{D9C55C8B-59B6-4B73-9409-1FBF1B5839CD}" presName="bgRect" presStyleLbl="bgShp" presStyleIdx="3" presStyleCnt="4"/>
      <dgm:spPr/>
    </dgm:pt>
    <dgm:pt modelId="{32654733-227B-40BD-9182-924FF95AD578}" type="pres">
      <dgm:prSet presAssocID="{D9C55C8B-59B6-4B73-9409-1FBF1B5839C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rt with Pulse"/>
        </a:ext>
      </dgm:extLst>
    </dgm:pt>
    <dgm:pt modelId="{FAD1C62A-6EF0-4F56-837C-4C812BB3A9BB}" type="pres">
      <dgm:prSet presAssocID="{D9C55C8B-59B6-4B73-9409-1FBF1B5839CD}" presName="spaceRect" presStyleCnt="0"/>
      <dgm:spPr/>
    </dgm:pt>
    <dgm:pt modelId="{D6CA5464-CBC9-4A12-BFF4-CBF10583FDAB}" type="pres">
      <dgm:prSet presAssocID="{D9C55C8B-59B6-4B73-9409-1FBF1B5839CD}" presName="parTx" presStyleLbl="revTx" presStyleIdx="6" presStyleCnt="8">
        <dgm:presLayoutVars>
          <dgm:chMax val="0"/>
          <dgm:chPref val="0"/>
        </dgm:presLayoutVars>
      </dgm:prSet>
      <dgm:spPr/>
    </dgm:pt>
    <dgm:pt modelId="{367BB799-4537-42AD-BF67-A757F09075ED}" type="pres">
      <dgm:prSet presAssocID="{D9C55C8B-59B6-4B73-9409-1FBF1B5839CD}" presName="desTx" presStyleLbl="revTx" presStyleIdx="7" presStyleCnt="8">
        <dgm:presLayoutVars/>
      </dgm:prSet>
      <dgm:spPr/>
    </dgm:pt>
  </dgm:ptLst>
  <dgm:cxnLst>
    <dgm:cxn modelId="{5C59FB19-A8B1-4235-9220-9934A3403531}" type="presOf" srcId="{A941D555-E58F-465C-81A7-8B7491D5A219}" destId="{24357B68-9F66-42CA-85C8-F13664F498C7}" srcOrd="0" destOrd="1" presId="urn:microsoft.com/office/officeart/2018/2/layout/IconVerticalSolidList"/>
    <dgm:cxn modelId="{4A369022-F983-4589-B564-C348D09A0E9A}" srcId="{E2E7B6B0-673A-47A8-BCE9-7292AE0C8D1F}" destId="{72EDF380-46CB-4953-A066-D112551B8D9F}" srcOrd="0" destOrd="0" parTransId="{3456C7E8-8E5D-4068-B4DD-366F0C75663B}" sibTransId="{2DEA05F1-C15A-45F9-932A-79AF1864D79E}"/>
    <dgm:cxn modelId="{52AC605B-1EDC-4022-8BBE-8CFEBB163F96}" type="presOf" srcId="{E2E7B6B0-673A-47A8-BCE9-7292AE0C8D1F}" destId="{94BB35AF-C5B6-42B2-9497-01F2BFBF75DC}" srcOrd="0" destOrd="0" presId="urn:microsoft.com/office/officeart/2018/2/layout/IconVerticalSolidList"/>
    <dgm:cxn modelId="{9864F35C-1260-454F-A147-7A26CDAFBFB1}" type="presOf" srcId="{4ED22CA0-F137-428E-8010-887E6228A177}" destId="{24357B68-9F66-42CA-85C8-F13664F498C7}" srcOrd="0" destOrd="0" presId="urn:microsoft.com/office/officeart/2018/2/layout/IconVerticalSolidList"/>
    <dgm:cxn modelId="{9F832865-D0C4-4D87-878B-99002AA00F96}" srcId="{FE0BD05C-8C1E-40D4-8615-51936C93F992}" destId="{A941D555-E58F-465C-81A7-8B7491D5A219}" srcOrd="1" destOrd="0" parTransId="{217846E4-4AFF-4646-A4F5-04F9B40580BA}" sibTransId="{8E6C7EA8-A44F-4923-8AAB-7AD95F4FF6AD}"/>
    <dgm:cxn modelId="{56BB2066-7ADE-4568-AC57-9E10A15078F3}" srcId="{FEED81FB-4FAA-4F0E-9C16-3DEE84D268F0}" destId="{DBF3CA7F-EF0E-4B50-B69C-3905D89C38D1}" srcOrd="0" destOrd="0" parTransId="{874A008D-BF46-4386-94F7-C21C1E635664}" sibTransId="{1A19BB64-28E8-4C72-80C2-2C62A73618E9}"/>
    <dgm:cxn modelId="{4F56E171-251C-4DBC-ABDA-CEA667C8C297}" srcId="{039C5EC5-A264-4E6D-A664-95B00A6C4F6A}" destId="{D9C55C8B-59B6-4B73-9409-1FBF1B5839CD}" srcOrd="3" destOrd="0" parTransId="{615720B9-36B5-450A-8F5D-517E2D6273DE}" sibTransId="{F87F7A81-3F36-456D-BBF2-1CBBD5BF3481}"/>
    <dgm:cxn modelId="{C824EF51-8C0D-48F5-A903-C3025F09DFDE}" type="presOf" srcId="{039C5EC5-A264-4E6D-A664-95B00A6C4F6A}" destId="{BD952846-4A13-4C7F-906E-E9B472771A2F}" srcOrd="0" destOrd="0" presId="urn:microsoft.com/office/officeart/2018/2/layout/IconVerticalSolidList"/>
    <dgm:cxn modelId="{14EBD357-8CE1-4B07-B2BC-BFDC95624BF9}" type="presOf" srcId="{CCB0701C-ABC1-41C4-BFB1-0CD018569C24}" destId="{367BB799-4537-42AD-BF67-A757F09075ED}" srcOrd="0" destOrd="1" presId="urn:microsoft.com/office/officeart/2018/2/layout/IconVerticalSolidList"/>
    <dgm:cxn modelId="{31675E7D-3AFF-4EC8-83CC-A4BF19D3E445}" srcId="{D9C55C8B-59B6-4B73-9409-1FBF1B5839CD}" destId="{7F779B9C-1AB1-4C10-907A-467E156A5685}" srcOrd="0" destOrd="0" parTransId="{1ECCA62F-ECEE-43B8-B005-85A84E79D8AB}" sibTransId="{43BCB977-65B0-4B63-9751-70A0BA503347}"/>
    <dgm:cxn modelId="{DD7B8282-AC1D-4369-BC6E-0DEA778C91B4}" type="presOf" srcId="{7F779B9C-1AB1-4C10-907A-467E156A5685}" destId="{367BB799-4537-42AD-BF67-A757F09075ED}" srcOrd="0" destOrd="0" presId="urn:microsoft.com/office/officeart/2018/2/layout/IconVerticalSolidList"/>
    <dgm:cxn modelId="{9E6F0990-56D8-4FD8-8238-F533452D0077}" type="presOf" srcId="{DBF3CA7F-EF0E-4B50-B69C-3905D89C38D1}" destId="{94029EA4-90F2-4BB1-8843-32DF31BD7E32}" srcOrd="0" destOrd="0" presId="urn:microsoft.com/office/officeart/2018/2/layout/IconVerticalSolidList"/>
    <dgm:cxn modelId="{9AE2CF9B-CF9B-47FE-B35D-7B52740269AE}" type="presOf" srcId="{FEED81FB-4FAA-4F0E-9C16-3DEE84D268F0}" destId="{271899AC-9CD3-4AF7-814A-287B3D9484FD}" srcOrd="0" destOrd="0" presId="urn:microsoft.com/office/officeart/2018/2/layout/IconVerticalSolidList"/>
    <dgm:cxn modelId="{E083ED9C-C5CE-4D4D-B169-EE559D6A9C5D}" type="presOf" srcId="{D9C55C8B-59B6-4B73-9409-1FBF1B5839CD}" destId="{D6CA5464-CBC9-4A12-BFF4-CBF10583FDAB}" srcOrd="0" destOrd="0" presId="urn:microsoft.com/office/officeart/2018/2/layout/IconVerticalSolidList"/>
    <dgm:cxn modelId="{C5CB969D-2EB8-46ED-B6F1-D9A04C4C6F67}" srcId="{039C5EC5-A264-4E6D-A664-95B00A6C4F6A}" destId="{FEED81FB-4FAA-4F0E-9C16-3DEE84D268F0}" srcOrd="2" destOrd="0" parTransId="{7CD8CFA3-944B-42F3-9B4A-B0FDE8B62E24}" sibTransId="{D357A735-BCB9-4975-A60F-83D49F2234DF}"/>
    <dgm:cxn modelId="{5E7DCBA1-7039-4151-BA76-68628102CD00}" type="presOf" srcId="{CFEEB32B-EBF3-41DD-9F63-5855E490EC2D}" destId="{24357B68-9F66-42CA-85C8-F13664F498C7}" srcOrd="0" destOrd="2" presId="urn:microsoft.com/office/officeart/2018/2/layout/IconVerticalSolidList"/>
    <dgm:cxn modelId="{609386AA-5D95-4ABA-926D-90BEBC862BD5}" type="presOf" srcId="{FE0BD05C-8C1E-40D4-8615-51936C93F992}" destId="{C600A575-75D3-42A3-A646-28089592AA58}" srcOrd="0" destOrd="0" presId="urn:microsoft.com/office/officeart/2018/2/layout/IconVerticalSolidList"/>
    <dgm:cxn modelId="{8B3C93BB-01F4-40C9-B2FF-66CF4667F5B7}" srcId="{FE0BD05C-8C1E-40D4-8615-51936C93F992}" destId="{CFEEB32B-EBF3-41DD-9F63-5855E490EC2D}" srcOrd="2" destOrd="0" parTransId="{3D7455C0-6B58-4CB4-BAA6-736BE918572B}" sibTransId="{79490954-B594-41B6-AE20-B8A82F642ECA}"/>
    <dgm:cxn modelId="{FA192AC1-9600-4DE9-846B-06F3AF3D1C57}" srcId="{D9C55C8B-59B6-4B73-9409-1FBF1B5839CD}" destId="{CCB0701C-ABC1-41C4-BFB1-0CD018569C24}" srcOrd="1" destOrd="0" parTransId="{83A83B80-43AE-4BAA-80F2-7286E9CF078E}" sibTransId="{11F6D843-618B-4CC0-9165-B2C04774793B}"/>
    <dgm:cxn modelId="{841946DF-66EE-4C63-A335-107026B74721}" srcId="{FE0BD05C-8C1E-40D4-8615-51936C93F992}" destId="{4ED22CA0-F137-428E-8010-887E6228A177}" srcOrd="0" destOrd="0" parTransId="{ED07FB50-CA03-46FB-AA8C-2475B8D55154}" sibTransId="{5EB904CB-E260-4F50-B287-EC1A0F996448}"/>
    <dgm:cxn modelId="{5BF10DE5-D6F7-49D5-9053-A45659AF2D1C}" type="presOf" srcId="{72EDF380-46CB-4953-A066-D112551B8D9F}" destId="{42FD234D-5871-4FB9-8751-FD554BBD1C98}" srcOrd="0" destOrd="0" presId="urn:microsoft.com/office/officeart/2018/2/layout/IconVerticalSolidList"/>
    <dgm:cxn modelId="{245893E5-41B4-4CE6-8E0B-4AB642E9FC50}" srcId="{039C5EC5-A264-4E6D-A664-95B00A6C4F6A}" destId="{E2E7B6B0-673A-47A8-BCE9-7292AE0C8D1F}" srcOrd="0" destOrd="0" parTransId="{ED3D01D3-89FB-43C6-9FB4-63D2457DD830}" sibTransId="{0659E847-FE32-4DF2-BBA2-18FB5443658A}"/>
    <dgm:cxn modelId="{7D69D0E7-6DDC-4775-A0CA-EE254BA73122}" srcId="{039C5EC5-A264-4E6D-A664-95B00A6C4F6A}" destId="{FE0BD05C-8C1E-40D4-8615-51936C93F992}" srcOrd="1" destOrd="0" parTransId="{0AD1FEE0-97E2-4215-AEE2-BE4F43502515}" sibTransId="{A1D1EE3F-1ACD-487B-A788-65EF4CF572E6}"/>
    <dgm:cxn modelId="{99B493EB-40D0-44A0-A650-22B3C96D3C9F}" type="presOf" srcId="{3ED27740-B102-49ED-AA20-E69284D450D3}" destId="{24357B68-9F66-42CA-85C8-F13664F498C7}" srcOrd="0" destOrd="3" presId="urn:microsoft.com/office/officeart/2018/2/layout/IconVerticalSolidList"/>
    <dgm:cxn modelId="{366EBEF1-1FAE-40A4-B586-FB9EA2B87B95}" srcId="{FE0BD05C-8C1E-40D4-8615-51936C93F992}" destId="{3ED27740-B102-49ED-AA20-E69284D450D3}" srcOrd="3" destOrd="0" parTransId="{1CC37FA1-91B5-4336-8103-1A63EA8CB13C}" sibTransId="{617C58BF-FF7D-40C0-A372-F085EEEB2E95}"/>
    <dgm:cxn modelId="{F917FC94-8ADA-436B-B1FD-AF5BB8413172}" type="presParOf" srcId="{BD952846-4A13-4C7F-906E-E9B472771A2F}" destId="{AB4B8AE3-7ABE-492B-B11E-1CBB48F7066C}" srcOrd="0" destOrd="0" presId="urn:microsoft.com/office/officeart/2018/2/layout/IconVerticalSolidList"/>
    <dgm:cxn modelId="{DC8D923D-229F-4AF7-B383-B6D18C22831A}" type="presParOf" srcId="{AB4B8AE3-7ABE-492B-B11E-1CBB48F7066C}" destId="{63A2B0F1-1BD1-47A8-BF0D-DE51D3621D6C}" srcOrd="0" destOrd="0" presId="urn:microsoft.com/office/officeart/2018/2/layout/IconVerticalSolidList"/>
    <dgm:cxn modelId="{A783B190-9700-4B4A-9EC7-99429D0C76FF}" type="presParOf" srcId="{AB4B8AE3-7ABE-492B-B11E-1CBB48F7066C}" destId="{BDA7437F-3DBD-4596-9951-FECFC9D74594}" srcOrd="1" destOrd="0" presId="urn:microsoft.com/office/officeart/2018/2/layout/IconVerticalSolidList"/>
    <dgm:cxn modelId="{283E1604-87BA-419D-A8FF-33706ADFA822}" type="presParOf" srcId="{AB4B8AE3-7ABE-492B-B11E-1CBB48F7066C}" destId="{610B0515-9665-4818-B6EF-5DEE3FDC6C97}" srcOrd="2" destOrd="0" presId="urn:microsoft.com/office/officeart/2018/2/layout/IconVerticalSolidList"/>
    <dgm:cxn modelId="{580B6D7E-A3A8-40EC-B909-5ED1FAF82662}" type="presParOf" srcId="{AB4B8AE3-7ABE-492B-B11E-1CBB48F7066C}" destId="{94BB35AF-C5B6-42B2-9497-01F2BFBF75DC}" srcOrd="3" destOrd="0" presId="urn:microsoft.com/office/officeart/2018/2/layout/IconVerticalSolidList"/>
    <dgm:cxn modelId="{89F08B73-E244-42F6-9178-3AECF5A0463D}" type="presParOf" srcId="{AB4B8AE3-7ABE-492B-B11E-1CBB48F7066C}" destId="{42FD234D-5871-4FB9-8751-FD554BBD1C98}" srcOrd="4" destOrd="0" presId="urn:microsoft.com/office/officeart/2018/2/layout/IconVerticalSolidList"/>
    <dgm:cxn modelId="{D074B23F-0ABD-43FB-8957-86F16D698546}" type="presParOf" srcId="{BD952846-4A13-4C7F-906E-E9B472771A2F}" destId="{679B0905-7D74-45B2-A88F-DCF4D2499086}" srcOrd="1" destOrd="0" presId="urn:microsoft.com/office/officeart/2018/2/layout/IconVerticalSolidList"/>
    <dgm:cxn modelId="{963D3929-8473-42A5-A2F2-89AAEF91A347}" type="presParOf" srcId="{BD952846-4A13-4C7F-906E-E9B472771A2F}" destId="{09B8D7AE-3ED6-4D5A-AD6C-D19886BEAD03}" srcOrd="2" destOrd="0" presId="urn:microsoft.com/office/officeart/2018/2/layout/IconVerticalSolidList"/>
    <dgm:cxn modelId="{19C144B8-96EE-476B-9A3E-1E0638D33E10}" type="presParOf" srcId="{09B8D7AE-3ED6-4D5A-AD6C-D19886BEAD03}" destId="{10571652-931B-4266-A5DB-72F8632E8F6C}" srcOrd="0" destOrd="0" presId="urn:microsoft.com/office/officeart/2018/2/layout/IconVerticalSolidList"/>
    <dgm:cxn modelId="{926BE5C3-57F3-44AB-9B2F-82DA157C79D8}" type="presParOf" srcId="{09B8D7AE-3ED6-4D5A-AD6C-D19886BEAD03}" destId="{A5F27AEA-6BC9-4E3B-B276-7399C019FFAF}" srcOrd="1" destOrd="0" presId="urn:microsoft.com/office/officeart/2018/2/layout/IconVerticalSolidList"/>
    <dgm:cxn modelId="{8B79C899-8039-4F8D-8615-ADDD766D5E01}" type="presParOf" srcId="{09B8D7AE-3ED6-4D5A-AD6C-D19886BEAD03}" destId="{0AC8F874-624C-4A89-BFD5-BDBA35E737CA}" srcOrd="2" destOrd="0" presId="urn:microsoft.com/office/officeart/2018/2/layout/IconVerticalSolidList"/>
    <dgm:cxn modelId="{0FE6D609-864D-4AFA-94E9-3174D175E9AF}" type="presParOf" srcId="{09B8D7AE-3ED6-4D5A-AD6C-D19886BEAD03}" destId="{C600A575-75D3-42A3-A646-28089592AA58}" srcOrd="3" destOrd="0" presId="urn:microsoft.com/office/officeart/2018/2/layout/IconVerticalSolidList"/>
    <dgm:cxn modelId="{7A8A3A3C-25BB-48E1-9A8C-4CEA6DF0E286}" type="presParOf" srcId="{09B8D7AE-3ED6-4D5A-AD6C-D19886BEAD03}" destId="{24357B68-9F66-42CA-85C8-F13664F498C7}" srcOrd="4" destOrd="0" presId="urn:microsoft.com/office/officeart/2018/2/layout/IconVerticalSolidList"/>
    <dgm:cxn modelId="{897C1182-2E5E-4D73-87EF-B65C05805EDF}" type="presParOf" srcId="{BD952846-4A13-4C7F-906E-E9B472771A2F}" destId="{75664853-E596-4264-912D-C7B8D87B8395}" srcOrd="3" destOrd="0" presId="urn:microsoft.com/office/officeart/2018/2/layout/IconVerticalSolidList"/>
    <dgm:cxn modelId="{9724750C-DE58-413A-9D8A-07AB4D28A73A}" type="presParOf" srcId="{BD952846-4A13-4C7F-906E-E9B472771A2F}" destId="{75830B63-E78D-4DE0-A9ED-6EB4B274B226}" srcOrd="4" destOrd="0" presId="urn:microsoft.com/office/officeart/2018/2/layout/IconVerticalSolidList"/>
    <dgm:cxn modelId="{446E3909-D6BE-4347-97AE-4A228F9C2BB5}" type="presParOf" srcId="{75830B63-E78D-4DE0-A9ED-6EB4B274B226}" destId="{6463D818-3D78-447E-9BCE-99061D94F260}" srcOrd="0" destOrd="0" presId="urn:microsoft.com/office/officeart/2018/2/layout/IconVerticalSolidList"/>
    <dgm:cxn modelId="{048BF2C5-FEC7-4285-9B26-BE7C66EB47A7}" type="presParOf" srcId="{75830B63-E78D-4DE0-A9ED-6EB4B274B226}" destId="{114633B7-51D5-4469-8B47-BF4FE5D68E90}" srcOrd="1" destOrd="0" presId="urn:microsoft.com/office/officeart/2018/2/layout/IconVerticalSolidList"/>
    <dgm:cxn modelId="{E4B4D0C4-DE0D-4500-8203-9430F749E995}" type="presParOf" srcId="{75830B63-E78D-4DE0-A9ED-6EB4B274B226}" destId="{8CDA685A-42EB-4F74-ABBE-648AED7A7697}" srcOrd="2" destOrd="0" presId="urn:microsoft.com/office/officeart/2018/2/layout/IconVerticalSolidList"/>
    <dgm:cxn modelId="{C46C6E1A-B404-4E8E-8320-57EE2283284B}" type="presParOf" srcId="{75830B63-E78D-4DE0-A9ED-6EB4B274B226}" destId="{271899AC-9CD3-4AF7-814A-287B3D9484FD}" srcOrd="3" destOrd="0" presId="urn:microsoft.com/office/officeart/2018/2/layout/IconVerticalSolidList"/>
    <dgm:cxn modelId="{26D4B3F6-1FAE-421C-ACBF-2F8EC96916BD}" type="presParOf" srcId="{75830B63-E78D-4DE0-A9ED-6EB4B274B226}" destId="{94029EA4-90F2-4BB1-8843-32DF31BD7E32}" srcOrd="4" destOrd="0" presId="urn:microsoft.com/office/officeart/2018/2/layout/IconVerticalSolidList"/>
    <dgm:cxn modelId="{F999F1EC-9192-424E-8220-5DEFC522369E}" type="presParOf" srcId="{BD952846-4A13-4C7F-906E-E9B472771A2F}" destId="{F8AEEA0C-D4AA-42D8-8F3B-E666ECDD69D6}" srcOrd="5" destOrd="0" presId="urn:microsoft.com/office/officeart/2018/2/layout/IconVerticalSolidList"/>
    <dgm:cxn modelId="{88B9BC70-C5BD-4834-82D2-C04E6ECCA63A}" type="presParOf" srcId="{BD952846-4A13-4C7F-906E-E9B472771A2F}" destId="{70263B98-0B8D-449B-881A-AA36D1CC38F4}" srcOrd="6" destOrd="0" presId="urn:microsoft.com/office/officeart/2018/2/layout/IconVerticalSolidList"/>
    <dgm:cxn modelId="{9C439896-18ED-4DCC-AD8D-9E4BCDB70705}" type="presParOf" srcId="{70263B98-0B8D-449B-881A-AA36D1CC38F4}" destId="{C094088D-A7C8-4ECB-9241-D54C5D9B4444}" srcOrd="0" destOrd="0" presId="urn:microsoft.com/office/officeart/2018/2/layout/IconVerticalSolidList"/>
    <dgm:cxn modelId="{2D70AA6C-F3D0-45AD-91DD-69C61092F9AA}" type="presParOf" srcId="{70263B98-0B8D-449B-881A-AA36D1CC38F4}" destId="{32654733-227B-40BD-9182-924FF95AD578}" srcOrd="1" destOrd="0" presId="urn:microsoft.com/office/officeart/2018/2/layout/IconVerticalSolidList"/>
    <dgm:cxn modelId="{DDD9822C-2318-489C-B508-BE7DE2260FD5}" type="presParOf" srcId="{70263B98-0B8D-449B-881A-AA36D1CC38F4}" destId="{FAD1C62A-6EF0-4F56-837C-4C812BB3A9BB}" srcOrd="2" destOrd="0" presId="urn:microsoft.com/office/officeart/2018/2/layout/IconVerticalSolidList"/>
    <dgm:cxn modelId="{9816A8B0-5C6F-4376-B583-7414484ACB7C}" type="presParOf" srcId="{70263B98-0B8D-449B-881A-AA36D1CC38F4}" destId="{D6CA5464-CBC9-4A12-BFF4-CBF10583FDAB}" srcOrd="3" destOrd="0" presId="urn:microsoft.com/office/officeart/2018/2/layout/IconVerticalSolidList"/>
    <dgm:cxn modelId="{42CAB6D1-4008-4FDF-B60D-32D95660731A}" type="presParOf" srcId="{70263B98-0B8D-449B-881A-AA36D1CC38F4}" destId="{367BB799-4537-42AD-BF67-A757F09075ED}"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7C4340-22FB-4F6C-99C8-E565CF97A8E4}"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E9C4B5C2-6383-47F6-ABE1-F6493E91A13D}">
      <dgm:prSet/>
      <dgm:spPr/>
      <dgm:t>
        <a:bodyPr/>
        <a:lstStyle/>
        <a:p>
          <a:pPr rtl="0"/>
          <a:r>
            <a:rPr lang="en-US" dirty="0"/>
            <a:t>Thin Liquids</a:t>
          </a:r>
        </a:p>
      </dgm:t>
    </dgm:pt>
    <dgm:pt modelId="{EB839599-59C9-49FE-8920-A947F68367F4}" type="parTrans" cxnId="{9A1BA4DF-FB45-4761-9D47-0AA88E31DA82}">
      <dgm:prSet/>
      <dgm:spPr/>
      <dgm:t>
        <a:bodyPr/>
        <a:lstStyle/>
        <a:p>
          <a:endParaRPr lang="en-US"/>
        </a:p>
      </dgm:t>
    </dgm:pt>
    <dgm:pt modelId="{AFC5CECF-23CF-4D22-B6D5-83C23150C816}" type="sibTrans" cxnId="{9A1BA4DF-FB45-4761-9D47-0AA88E31DA82}">
      <dgm:prSet/>
      <dgm:spPr/>
      <dgm:t>
        <a:bodyPr/>
        <a:lstStyle/>
        <a:p>
          <a:endParaRPr lang="en-US"/>
        </a:p>
      </dgm:t>
    </dgm:pt>
    <dgm:pt modelId="{424F0DA9-E695-4A31-A3E2-1AA5636C4A64}">
      <dgm:prSet/>
      <dgm:spPr/>
      <dgm:t>
        <a:bodyPr/>
        <a:lstStyle/>
        <a:p>
          <a:pPr rtl="0"/>
          <a:r>
            <a:rPr lang="en-US" dirty="0"/>
            <a:t>Nectar-thick liquids (syrup)</a:t>
          </a:r>
        </a:p>
      </dgm:t>
    </dgm:pt>
    <dgm:pt modelId="{FEC7EBC6-F0A2-4680-B996-AE778F56728E}" type="parTrans" cxnId="{EC8D3A47-EDB4-48FF-81B0-C3704339C41C}">
      <dgm:prSet/>
      <dgm:spPr/>
      <dgm:t>
        <a:bodyPr/>
        <a:lstStyle/>
        <a:p>
          <a:endParaRPr lang="en-US"/>
        </a:p>
      </dgm:t>
    </dgm:pt>
    <dgm:pt modelId="{54A48840-EF1C-4664-BD05-86F3FAA877BF}" type="sibTrans" cxnId="{EC8D3A47-EDB4-48FF-81B0-C3704339C41C}">
      <dgm:prSet/>
      <dgm:spPr/>
      <dgm:t>
        <a:bodyPr/>
        <a:lstStyle/>
        <a:p>
          <a:endParaRPr lang="en-US"/>
        </a:p>
      </dgm:t>
    </dgm:pt>
    <dgm:pt modelId="{D60395FB-DFFE-4783-AC95-77A726FF27BA}">
      <dgm:prSet/>
      <dgm:spPr/>
      <dgm:t>
        <a:bodyPr/>
        <a:lstStyle/>
        <a:p>
          <a:pPr rtl="0"/>
          <a:r>
            <a:rPr lang="en-US" dirty="0"/>
            <a:t>Honey-thick liquids</a:t>
          </a:r>
        </a:p>
      </dgm:t>
    </dgm:pt>
    <dgm:pt modelId="{0CB0CBAB-8E99-46EB-ACE4-2DD9A5DF9AF8}" type="parTrans" cxnId="{4923F8C4-13BD-4B4C-8E11-9EC0C0CD13BC}">
      <dgm:prSet/>
      <dgm:spPr/>
      <dgm:t>
        <a:bodyPr/>
        <a:lstStyle/>
        <a:p>
          <a:endParaRPr lang="en-US"/>
        </a:p>
      </dgm:t>
    </dgm:pt>
    <dgm:pt modelId="{BAF54300-B42C-41C5-8BDB-109FF9594C9C}" type="sibTrans" cxnId="{4923F8C4-13BD-4B4C-8E11-9EC0C0CD13BC}">
      <dgm:prSet/>
      <dgm:spPr/>
      <dgm:t>
        <a:bodyPr/>
        <a:lstStyle/>
        <a:p>
          <a:endParaRPr lang="en-US"/>
        </a:p>
      </dgm:t>
    </dgm:pt>
    <dgm:pt modelId="{D39B19DD-20D1-4E8C-A219-3C5D81B9F40F}">
      <dgm:prSet/>
      <dgm:spPr/>
      <dgm:t>
        <a:bodyPr/>
        <a:lstStyle/>
        <a:p>
          <a:pPr rtl="0"/>
          <a:r>
            <a:rPr lang="en-US" dirty="0"/>
            <a:t>Pudding-thick liquids</a:t>
          </a:r>
        </a:p>
      </dgm:t>
    </dgm:pt>
    <dgm:pt modelId="{E35426A9-C6D9-40C1-B87C-B4CC1C396261}" type="parTrans" cxnId="{A46F6EA8-B005-48E5-A9F2-3789D3E8C843}">
      <dgm:prSet/>
      <dgm:spPr/>
      <dgm:t>
        <a:bodyPr/>
        <a:lstStyle/>
        <a:p>
          <a:endParaRPr lang="en-US"/>
        </a:p>
      </dgm:t>
    </dgm:pt>
    <dgm:pt modelId="{C16B438E-7FEC-457D-B50B-07FA795679F7}" type="sibTrans" cxnId="{A46F6EA8-B005-48E5-A9F2-3789D3E8C843}">
      <dgm:prSet/>
      <dgm:spPr/>
      <dgm:t>
        <a:bodyPr/>
        <a:lstStyle/>
        <a:p>
          <a:endParaRPr lang="en-US"/>
        </a:p>
      </dgm:t>
    </dgm:pt>
    <dgm:pt modelId="{45CB51F4-301B-4ADC-928C-EC3BF0E0ACDD}" type="pres">
      <dgm:prSet presAssocID="{067C4340-22FB-4F6C-99C8-E565CF97A8E4}" presName="CompostProcess" presStyleCnt="0">
        <dgm:presLayoutVars>
          <dgm:dir/>
          <dgm:resizeHandles val="exact"/>
        </dgm:presLayoutVars>
      </dgm:prSet>
      <dgm:spPr/>
    </dgm:pt>
    <dgm:pt modelId="{FB456DB0-B9DE-4B1C-A5D3-6F6FA84967EA}" type="pres">
      <dgm:prSet presAssocID="{067C4340-22FB-4F6C-99C8-E565CF97A8E4}" presName="arrow" presStyleLbl="bgShp" presStyleIdx="0" presStyleCnt="1" custLinFactNeighborX="32" custLinFactNeighborY="6903"/>
      <dgm:spPr/>
    </dgm:pt>
    <dgm:pt modelId="{07C9C781-9C84-467B-BAEB-36A301C8BB94}" type="pres">
      <dgm:prSet presAssocID="{067C4340-22FB-4F6C-99C8-E565CF97A8E4}" presName="linearProcess" presStyleCnt="0"/>
      <dgm:spPr/>
    </dgm:pt>
    <dgm:pt modelId="{F3B133B7-7F89-46E6-BBB6-FEA5B94B4A50}" type="pres">
      <dgm:prSet presAssocID="{E9C4B5C2-6383-47F6-ABE1-F6493E91A13D}" presName="textNode" presStyleLbl="node1" presStyleIdx="0" presStyleCnt="4">
        <dgm:presLayoutVars>
          <dgm:bulletEnabled val="1"/>
        </dgm:presLayoutVars>
      </dgm:prSet>
      <dgm:spPr/>
    </dgm:pt>
    <dgm:pt modelId="{6F54E128-9102-49CC-AF04-0B326A71A0A9}" type="pres">
      <dgm:prSet presAssocID="{AFC5CECF-23CF-4D22-B6D5-83C23150C816}" presName="sibTrans" presStyleCnt="0"/>
      <dgm:spPr/>
    </dgm:pt>
    <dgm:pt modelId="{171B3425-D907-4B8A-8A41-C231E73A6141}" type="pres">
      <dgm:prSet presAssocID="{424F0DA9-E695-4A31-A3E2-1AA5636C4A64}" presName="textNode" presStyleLbl="node1" presStyleIdx="1" presStyleCnt="4">
        <dgm:presLayoutVars>
          <dgm:bulletEnabled val="1"/>
        </dgm:presLayoutVars>
      </dgm:prSet>
      <dgm:spPr/>
    </dgm:pt>
    <dgm:pt modelId="{53B94A0F-399D-4B28-AB18-CF2C6EF48B97}" type="pres">
      <dgm:prSet presAssocID="{54A48840-EF1C-4664-BD05-86F3FAA877BF}" presName="sibTrans" presStyleCnt="0"/>
      <dgm:spPr/>
    </dgm:pt>
    <dgm:pt modelId="{1EDD23EE-4571-4099-BE3C-045A94F1A620}" type="pres">
      <dgm:prSet presAssocID="{D60395FB-DFFE-4783-AC95-77A726FF27BA}" presName="textNode" presStyleLbl="node1" presStyleIdx="2" presStyleCnt="4">
        <dgm:presLayoutVars>
          <dgm:bulletEnabled val="1"/>
        </dgm:presLayoutVars>
      </dgm:prSet>
      <dgm:spPr/>
    </dgm:pt>
    <dgm:pt modelId="{E9667C71-7CF9-4E44-BFE6-2B5176C02DFB}" type="pres">
      <dgm:prSet presAssocID="{BAF54300-B42C-41C5-8BDB-109FF9594C9C}" presName="sibTrans" presStyleCnt="0"/>
      <dgm:spPr/>
    </dgm:pt>
    <dgm:pt modelId="{9577CA51-8031-4BCA-99EF-33A151777FA2}" type="pres">
      <dgm:prSet presAssocID="{D39B19DD-20D1-4E8C-A219-3C5D81B9F40F}" presName="textNode" presStyleLbl="node1" presStyleIdx="3" presStyleCnt="4">
        <dgm:presLayoutVars>
          <dgm:bulletEnabled val="1"/>
        </dgm:presLayoutVars>
      </dgm:prSet>
      <dgm:spPr/>
    </dgm:pt>
  </dgm:ptLst>
  <dgm:cxnLst>
    <dgm:cxn modelId="{DDFD3B05-8375-493B-99B7-6D48FC3D48F3}" type="presOf" srcId="{E9C4B5C2-6383-47F6-ABE1-F6493E91A13D}" destId="{F3B133B7-7F89-46E6-BBB6-FEA5B94B4A50}" srcOrd="0" destOrd="0" presId="urn:microsoft.com/office/officeart/2005/8/layout/hProcess9"/>
    <dgm:cxn modelId="{8C837A16-FF8A-4E15-9958-0EE8DDA87334}" type="presOf" srcId="{067C4340-22FB-4F6C-99C8-E565CF97A8E4}" destId="{45CB51F4-301B-4ADC-928C-EC3BF0E0ACDD}" srcOrd="0" destOrd="0" presId="urn:microsoft.com/office/officeart/2005/8/layout/hProcess9"/>
    <dgm:cxn modelId="{5C6B0E46-85EE-4EEB-830A-B1F77915DC68}" type="presOf" srcId="{D60395FB-DFFE-4783-AC95-77A726FF27BA}" destId="{1EDD23EE-4571-4099-BE3C-045A94F1A620}" srcOrd="0" destOrd="0" presId="urn:microsoft.com/office/officeart/2005/8/layout/hProcess9"/>
    <dgm:cxn modelId="{EC8D3A47-EDB4-48FF-81B0-C3704339C41C}" srcId="{067C4340-22FB-4F6C-99C8-E565CF97A8E4}" destId="{424F0DA9-E695-4A31-A3E2-1AA5636C4A64}" srcOrd="1" destOrd="0" parTransId="{FEC7EBC6-F0A2-4680-B996-AE778F56728E}" sibTransId="{54A48840-EF1C-4664-BD05-86F3FAA877BF}"/>
    <dgm:cxn modelId="{7CA81898-AE2E-4F0E-A33C-1EEB657512DB}" type="presOf" srcId="{D39B19DD-20D1-4E8C-A219-3C5D81B9F40F}" destId="{9577CA51-8031-4BCA-99EF-33A151777FA2}" srcOrd="0" destOrd="0" presId="urn:microsoft.com/office/officeart/2005/8/layout/hProcess9"/>
    <dgm:cxn modelId="{A46F6EA8-B005-48E5-A9F2-3789D3E8C843}" srcId="{067C4340-22FB-4F6C-99C8-E565CF97A8E4}" destId="{D39B19DD-20D1-4E8C-A219-3C5D81B9F40F}" srcOrd="3" destOrd="0" parTransId="{E35426A9-C6D9-40C1-B87C-B4CC1C396261}" sibTransId="{C16B438E-7FEC-457D-B50B-07FA795679F7}"/>
    <dgm:cxn modelId="{4923F8C4-13BD-4B4C-8E11-9EC0C0CD13BC}" srcId="{067C4340-22FB-4F6C-99C8-E565CF97A8E4}" destId="{D60395FB-DFFE-4783-AC95-77A726FF27BA}" srcOrd="2" destOrd="0" parTransId="{0CB0CBAB-8E99-46EB-ACE4-2DD9A5DF9AF8}" sibTransId="{BAF54300-B42C-41C5-8BDB-109FF9594C9C}"/>
    <dgm:cxn modelId="{9A1BA4DF-FB45-4761-9D47-0AA88E31DA82}" srcId="{067C4340-22FB-4F6C-99C8-E565CF97A8E4}" destId="{E9C4B5C2-6383-47F6-ABE1-F6493E91A13D}" srcOrd="0" destOrd="0" parTransId="{EB839599-59C9-49FE-8920-A947F68367F4}" sibTransId="{AFC5CECF-23CF-4D22-B6D5-83C23150C816}"/>
    <dgm:cxn modelId="{0E6CE5F2-5FDD-453A-B3D7-67CB709CC2B5}" type="presOf" srcId="{424F0DA9-E695-4A31-A3E2-1AA5636C4A64}" destId="{171B3425-D907-4B8A-8A41-C231E73A6141}" srcOrd="0" destOrd="0" presId="urn:microsoft.com/office/officeart/2005/8/layout/hProcess9"/>
    <dgm:cxn modelId="{1847025C-E43F-42A0-9DCE-7C36026E40D6}" type="presParOf" srcId="{45CB51F4-301B-4ADC-928C-EC3BF0E0ACDD}" destId="{FB456DB0-B9DE-4B1C-A5D3-6F6FA84967EA}" srcOrd="0" destOrd="0" presId="urn:microsoft.com/office/officeart/2005/8/layout/hProcess9"/>
    <dgm:cxn modelId="{EADE1F75-CDAE-4BB1-9ACA-63F594BC7F54}" type="presParOf" srcId="{45CB51F4-301B-4ADC-928C-EC3BF0E0ACDD}" destId="{07C9C781-9C84-467B-BAEB-36A301C8BB94}" srcOrd="1" destOrd="0" presId="urn:microsoft.com/office/officeart/2005/8/layout/hProcess9"/>
    <dgm:cxn modelId="{FF6504B3-E92F-40F2-9E06-4FE71332B821}" type="presParOf" srcId="{07C9C781-9C84-467B-BAEB-36A301C8BB94}" destId="{F3B133B7-7F89-46E6-BBB6-FEA5B94B4A50}" srcOrd="0" destOrd="0" presId="urn:microsoft.com/office/officeart/2005/8/layout/hProcess9"/>
    <dgm:cxn modelId="{11F9666E-005A-47CE-9F81-1339C864A81C}" type="presParOf" srcId="{07C9C781-9C84-467B-BAEB-36A301C8BB94}" destId="{6F54E128-9102-49CC-AF04-0B326A71A0A9}" srcOrd="1" destOrd="0" presId="urn:microsoft.com/office/officeart/2005/8/layout/hProcess9"/>
    <dgm:cxn modelId="{93AC6D6E-4D29-411E-A4BA-1D5A5BECB808}" type="presParOf" srcId="{07C9C781-9C84-467B-BAEB-36A301C8BB94}" destId="{171B3425-D907-4B8A-8A41-C231E73A6141}" srcOrd="2" destOrd="0" presId="urn:microsoft.com/office/officeart/2005/8/layout/hProcess9"/>
    <dgm:cxn modelId="{0083B52E-97AC-40DE-B784-BE1F705AD0E5}" type="presParOf" srcId="{07C9C781-9C84-467B-BAEB-36A301C8BB94}" destId="{53B94A0F-399D-4B28-AB18-CF2C6EF48B97}" srcOrd="3" destOrd="0" presId="urn:microsoft.com/office/officeart/2005/8/layout/hProcess9"/>
    <dgm:cxn modelId="{F0533D33-0584-4E3B-903A-FEE5EB3B44E9}" type="presParOf" srcId="{07C9C781-9C84-467B-BAEB-36A301C8BB94}" destId="{1EDD23EE-4571-4099-BE3C-045A94F1A620}" srcOrd="4" destOrd="0" presId="urn:microsoft.com/office/officeart/2005/8/layout/hProcess9"/>
    <dgm:cxn modelId="{7DBAC359-8602-4787-9BFD-A0FD478C299B}" type="presParOf" srcId="{07C9C781-9C84-467B-BAEB-36A301C8BB94}" destId="{E9667C71-7CF9-4E44-BFE6-2B5176C02DFB}" srcOrd="5" destOrd="0" presId="urn:microsoft.com/office/officeart/2005/8/layout/hProcess9"/>
    <dgm:cxn modelId="{445F15A3-F992-410B-B500-A7FE48522C02}" type="presParOf" srcId="{07C9C781-9C84-467B-BAEB-36A301C8BB94}" destId="{9577CA51-8031-4BCA-99EF-33A151777FA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FF6492-2901-4DB2-894F-241A95467B79}" type="doc">
      <dgm:prSet loTypeId="urn:microsoft.com/office/officeart/2005/8/layout/hProcess9" loCatId="process" qsTypeId="urn:microsoft.com/office/officeart/2005/8/quickstyle/simple1" qsCatId="simple" csTypeId="urn:microsoft.com/office/officeart/2005/8/colors/colorful5" csCatId="colorful" phldr="1"/>
      <dgm:spPr/>
      <dgm:t>
        <a:bodyPr/>
        <a:lstStyle/>
        <a:p>
          <a:endParaRPr lang="en-US"/>
        </a:p>
      </dgm:t>
    </dgm:pt>
    <dgm:pt modelId="{C0871EBD-B3DC-4202-9B2C-1CBB94D0CF32}">
      <dgm:prSet/>
      <dgm:spPr/>
      <dgm:t>
        <a:bodyPr/>
        <a:lstStyle/>
        <a:p>
          <a:pPr rtl="0"/>
          <a:r>
            <a:rPr lang="en-US" dirty="0"/>
            <a:t>Clear Liquid  Diet</a:t>
          </a:r>
        </a:p>
      </dgm:t>
    </dgm:pt>
    <dgm:pt modelId="{17B37875-60B8-415E-93AB-D15632DC0127}" type="parTrans" cxnId="{12AD843F-CC33-4CE0-9A08-BC3F185A3A9B}">
      <dgm:prSet/>
      <dgm:spPr/>
      <dgm:t>
        <a:bodyPr/>
        <a:lstStyle/>
        <a:p>
          <a:endParaRPr lang="en-US"/>
        </a:p>
      </dgm:t>
    </dgm:pt>
    <dgm:pt modelId="{11E629E8-6437-4733-850B-9248AB8A36D8}" type="sibTrans" cxnId="{12AD843F-CC33-4CE0-9A08-BC3F185A3A9B}">
      <dgm:prSet/>
      <dgm:spPr/>
      <dgm:t>
        <a:bodyPr/>
        <a:lstStyle/>
        <a:p>
          <a:endParaRPr lang="en-US"/>
        </a:p>
      </dgm:t>
    </dgm:pt>
    <dgm:pt modelId="{41143E1E-795D-4687-B89D-CC41C539DA76}">
      <dgm:prSet/>
      <dgm:spPr/>
      <dgm:t>
        <a:bodyPr/>
        <a:lstStyle/>
        <a:p>
          <a:pPr rtl="0"/>
          <a:r>
            <a:rPr lang="en-US" dirty="0"/>
            <a:t>Full Liquid Diet</a:t>
          </a:r>
        </a:p>
      </dgm:t>
    </dgm:pt>
    <dgm:pt modelId="{F8ECF7D5-A26B-4100-8E8F-8FDBF2A7F43F}" type="parTrans" cxnId="{2AA0C623-DCCA-4B85-A004-2E93F69BBDF8}">
      <dgm:prSet/>
      <dgm:spPr/>
      <dgm:t>
        <a:bodyPr/>
        <a:lstStyle/>
        <a:p>
          <a:endParaRPr lang="en-US"/>
        </a:p>
      </dgm:t>
    </dgm:pt>
    <dgm:pt modelId="{CFCC2486-5E7A-4D27-99D8-092DA78CC1F6}" type="sibTrans" cxnId="{2AA0C623-DCCA-4B85-A004-2E93F69BBDF8}">
      <dgm:prSet/>
      <dgm:spPr/>
      <dgm:t>
        <a:bodyPr/>
        <a:lstStyle/>
        <a:p>
          <a:endParaRPr lang="en-US"/>
        </a:p>
      </dgm:t>
    </dgm:pt>
    <dgm:pt modelId="{5DEB237D-0512-42FF-ABCE-25F57F544EFD}">
      <dgm:prSet/>
      <dgm:spPr/>
      <dgm:t>
        <a:bodyPr/>
        <a:lstStyle/>
        <a:p>
          <a:pPr rtl="0"/>
          <a:r>
            <a:rPr lang="en-US" dirty="0"/>
            <a:t>Soft Diet</a:t>
          </a:r>
        </a:p>
      </dgm:t>
    </dgm:pt>
    <dgm:pt modelId="{2A89D3E6-C560-4089-AA3D-2967C41C81BD}" type="parTrans" cxnId="{4D0C1479-9791-4557-A22A-C8ECD5A0ED7D}">
      <dgm:prSet/>
      <dgm:spPr/>
      <dgm:t>
        <a:bodyPr/>
        <a:lstStyle/>
        <a:p>
          <a:endParaRPr lang="en-US"/>
        </a:p>
      </dgm:t>
    </dgm:pt>
    <dgm:pt modelId="{DA2B0196-996F-4440-9C1D-94E9A4E142ED}" type="sibTrans" cxnId="{4D0C1479-9791-4557-A22A-C8ECD5A0ED7D}">
      <dgm:prSet/>
      <dgm:spPr/>
      <dgm:t>
        <a:bodyPr/>
        <a:lstStyle/>
        <a:p>
          <a:endParaRPr lang="en-US"/>
        </a:p>
      </dgm:t>
    </dgm:pt>
    <dgm:pt modelId="{BBEEA2C3-48B3-4B4A-9328-27816AC63E30}">
      <dgm:prSet/>
      <dgm:spPr/>
      <dgm:t>
        <a:bodyPr/>
        <a:lstStyle/>
        <a:p>
          <a:pPr rtl="0"/>
          <a:r>
            <a:rPr lang="en-US" dirty="0"/>
            <a:t>Regular Diet</a:t>
          </a:r>
        </a:p>
      </dgm:t>
    </dgm:pt>
    <dgm:pt modelId="{782DED1D-D291-4B04-B2BF-68705E0C47F9}" type="parTrans" cxnId="{6E0A19B0-5A9B-452E-895A-9D608283A25D}">
      <dgm:prSet/>
      <dgm:spPr/>
      <dgm:t>
        <a:bodyPr/>
        <a:lstStyle/>
        <a:p>
          <a:endParaRPr lang="en-US"/>
        </a:p>
      </dgm:t>
    </dgm:pt>
    <dgm:pt modelId="{64D816CF-5AD2-41FC-81C5-48D01A858751}" type="sibTrans" cxnId="{6E0A19B0-5A9B-452E-895A-9D608283A25D}">
      <dgm:prSet/>
      <dgm:spPr/>
      <dgm:t>
        <a:bodyPr/>
        <a:lstStyle/>
        <a:p>
          <a:endParaRPr lang="en-US"/>
        </a:p>
      </dgm:t>
    </dgm:pt>
    <dgm:pt modelId="{A2626625-AC60-45CE-A8DB-DB7F0B1360E7}" type="pres">
      <dgm:prSet presAssocID="{E7FF6492-2901-4DB2-894F-241A95467B79}" presName="CompostProcess" presStyleCnt="0">
        <dgm:presLayoutVars>
          <dgm:dir/>
          <dgm:resizeHandles val="exact"/>
        </dgm:presLayoutVars>
      </dgm:prSet>
      <dgm:spPr/>
    </dgm:pt>
    <dgm:pt modelId="{23E73445-E766-45FB-BF8C-52C43A76C774}" type="pres">
      <dgm:prSet presAssocID="{E7FF6492-2901-4DB2-894F-241A95467B79}" presName="arrow" presStyleLbl="bgShp" presStyleIdx="0" presStyleCnt="1"/>
      <dgm:spPr/>
    </dgm:pt>
    <dgm:pt modelId="{AED2C2C1-B536-4215-8D1B-4C4D242DEBC9}" type="pres">
      <dgm:prSet presAssocID="{E7FF6492-2901-4DB2-894F-241A95467B79}" presName="linearProcess" presStyleCnt="0"/>
      <dgm:spPr/>
    </dgm:pt>
    <dgm:pt modelId="{F0FFA3CC-3C12-46AC-AD0E-8175003942FD}" type="pres">
      <dgm:prSet presAssocID="{C0871EBD-B3DC-4202-9B2C-1CBB94D0CF32}" presName="textNode" presStyleLbl="node1" presStyleIdx="0" presStyleCnt="4">
        <dgm:presLayoutVars>
          <dgm:bulletEnabled val="1"/>
        </dgm:presLayoutVars>
      </dgm:prSet>
      <dgm:spPr/>
    </dgm:pt>
    <dgm:pt modelId="{902B2B98-7C3F-44AA-AB5E-F08735BDA10A}" type="pres">
      <dgm:prSet presAssocID="{11E629E8-6437-4733-850B-9248AB8A36D8}" presName="sibTrans" presStyleCnt="0"/>
      <dgm:spPr/>
    </dgm:pt>
    <dgm:pt modelId="{9567334E-E8FA-4C7B-9224-2A0963159D9C}" type="pres">
      <dgm:prSet presAssocID="{41143E1E-795D-4687-B89D-CC41C539DA76}" presName="textNode" presStyleLbl="node1" presStyleIdx="1" presStyleCnt="4">
        <dgm:presLayoutVars>
          <dgm:bulletEnabled val="1"/>
        </dgm:presLayoutVars>
      </dgm:prSet>
      <dgm:spPr/>
    </dgm:pt>
    <dgm:pt modelId="{78322012-F65F-4FD5-B851-15207B02251D}" type="pres">
      <dgm:prSet presAssocID="{CFCC2486-5E7A-4D27-99D8-092DA78CC1F6}" presName="sibTrans" presStyleCnt="0"/>
      <dgm:spPr/>
    </dgm:pt>
    <dgm:pt modelId="{08B1613D-72E9-4694-AA0C-7AC382CF5D7F}" type="pres">
      <dgm:prSet presAssocID="{5DEB237D-0512-42FF-ABCE-25F57F544EFD}" presName="textNode" presStyleLbl="node1" presStyleIdx="2" presStyleCnt="4">
        <dgm:presLayoutVars>
          <dgm:bulletEnabled val="1"/>
        </dgm:presLayoutVars>
      </dgm:prSet>
      <dgm:spPr/>
    </dgm:pt>
    <dgm:pt modelId="{1558DF40-713C-4CA5-AF1B-5CE12E2E7129}" type="pres">
      <dgm:prSet presAssocID="{DA2B0196-996F-4440-9C1D-94E9A4E142ED}" presName="sibTrans" presStyleCnt="0"/>
      <dgm:spPr/>
    </dgm:pt>
    <dgm:pt modelId="{55E3A7DE-FF9F-4D43-B8AB-F5FF270BBDA1}" type="pres">
      <dgm:prSet presAssocID="{BBEEA2C3-48B3-4B4A-9328-27816AC63E30}" presName="textNode" presStyleLbl="node1" presStyleIdx="3" presStyleCnt="4">
        <dgm:presLayoutVars>
          <dgm:bulletEnabled val="1"/>
        </dgm:presLayoutVars>
      </dgm:prSet>
      <dgm:spPr/>
    </dgm:pt>
  </dgm:ptLst>
  <dgm:cxnLst>
    <dgm:cxn modelId="{0A5F6611-665B-4EE1-92DB-2C0482B97036}" type="presOf" srcId="{E7FF6492-2901-4DB2-894F-241A95467B79}" destId="{A2626625-AC60-45CE-A8DB-DB7F0B1360E7}" srcOrd="0" destOrd="0" presId="urn:microsoft.com/office/officeart/2005/8/layout/hProcess9"/>
    <dgm:cxn modelId="{2AA0C623-DCCA-4B85-A004-2E93F69BBDF8}" srcId="{E7FF6492-2901-4DB2-894F-241A95467B79}" destId="{41143E1E-795D-4687-B89D-CC41C539DA76}" srcOrd="1" destOrd="0" parTransId="{F8ECF7D5-A26B-4100-8E8F-8FDBF2A7F43F}" sibTransId="{CFCC2486-5E7A-4D27-99D8-092DA78CC1F6}"/>
    <dgm:cxn modelId="{12AD843F-CC33-4CE0-9A08-BC3F185A3A9B}" srcId="{E7FF6492-2901-4DB2-894F-241A95467B79}" destId="{C0871EBD-B3DC-4202-9B2C-1CBB94D0CF32}" srcOrd="0" destOrd="0" parTransId="{17B37875-60B8-415E-93AB-D15632DC0127}" sibTransId="{11E629E8-6437-4733-850B-9248AB8A36D8}"/>
    <dgm:cxn modelId="{6CFE5F72-A2C1-4746-B86C-096B2689A8C2}" type="presOf" srcId="{BBEEA2C3-48B3-4B4A-9328-27816AC63E30}" destId="{55E3A7DE-FF9F-4D43-B8AB-F5FF270BBDA1}" srcOrd="0" destOrd="0" presId="urn:microsoft.com/office/officeart/2005/8/layout/hProcess9"/>
    <dgm:cxn modelId="{4D0C1479-9791-4557-A22A-C8ECD5A0ED7D}" srcId="{E7FF6492-2901-4DB2-894F-241A95467B79}" destId="{5DEB237D-0512-42FF-ABCE-25F57F544EFD}" srcOrd="2" destOrd="0" parTransId="{2A89D3E6-C560-4089-AA3D-2967C41C81BD}" sibTransId="{DA2B0196-996F-4440-9C1D-94E9A4E142ED}"/>
    <dgm:cxn modelId="{6E0A19B0-5A9B-452E-895A-9D608283A25D}" srcId="{E7FF6492-2901-4DB2-894F-241A95467B79}" destId="{BBEEA2C3-48B3-4B4A-9328-27816AC63E30}" srcOrd="3" destOrd="0" parTransId="{782DED1D-D291-4B04-B2BF-68705E0C47F9}" sibTransId="{64D816CF-5AD2-41FC-81C5-48D01A858751}"/>
    <dgm:cxn modelId="{EF4B01D3-8220-4628-B433-3DB604C6ED3A}" type="presOf" srcId="{41143E1E-795D-4687-B89D-CC41C539DA76}" destId="{9567334E-E8FA-4C7B-9224-2A0963159D9C}" srcOrd="0" destOrd="0" presId="urn:microsoft.com/office/officeart/2005/8/layout/hProcess9"/>
    <dgm:cxn modelId="{C0C1C7EB-22DF-428A-A8A2-EEF201D0FB28}" type="presOf" srcId="{5DEB237D-0512-42FF-ABCE-25F57F544EFD}" destId="{08B1613D-72E9-4694-AA0C-7AC382CF5D7F}" srcOrd="0" destOrd="0" presId="urn:microsoft.com/office/officeart/2005/8/layout/hProcess9"/>
    <dgm:cxn modelId="{E5BC54F4-5C2F-4A38-AE43-DFD67FF3BDEF}" type="presOf" srcId="{C0871EBD-B3DC-4202-9B2C-1CBB94D0CF32}" destId="{F0FFA3CC-3C12-46AC-AD0E-8175003942FD}" srcOrd="0" destOrd="0" presId="urn:microsoft.com/office/officeart/2005/8/layout/hProcess9"/>
    <dgm:cxn modelId="{7446DD5F-15EF-402C-99FE-E518E8032AB9}" type="presParOf" srcId="{A2626625-AC60-45CE-A8DB-DB7F0B1360E7}" destId="{23E73445-E766-45FB-BF8C-52C43A76C774}" srcOrd="0" destOrd="0" presId="urn:microsoft.com/office/officeart/2005/8/layout/hProcess9"/>
    <dgm:cxn modelId="{0FB09E3A-5D60-49BC-979C-7CCA7DA5E0A7}" type="presParOf" srcId="{A2626625-AC60-45CE-A8DB-DB7F0B1360E7}" destId="{AED2C2C1-B536-4215-8D1B-4C4D242DEBC9}" srcOrd="1" destOrd="0" presId="urn:microsoft.com/office/officeart/2005/8/layout/hProcess9"/>
    <dgm:cxn modelId="{D7F4AA0E-425B-45BF-8DF7-1E455B501385}" type="presParOf" srcId="{AED2C2C1-B536-4215-8D1B-4C4D242DEBC9}" destId="{F0FFA3CC-3C12-46AC-AD0E-8175003942FD}" srcOrd="0" destOrd="0" presId="urn:microsoft.com/office/officeart/2005/8/layout/hProcess9"/>
    <dgm:cxn modelId="{F13E05D8-4BB4-4166-9B72-1D6AD64FB071}" type="presParOf" srcId="{AED2C2C1-B536-4215-8D1B-4C4D242DEBC9}" destId="{902B2B98-7C3F-44AA-AB5E-F08735BDA10A}" srcOrd="1" destOrd="0" presId="urn:microsoft.com/office/officeart/2005/8/layout/hProcess9"/>
    <dgm:cxn modelId="{3AFD8C1C-EA2A-4EA0-9ED5-153F741CE36A}" type="presParOf" srcId="{AED2C2C1-B536-4215-8D1B-4C4D242DEBC9}" destId="{9567334E-E8FA-4C7B-9224-2A0963159D9C}" srcOrd="2" destOrd="0" presId="urn:microsoft.com/office/officeart/2005/8/layout/hProcess9"/>
    <dgm:cxn modelId="{87065972-9356-4303-95BB-811DB88A2CEC}" type="presParOf" srcId="{AED2C2C1-B536-4215-8D1B-4C4D242DEBC9}" destId="{78322012-F65F-4FD5-B851-15207B02251D}" srcOrd="3" destOrd="0" presId="urn:microsoft.com/office/officeart/2005/8/layout/hProcess9"/>
    <dgm:cxn modelId="{15F2B269-B41F-4535-AED1-FA0610426437}" type="presParOf" srcId="{AED2C2C1-B536-4215-8D1B-4C4D242DEBC9}" destId="{08B1613D-72E9-4694-AA0C-7AC382CF5D7F}" srcOrd="4" destOrd="0" presId="urn:microsoft.com/office/officeart/2005/8/layout/hProcess9"/>
    <dgm:cxn modelId="{7D88A1CB-FAD3-4CBB-B143-418323481716}" type="presParOf" srcId="{AED2C2C1-B536-4215-8D1B-4C4D242DEBC9}" destId="{1558DF40-713C-4CA5-AF1B-5CE12E2E7129}" srcOrd="5" destOrd="0" presId="urn:microsoft.com/office/officeart/2005/8/layout/hProcess9"/>
    <dgm:cxn modelId="{11045A8B-5C80-4E4A-80B1-889F46051AC9}" type="presParOf" srcId="{AED2C2C1-B536-4215-8D1B-4C4D242DEBC9}" destId="{55E3A7DE-FF9F-4D43-B8AB-F5FF270BBDA1}"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5414A-1334-423D-935D-7B2614D9B450}">
      <dsp:nvSpPr>
        <dsp:cNvPr id="0" name=""/>
        <dsp:cNvSpPr/>
      </dsp:nvSpPr>
      <dsp:spPr>
        <a:xfrm>
          <a:off x="0" y="615"/>
          <a:ext cx="5470207" cy="14401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FDFE07-A45E-46C7-A075-4CCB1C1567C6}">
      <dsp:nvSpPr>
        <dsp:cNvPr id="0" name=""/>
        <dsp:cNvSpPr/>
      </dsp:nvSpPr>
      <dsp:spPr>
        <a:xfrm>
          <a:off x="435651" y="324653"/>
          <a:ext cx="792093" cy="7920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65E171-DE47-4A44-ACEC-45742022FC71}">
      <dsp:nvSpPr>
        <dsp:cNvPr id="0" name=""/>
        <dsp:cNvSpPr/>
      </dsp:nvSpPr>
      <dsp:spPr>
        <a:xfrm>
          <a:off x="1663397" y="615"/>
          <a:ext cx="3806809"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1022350">
            <a:lnSpc>
              <a:spcPct val="90000"/>
            </a:lnSpc>
            <a:spcBef>
              <a:spcPct val="0"/>
            </a:spcBef>
            <a:spcAft>
              <a:spcPct val="35000"/>
            </a:spcAft>
            <a:buNone/>
          </a:pPr>
          <a:r>
            <a:rPr lang="en-US" sz="2300" kern="1200" dirty="0"/>
            <a:t>Assesses relative weight for height.</a:t>
          </a:r>
        </a:p>
      </dsp:txBody>
      <dsp:txXfrm>
        <a:off x="1663397" y="615"/>
        <a:ext cx="3806809" cy="1440170"/>
      </dsp:txXfrm>
    </dsp:sp>
    <dsp:sp modelId="{E4423DEB-6865-4447-8343-04FD60106693}">
      <dsp:nvSpPr>
        <dsp:cNvPr id="0" name=""/>
        <dsp:cNvSpPr/>
      </dsp:nvSpPr>
      <dsp:spPr>
        <a:xfrm>
          <a:off x="0" y="1800829"/>
          <a:ext cx="5470207" cy="14401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B3E5A9-3199-4748-A50B-74329701F6EE}">
      <dsp:nvSpPr>
        <dsp:cNvPr id="0" name=""/>
        <dsp:cNvSpPr/>
      </dsp:nvSpPr>
      <dsp:spPr>
        <a:xfrm>
          <a:off x="435651" y="2124867"/>
          <a:ext cx="792093" cy="79209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8F51A2-FE86-454F-B497-48A04A8CF65A}">
      <dsp:nvSpPr>
        <dsp:cNvPr id="0" name=""/>
        <dsp:cNvSpPr/>
      </dsp:nvSpPr>
      <dsp:spPr>
        <a:xfrm>
          <a:off x="1663397" y="1800829"/>
          <a:ext cx="3806809"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1022350">
            <a:lnSpc>
              <a:spcPct val="90000"/>
            </a:lnSpc>
            <a:spcBef>
              <a:spcPct val="0"/>
            </a:spcBef>
            <a:spcAft>
              <a:spcPct val="35000"/>
            </a:spcAft>
            <a:buNone/>
          </a:pPr>
          <a:r>
            <a:rPr lang="en-US" sz="2300" kern="1200" dirty="0"/>
            <a:t>It provides a range with which to evaluate a healthy body (18.5- 24.9)</a:t>
          </a:r>
        </a:p>
      </dsp:txBody>
      <dsp:txXfrm>
        <a:off x="1663397" y="1800829"/>
        <a:ext cx="3806809" cy="1440170"/>
      </dsp:txXfrm>
    </dsp:sp>
    <dsp:sp modelId="{5C074F84-3B60-4621-AD00-DAA1FA09D7D0}">
      <dsp:nvSpPr>
        <dsp:cNvPr id="0" name=""/>
        <dsp:cNvSpPr/>
      </dsp:nvSpPr>
      <dsp:spPr>
        <a:xfrm>
          <a:off x="0" y="3601042"/>
          <a:ext cx="5470207" cy="14401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EC13BD-B702-4AA7-8CA0-35EDAAA3203E}">
      <dsp:nvSpPr>
        <dsp:cNvPr id="0" name=""/>
        <dsp:cNvSpPr/>
      </dsp:nvSpPr>
      <dsp:spPr>
        <a:xfrm>
          <a:off x="435651" y="3925081"/>
          <a:ext cx="792093" cy="7920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E7AE6D-FA29-4AA0-9DF3-7FC6A3776AA6}">
      <dsp:nvSpPr>
        <dsp:cNvPr id="0" name=""/>
        <dsp:cNvSpPr/>
      </dsp:nvSpPr>
      <dsp:spPr>
        <a:xfrm>
          <a:off x="1663397" y="3601042"/>
          <a:ext cx="3806809"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1022350">
            <a:lnSpc>
              <a:spcPct val="90000"/>
            </a:lnSpc>
            <a:spcBef>
              <a:spcPct val="0"/>
            </a:spcBef>
            <a:spcAft>
              <a:spcPct val="35000"/>
            </a:spcAft>
            <a:buNone/>
          </a:pPr>
          <a:r>
            <a:rPr lang="en-US" sz="2300" kern="1200" dirty="0"/>
            <a:t>It doesn’t reflect body composition (&gt;muscle mass may appear overweight)</a:t>
          </a:r>
        </a:p>
      </dsp:txBody>
      <dsp:txXfrm>
        <a:off x="1663397" y="3601042"/>
        <a:ext cx="3806809" cy="14401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2B0F1-1BD1-47A8-BF0D-DE51D3621D6C}">
      <dsp:nvSpPr>
        <dsp:cNvPr id="0" name=""/>
        <dsp:cNvSpPr/>
      </dsp:nvSpPr>
      <dsp:spPr>
        <a:xfrm>
          <a:off x="0" y="4593"/>
          <a:ext cx="8387522" cy="10690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A7437F-3DBD-4596-9951-FECFC9D74594}">
      <dsp:nvSpPr>
        <dsp:cNvPr id="0" name=""/>
        <dsp:cNvSpPr/>
      </dsp:nvSpPr>
      <dsp:spPr>
        <a:xfrm>
          <a:off x="323397" y="245136"/>
          <a:ext cx="587994" cy="5879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BB35AF-C5B6-42B2-9497-01F2BFBF75DC}">
      <dsp:nvSpPr>
        <dsp:cNvPr id="0" name=""/>
        <dsp:cNvSpPr/>
      </dsp:nvSpPr>
      <dsp:spPr>
        <a:xfrm>
          <a:off x="1234789" y="4593"/>
          <a:ext cx="3774384"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977900">
            <a:lnSpc>
              <a:spcPct val="100000"/>
            </a:lnSpc>
            <a:spcBef>
              <a:spcPct val="0"/>
            </a:spcBef>
            <a:spcAft>
              <a:spcPct val="35000"/>
            </a:spcAft>
            <a:buNone/>
          </a:pPr>
          <a:r>
            <a:rPr lang="en-US" sz="2200" kern="1200"/>
            <a:t>Alert, responsiveness</a:t>
          </a:r>
        </a:p>
      </dsp:txBody>
      <dsp:txXfrm>
        <a:off x="1234789" y="4593"/>
        <a:ext cx="3774384" cy="1069081"/>
      </dsp:txXfrm>
    </dsp:sp>
    <dsp:sp modelId="{42FD234D-5871-4FB9-8751-FD554BBD1C98}">
      <dsp:nvSpPr>
        <dsp:cNvPr id="0" name=""/>
        <dsp:cNvSpPr/>
      </dsp:nvSpPr>
      <dsp:spPr>
        <a:xfrm>
          <a:off x="5009174" y="4593"/>
          <a:ext cx="3377140"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711200">
            <a:lnSpc>
              <a:spcPct val="100000"/>
            </a:lnSpc>
            <a:spcBef>
              <a:spcPct val="0"/>
            </a:spcBef>
            <a:spcAft>
              <a:spcPct val="35000"/>
            </a:spcAft>
            <a:buNone/>
          </a:pPr>
          <a:r>
            <a:rPr lang="en-US" sz="1600" kern="1200" dirty="0"/>
            <a:t>B vitamin deficiencies, thiamine, alcohol</a:t>
          </a:r>
        </a:p>
      </dsp:txBody>
      <dsp:txXfrm>
        <a:off x="5009174" y="4593"/>
        <a:ext cx="3377140" cy="1069081"/>
      </dsp:txXfrm>
    </dsp:sp>
    <dsp:sp modelId="{10571652-931B-4266-A5DB-72F8632E8F6C}">
      <dsp:nvSpPr>
        <dsp:cNvPr id="0" name=""/>
        <dsp:cNvSpPr/>
      </dsp:nvSpPr>
      <dsp:spPr>
        <a:xfrm>
          <a:off x="0" y="1340945"/>
          <a:ext cx="8387522" cy="10690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F27AEA-6BC9-4E3B-B276-7399C019FFAF}">
      <dsp:nvSpPr>
        <dsp:cNvPr id="0" name=""/>
        <dsp:cNvSpPr/>
      </dsp:nvSpPr>
      <dsp:spPr>
        <a:xfrm>
          <a:off x="323397" y="1581488"/>
          <a:ext cx="587994" cy="5879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00A575-75D3-42A3-A646-28089592AA58}">
      <dsp:nvSpPr>
        <dsp:cNvPr id="0" name=""/>
        <dsp:cNvSpPr/>
      </dsp:nvSpPr>
      <dsp:spPr>
        <a:xfrm>
          <a:off x="1234789" y="1340945"/>
          <a:ext cx="3774384"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977900">
            <a:lnSpc>
              <a:spcPct val="100000"/>
            </a:lnSpc>
            <a:spcBef>
              <a:spcPct val="0"/>
            </a:spcBef>
            <a:spcAft>
              <a:spcPct val="35000"/>
            </a:spcAft>
            <a:buNone/>
          </a:pPr>
          <a:r>
            <a:rPr lang="en-US" sz="2200" kern="1200"/>
            <a:t>Anthropometric measurement</a:t>
          </a:r>
        </a:p>
      </dsp:txBody>
      <dsp:txXfrm>
        <a:off x="1234789" y="1340945"/>
        <a:ext cx="3774384" cy="1069081"/>
      </dsp:txXfrm>
    </dsp:sp>
    <dsp:sp modelId="{24357B68-9F66-42CA-85C8-F13664F498C7}">
      <dsp:nvSpPr>
        <dsp:cNvPr id="0" name=""/>
        <dsp:cNvSpPr/>
      </dsp:nvSpPr>
      <dsp:spPr>
        <a:xfrm>
          <a:off x="5009174" y="1340945"/>
          <a:ext cx="3377140"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533400">
            <a:lnSpc>
              <a:spcPct val="100000"/>
            </a:lnSpc>
            <a:spcBef>
              <a:spcPct val="0"/>
            </a:spcBef>
            <a:spcAft>
              <a:spcPct val="35000"/>
            </a:spcAft>
            <a:buNone/>
          </a:pPr>
          <a:r>
            <a:rPr lang="en-US" sz="1200" kern="1200" dirty="0"/>
            <a:t>Skin fold measurements, height</a:t>
          </a:r>
        </a:p>
        <a:p>
          <a:pPr marL="0" lvl="0" indent="0" algn="l" defTabSz="533400">
            <a:lnSpc>
              <a:spcPct val="100000"/>
            </a:lnSpc>
            <a:spcBef>
              <a:spcPct val="0"/>
            </a:spcBef>
            <a:spcAft>
              <a:spcPct val="35000"/>
            </a:spcAft>
            <a:buNone/>
          </a:pPr>
          <a:r>
            <a:rPr lang="en-US" sz="1200" kern="1200" dirty="0"/>
            <a:t>Daily weight –same time every day</a:t>
          </a:r>
        </a:p>
        <a:p>
          <a:pPr marL="0" lvl="0" indent="0" algn="l" defTabSz="533400">
            <a:lnSpc>
              <a:spcPct val="100000"/>
            </a:lnSpc>
            <a:spcBef>
              <a:spcPct val="0"/>
            </a:spcBef>
            <a:spcAft>
              <a:spcPct val="35000"/>
            </a:spcAft>
            <a:buNone/>
          </a:pPr>
          <a:r>
            <a:rPr lang="en-US" sz="1200" kern="1200" dirty="0"/>
            <a:t>Mid-arm circumference-muscle wasting</a:t>
          </a:r>
        </a:p>
        <a:p>
          <a:pPr marL="0" lvl="0" indent="0" algn="l" defTabSz="533400">
            <a:lnSpc>
              <a:spcPct val="100000"/>
            </a:lnSpc>
            <a:spcBef>
              <a:spcPct val="0"/>
            </a:spcBef>
            <a:spcAft>
              <a:spcPct val="35000"/>
            </a:spcAft>
            <a:buNone/>
          </a:pPr>
          <a:r>
            <a:rPr lang="en-US" sz="1200" kern="1200" dirty="0"/>
            <a:t>Elbow breadth, wrist circumference-body frame</a:t>
          </a:r>
        </a:p>
      </dsp:txBody>
      <dsp:txXfrm>
        <a:off x="5009174" y="1340945"/>
        <a:ext cx="3377140" cy="1069081"/>
      </dsp:txXfrm>
    </dsp:sp>
    <dsp:sp modelId="{6463D818-3D78-447E-9BCE-99061D94F260}">
      <dsp:nvSpPr>
        <dsp:cNvPr id="0" name=""/>
        <dsp:cNvSpPr/>
      </dsp:nvSpPr>
      <dsp:spPr>
        <a:xfrm>
          <a:off x="0" y="2677297"/>
          <a:ext cx="8387522" cy="10690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4633B7-51D5-4469-8B47-BF4FE5D68E90}">
      <dsp:nvSpPr>
        <dsp:cNvPr id="0" name=""/>
        <dsp:cNvSpPr/>
      </dsp:nvSpPr>
      <dsp:spPr>
        <a:xfrm>
          <a:off x="323397" y="2917840"/>
          <a:ext cx="587994" cy="5879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1899AC-9CD3-4AF7-814A-287B3D9484FD}">
      <dsp:nvSpPr>
        <dsp:cNvPr id="0" name=""/>
        <dsp:cNvSpPr/>
      </dsp:nvSpPr>
      <dsp:spPr>
        <a:xfrm>
          <a:off x="1234789" y="2677297"/>
          <a:ext cx="3774384"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977900">
            <a:lnSpc>
              <a:spcPct val="100000"/>
            </a:lnSpc>
            <a:spcBef>
              <a:spcPct val="0"/>
            </a:spcBef>
            <a:spcAft>
              <a:spcPct val="35000"/>
            </a:spcAft>
            <a:buNone/>
          </a:pPr>
          <a:r>
            <a:rPr lang="en-US" sz="2200" kern="1200"/>
            <a:t>Posture, muscle tone, skeletal deformities</a:t>
          </a:r>
        </a:p>
      </dsp:txBody>
      <dsp:txXfrm>
        <a:off x="1234789" y="2677297"/>
        <a:ext cx="3774384" cy="1069081"/>
      </dsp:txXfrm>
    </dsp:sp>
    <dsp:sp modelId="{94029EA4-90F2-4BB1-8843-32DF31BD7E32}">
      <dsp:nvSpPr>
        <dsp:cNvPr id="0" name=""/>
        <dsp:cNvSpPr/>
      </dsp:nvSpPr>
      <dsp:spPr>
        <a:xfrm>
          <a:off x="5009174" y="2677297"/>
          <a:ext cx="3377140"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711200">
            <a:lnSpc>
              <a:spcPct val="100000"/>
            </a:lnSpc>
            <a:spcBef>
              <a:spcPct val="0"/>
            </a:spcBef>
            <a:spcAft>
              <a:spcPct val="35000"/>
            </a:spcAft>
            <a:buNone/>
          </a:pPr>
          <a:r>
            <a:rPr lang="en-US" sz="1600" kern="1200"/>
            <a:t>Protein, calcium, Vit D def</a:t>
          </a:r>
        </a:p>
      </dsp:txBody>
      <dsp:txXfrm>
        <a:off x="5009174" y="2677297"/>
        <a:ext cx="3377140" cy="1069081"/>
      </dsp:txXfrm>
    </dsp:sp>
    <dsp:sp modelId="{C094088D-A7C8-4ECB-9241-D54C5D9B4444}">
      <dsp:nvSpPr>
        <dsp:cNvPr id="0" name=""/>
        <dsp:cNvSpPr/>
      </dsp:nvSpPr>
      <dsp:spPr>
        <a:xfrm>
          <a:off x="0" y="4013649"/>
          <a:ext cx="8387522" cy="10690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654733-227B-40BD-9182-924FF95AD578}">
      <dsp:nvSpPr>
        <dsp:cNvPr id="0" name=""/>
        <dsp:cNvSpPr/>
      </dsp:nvSpPr>
      <dsp:spPr>
        <a:xfrm>
          <a:off x="323397" y="4254192"/>
          <a:ext cx="587994" cy="5879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CA5464-CBC9-4A12-BFF4-CBF10583FDAB}">
      <dsp:nvSpPr>
        <dsp:cNvPr id="0" name=""/>
        <dsp:cNvSpPr/>
      </dsp:nvSpPr>
      <dsp:spPr>
        <a:xfrm>
          <a:off x="1234789" y="4013649"/>
          <a:ext cx="3774384"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977900">
            <a:lnSpc>
              <a:spcPct val="100000"/>
            </a:lnSpc>
            <a:spcBef>
              <a:spcPct val="0"/>
            </a:spcBef>
            <a:spcAft>
              <a:spcPct val="35000"/>
            </a:spcAft>
            <a:buNone/>
          </a:pPr>
          <a:r>
            <a:rPr lang="en-US" sz="2200" kern="1200"/>
            <a:t>Vital signs</a:t>
          </a:r>
        </a:p>
      </dsp:txBody>
      <dsp:txXfrm>
        <a:off x="1234789" y="4013649"/>
        <a:ext cx="3774384" cy="1069081"/>
      </dsp:txXfrm>
    </dsp:sp>
    <dsp:sp modelId="{367BB799-4537-42AD-BF67-A757F09075ED}">
      <dsp:nvSpPr>
        <dsp:cNvPr id="0" name=""/>
        <dsp:cNvSpPr/>
      </dsp:nvSpPr>
      <dsp:spPr>
        <a:xfrm>
          <a:off x="5009174" y="4013649"/>
          <a:ext cx="3377140" cy="106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4" tIns="113144" rIns="113144" bIns="113144" numCol="1" spcCol="1270" anchor="ctr" anchorCtr="0">
          <a:noAutofit/>
        </a:bodyPr>
        <a:lstStyle/>
        <a:p>
          <a:pPr marL="0" lvl="0" indent="0" algn="l" defTabSz="711200">
            <a:lnSpc>
              <a:spcPct val="100000"/>
            </a:lnSpc>
            <a:spcBef>
              <a:spcPct val="0"/>
            </a:spcBef>
            <a:spcAft>
              <a:spcPct val="35000"/>
            </a:spcAft>
            <a:buNone/>
          </a:pPr>
          <a:r>
            <a:rPr lang="en-US" sz="1600" kern="1200"/>
            <a:t>B/P down, pulse up = dehydration</a:t>
          </a:r>
        </a:p>
        <a:p>
          <a:pPr marL="0" lvl="0" indent="0" algn="l" defTabSz="711200">
            <a:lnSpc>
              <a:spcPct val="100000"/>
            </a:lnSpc>
            <a:spcBef>
              <a:spcPct val="0"/>
            </a:spcBef>
            <a:spcAft>
              <a:spcPct val="35000"/>
            </a:spcAft>
            <a:buNone/>
          </a:pPr>
          <a:r>
            <a:rPr lang="en-US" sz="1600" kern="1200"/>
            <a:t>B/P up, pulse down= over hydration</a:t>
          </a:r>
        </a:p>
      </dsp:txBody>
      <dsp:txXfrm>
        <a:off x="5009174" y="4013649"/>
        <a:ext cx="3377140" cy="10690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56DB0-B9DE-4B1C-A5D3-6F6FA84967EA}">
      <dsp:nvSpPr>
        <dsp:cNvPr id="0" name=""/>
        <dsp:cNvSpPr/>
      </dsp:nvSpPr>
      <dsp:spPr>
        <a:xfrm>
          <a:off x="533422" y="0"/>
          <a:ext cx="6023610" cy="349269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B133B7-7F89-46E6-BBB6-FEA5B94B4A50}">
      <dsp:nvSpPr>
        <dsp:cNvPr id="0" name=""/>
        <dsp:cNvSpPr/>
      </dsp:nvSpPr>
      <dsp:spPr>
        <a:xfrm>
          <a:off x="3546" y="1047807"/>
          <a:ext cx="1705905" cy="1397076"/>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Thin Liquids</a:t>
          </a:r>
        </a:p>
      </dsp:txBody>
      <dsp:txXfrm>
        <a:off x="71746" y="1116007"/>
        <a:ext cx="1569505" cy="1260676"/>
      </dsp:txXfrm>
    </dsp:sp>
    <dsp:sp modelId="{171B3425-D907-4B8A-8A41-C231E73A6141}">
      <dsp:nvSpPr>
        <dsp:cNvPr id="0" name=""/>
        <dsp:cNvSpPr/>
      </dsp:nvSpPr>
      <dsp:spPr>
        <a:xfrm>
          <a:off x="1794747" y="1047807"/>
          <a:ext cx="1705905" cy="1397076"/>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Nectar-thick liquids (syrup)</a:t>
          </a:r>
        </a:p>
      </dsp:txBody>
      <dsp:txXfrm>
        <a:off x="1862947" y="1116007"/>
        <a:ext cx="1569505" cy="1260676"/>
      </dsp:txXfrm>
    </dsp:sp>
    <dsp:sp modelId="{1EDD23EE-4571-4099-BE3C-045A94F1A620}">
      <dsp:nvSpPr>
        <dsp:cNvPr id="0" name=""/>
        <dsp:cNvSpPr/>
      </dsp:nvSpPr>
      <dsp:spPr>
        <a:xfrm>
          <a:off x="3585947" y="1047807"/>
          <a:ext cx="1705905" cy="1397076"/>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Honey-thick liquids</a:t>
          </a:r>
        </a:p>
      </dsp:txBody>
      <dsp:txXfrm>
        <a:off x="3654147" y="1116007"/>
        <a:ext cx="1569505" cy="1260676"/>
      </dsp:txXfrm>
    </dsp:sp>
    <dsp:sp modelId="{9577CA51-8031-4BCA-99EF-33A151777FA2}">
      <dsp:nvSpPr>
        <dsp:cNvPr id="0" name=""/>
        <dsp:cNvSpPr/>
      </dsp:nvSpPr>
      <dsp:spPr>
        <a:xfrm>
          <a:off x="5377148" y="1047807"/>
          <a:ext cx="1705905" cy="1397076"/>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Pudding-thick liquids</a:t>
          </a:r>
        </a:p>
      </dsp:txBody>
      <dsp:txXfrm>
        <a:off x="5445348" y="1116007"/>
        <a:ext cx="1569505" cy="12606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73445-E766-45FB-BF8C-52C43A76C774}">
      <dsp:nvSpPr>
        <dsp:cNvPr id="0" name=""/>
        <dsp:cNvSpPr/>
      </dsp:nvSpPr>
      <dsp:spPr>
        <a:xfrm>
          <a:off x="434714" y="0"/>
          <a:ext cx="4926770" cy="5087324"/>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FFA3CC-3C12-46AC-AD0E-8175003942FD}">
      <dsp:nvSpPr>
        <dsp:cNvPr id="0" name=""/>
        <dsp:cNvSpPr/>
      </dsp:nvSpPr>
      <dsp:spPr>
        <a:xfrm>
          <a:off x="2900" y="1526197"/>
          <a:ext cx="1395276" cy="2034929"/>
        </a:xfrm>
        <a:prstGeom prst="round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dirty="0"/>
            <a:t>Clear Liquid  Diet</a:t>
          </a:r>
        </a:p>
      </dsp:txBody>
      <dsp:txXfrm>
        <a:off x="71012" y="1594309"/>
        <a:ext cx="1259052" cy="1898705"/>
      </dsp:txXfrm>
    </dsp:sp>
    <dsp:sp modelId="{9567334E-E8FA-4C7B-9224-2A0963159D9C}">
      <dsp:nvSpPr>
        <dsp:cNvPr id="0" name=""/>
        <dsp:cNvSpPr/>
      </dsp:nvSpPr>
      <dsp:spPr>
        <a:xfrm>
          <a:off x="1467941" y="1526197"/>
          <a:ext cx="1395276" cy="2034929"/>
        </a:xfrm>
        <a:prstGeom prst="roundRect">
          <a:avLst/>
        </a:prstGeom>
        <a:solidFill>
          <a:schemeClr val="accent5">
            <a:hueOff val="3726106"/>
            <a:satOff val="-3211"/>
            <a:lumOff val="4249"/>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dirty="0"/>
            <a:t>Full Liquid Diet</a:t>
          </a:r>
        </a:p>
      </dsp:txBody>
      <dsp:txXfrm>
        <a:off x="1536053" y="1594309"/>
        <a:ext cx="1259052" cy="1898705"/>
      </dsp:txXfrm>
    </dsp:sp>
    <dsp:sp modelId="{08B1613D-72E9-4694-AA0C-7AC382CF5D7F}">
      <dsp:nvSpPr>
        <dsp:cNvPr id="0" name=""/>
        <dsp:cNvSpPr/>
      </dsp:nvSpPr>
      <dsp:spPr>
        <a:xfrm>
          <a:off x="2932981" y="1526197"/>
          <a:ext cx="1395276" cy="2034929"/>
        </a:xfrm>
        <a:prstGeom prst="roundRect">
          <a:avLst/>
        </a:prstGeom>
        <a:solidFill>
          <a:schemeClr val="accent5">
            <a:hueOff val="7452213"/>
            <a:satOff val="-6423"/>
            <a:lumOff val="8497"/>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dirty="0"/>
            <a:t>Soft Diet</a:t>
          </a:r>
        </a:p>
      </dsp:txBody>
      <dsp:txXfrm>
        <a:off x="3001093" y="1594309"/>
        <a:ext cx="1259052" cy="1898705"/>
      </dsp:txXfrm>
    </dsp:sp>
    <dsp:sp modelId="{55E3A7DE-FF9F-4D43-B8AB-F5FF270BBDA1}">
      <dsp:nvSpPr>
        <dsp:cNvPr id="0" name=""/>
        <dsp:cNvSpPr/>
      </dsp:nvSpPr>
      <dsp:spPr>
        <a:xfrm>
          <a:off x="4398022" y="1526197"/>
          <a:ext cx="1395276" cy="2034929"/>
        </a:xfrm>
        <a:prstGeom prst="roundRect">
          <a:avLst/>
        </a:prstGeom>
        <a:solidFill>
          <a:schemeClr val="accent5">
            <a:hueOff val="11178319"/>
            <a:satOff val="-9634"/>
            <a:lumOff val="12746"/>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dirty="0"/>
            <a:t>Regular Diet</a:t>
          </a:r>
        </a:p>
      </dsp:txBody>
      <dsp:txXfrm>
        <a:off x="4466134" y="1594309"/>
        <a:ext cx="1259052" cy="1898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3" tIns="46477" rIns="92953" bIns="46477" rtlCol="0"/>
          <a:lstStyle>
            <a:lvl1pPr algn="l">
              <a:defRPr sz="1200"/>
            </a:lvl1pPr>
          </a:lstStyle>
          <a:p>
            <a:endParaRPr lang="en-US"/>
          </a:p>
        </p:txBody>
      </p:sp>
      <p:sp>
        <p:nvSpPr>
          <p:cNvPr id="3" name="Date Placeholder 2"/>
          <p:cNvSpPr>
            <a:spLocks noGrp="1"/>
          </p:cNvSpPr>
          <p:nvPr>
            <p:ph type="dt" sz="quarter" idx="1"/>
          </p:nvPr>
        </p:nvSpPr>
        <p:spPr>
          <a:xfrm>
            <a:off x="3956551" y="0"/>
            <a:ext cx="3026833" cy="464185"/>
          </a:xfrm>
          <a:prstGeom prst="rect">
            <a:avLst/>
          </a:prstGeom>
        </p:spPr>
        <p:txBody>
          <a:bodyPr vert="horz" lIns="92953" tIns="46477" rIns="92953" bIns="46477" rtlCol="0"/>
          <a:lstStyle>
            <a:lvl1pPr algn="r">
              <a:defRPr sz="1200"/>
            </a:lvl1pPr>
          </a:lstStyle>
          <a:p>
            <a:fld id="{8427D389-EF5F-4EDC-B627-41BEA8DC07A6}" type="datetimeFigureOut">
              <a:rPr lang="en-US" smtClean="0"/>
              <a:pPr/>
              <a:t>1/29/2024</a:t>
            </a:fld>
            <a:endParaRPr lang="en-US"/>
          </a:p>
        </p:txBody>
      </p:sp>
      <p:sp>
        <p:nvSpPr>
          <p:cNvPr id="4" name="Footer Placeholder 3"/>
          <p:cNvSpPr>
            <a:spLocks noGrp="1"/>
          </p:cNvSpPr>
          <p:nvPr>
            <p:ph type="ftr" sz="quarter" idx="2"/>
          </p:nvPr>
        </p:nvSpPr>
        <p:spPr>
          <a:xfrm>
            <a:off x="0" y="8817904"/>
            <a:ext cx="3026833" cy="464185"/>
          </a:xfrm>
          <a:prstGeom prst="rect">
            <a:avLst/>
          </a:prstGeom>
        </p:spPr>
        <p:txBody>
          <a:bodyPr vert="horz" lIns="92953" tIns="46477" rIns="92953" bIns="46477" rtlCol="0" anchor="b"/>
          <a:lstStyle>
            <a:lvl1pPr algn="l">
              <a:defRPr sz="1200"/>
            </a:lvl1pPr>
          </a:lstStyle>
          <a:p>
            <a:endParaRPr lang="en-US"/>
          </a:p>
        </p:txBody>
      </p:sp>
      <p:sp>
        <p:nvSpPr>
          <p:cNvPr id="5" name="Slide Number Placeholder 4"/>
          <p:cNvSpPr>
            <a:spLocks noGrp="1"/>
          </p:cNvSpPr>
          <p:nvPr>
            <p:ph type="sldNum" sz="quarter" idx="3"/>
          </p:nvPr>
        </p:nvSpPr>
        <p:spPr>
          <a:xfrm>
            <a:off x="3956551" y="8817904"/>
            <a:ext cx="3026833" cy="464185"/>
          </a:xfrm>
          <a:prstGeom prst="rect">
            <a:avLst/>
          </a:prstGeom>
        </p:spPr>
        <p:txBody>
          <a:bodyPr vert="horz" lIns="92953" tIns="46477" rIns="92953" bIns="46477" rtlCol="0" anchor="b"/>
          <a:lstStyle>
            <a:lvl1pPr algn="r">
              <a:defRPr sz="1200"/>
            </a:lvl1pPr>
          </a:lstStyle>
          <a:p>
            <a:fld id="{FB62A203-D2DC-411D-BF07-8FDB1EE739DC}" type="slidenum">
              <a:rPr lang="en-US" smtClean="0"/>
              <a:pPr/>
              <a:t>‹#›</a:t>
            </a:fld>
            <a:endParaRPr lang="en-US"/>
          </a:p>
        </p:txBody>
      </p:sp>
    </p:spTree>
    <p:extLst>
      <p:ext uri="{BB962C8B-B14F-4D97-AF65-F5344CB8AC3E}">
        <p14:creationId xmlns:p14="http://schemas.microsoft.com/office/powerpoint/2010/main" val="16807943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3" tIns="46477" rIns="92953" bIns="46477" rtlCol="0"/>
          <a:lstStyle>
            <a:lvl1pPr algn="l">
              <a:defRPr sz="1200"/>
            </a:lvl1pPr>
          </a:lstStyle>
          <a:p>
            <a:endParaRPr lang="en-US"/>
          </a:p>
        </p:txBody>
      </p:sp>
      <p:sp>
        <p:nvSpPr>
          <p:cNvPr id="3" name="Date Placeholder 2"/>
          <p:cNvSpPr>
            <a:spLocks noGrp="1"/>
          </p:cNvSpPr>
          <p:nvPr>
            <p:ph type="dt" idx="1"/>
          </p:nvPr>
        </p:nvSpPr>
        <p:spPr>
          <a:xfrm>
            <a:off x="3956551" y="0"/>
            <a:ext cx="3026833" cy="464185"/>
          </a:xfrm>
          <a:prstGeom prst="rect">
            <a:avLst/>
          </a:prstGeom>
        </p:spPr>
        <p:txBody>
          <a:bodyPr vert="horz" lIns="92953" tIns="46477" rIns="92953" bIns="46477" rtlCol="0"/>
          <a:lstStyle>
            <a:lvl1pPr algn="r">
              <a:defRPr sz="1200"/>
            </a:lvl1pPr>
          </a:lstStyle>
          <a:p>
            <a:fld id="{79628C66-B574-4703-9001-8CD99637A3BF}" type="datetimeFigureOut">
              <a:rPr lang="en-US" smtClean="0"/>
              <a:pPr/>
              <a:t>1/29/2024</a:t>
            </a:fld>
            <a:endParaRPr lang="en-US"/>
          </a:p>
        </p:txBody>
      </p:sp>
      <p:sp>
        <p:nvSpPr>
          <p:cNvPr id="4" name="Slide Image Placeholder 3"/>
          <p:cNvSpPr>
            <a:spLocks noGrp="1" noRot="1" noChangeAspect="1"/>
          </p:cNvSpPr>
          <p:nvPr>
            <p:ph type="sldImg" idx="2"/>
          </p:nvPr>
        </p:nvSpPr>
        <p:spPr>
          <a:xfrm>
            <a:off x="1171575" y="695325"/>
            <a:ext cx="4641850" cy="3481388"/>
          </a:xfrm>
          <a:prstGeom prst="rect">
            <a:avLst/>
          </a:prstGeom>
          <a:noFill/>
          <a:ln w="12700">
            <a:solidFill>
              <a:prstClr val="black"/>
            </a:solidFill>
          </a:ln>
        </p:spPr>
        <p:txBody>
          <a:bodyPr vert="horz" lIns="92953" tIns="46477" rIns="92953" bIns="46477"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3" tIns="46477" rIns="92953" bIns="4647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3" tIns="46477" rIns="92953" bIns="46477" rtlCol="0" anchor="b"/>
          <a:lstStyle>
            <a:lvl1pPr algn="l">
              <a:defRPr sz="1200"/>
            </a:lvl1pPr>
          </a:lstStyle>
          <a:p>
            <a:endParaRPr lang="en-US"/>
          </a:p>
        </p:txBody>
      </p:sp>
      <p:sp>
        <p:nvSpPr>
          <p:cNvPr id="7" name="Slide Number Placeholder 6"/>
          <p:cNvSpPr>
            <a:spLocks noGrp="1"/>
          </p:cNvSpPr>
          <p:nvPr>
            <p:ph type="sldNum" sz="quarter" idx="5"/>
          </p:nvPr>
        </p:nvSpPr>
        <p:spPr>
          <a:xfrm>
            <a:off x="3956551" y="8817904"/>
            <a:ext cx="3026833" cy="464185"/>
          </a:xfrm>
          <a:prstGeom prst="rect">
            <a:avLst/>
          </a:prstGeom>
        </p:spPr>
        <p:txBody>
          <a:bodyPr vert="horz" lIns="92953" tIns="46477" rIns="92953" bIns="46477" rtlCol="0" anchor="b"/>
          <a:lstStyle>
            <a:lvl1pPr algn="r">
              <a:defRPr sz="1200"/>
            </a:lvl1pPr>
          </a:lstStyle>
          <a:p>
            <a:fld id="{AF74327D-7E57-4587-91EC-425CBC1DB777}" type="slidenum">
              <a:rPr lang="en-US" smtClean="0"/>
              <a:pPr/>
              <a:t>‹#›</a:t>
            </a:fld>
            <a:endParaRPr lang="en-US"/>
          </a:p>
        </p:txBody>
      </p:sp>
    </p:spTree>
    <p:extLst>
      <p:ext uri="{BB962C8B-B14F-4D97-AF65-F5344CB8AC3E}">
        <p14:creationId xmlns:p14="http://schemas.microsoft.com/office/powerpoint/2010/main" val="32854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jigsaw.vitalsource.com/books/9780803699007/epub/OEBPS/c32.xhtml?favre=brett#tab32-4"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medical-dictionary.thefreedictionary.com/carbohydrat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medlineplus.gov/minerals.html" TargetMode="External"/><Relationship Id="rId7" Type="http://schemas.openxmlformats.org/officeDocument/2006/relationships/hyperlink" Target="https://medlineplus.gov/dehydration.html"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medlineplus.gov/potassium.html" TargetMode="External"/><Relationship Id="rId5" Type="http://schemas.openxmlformats.org/officeDocument/2006/relationships/hyperlink" Target="https://medlineplus.gov/calcium.html" TargetMode="External"/><Relationship Id="rId4" Type="http://schemas.openxmlformats.org/officeDocument/2006/relationships/hyperlink" Target="https://medlineplus.gov/sodium.html"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pi.oregonstate.edu/mic/glossary#DNA" TargetMode="External"/><Relationship Id="rId7" Type="http://schemas.openxmlformats.org/officeDocument/2006/relationships/hyperlink" Target="https://lpi.oregonstate.edu/mic/glossary#serum"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lpi.oregonstate.edu/mic/glossary#myoglobin" TargetMode="External"/><Relationship Id="rId5" Type="http://schemas.openxmlformats.org/officeDocument/2006/relationships/hyperlink" Target="https://lpi.oregonstate.edu/mic/glossary#hemoglobin" TargetMode="External"/><Relationship Id="rId4" Type="http://schemas.openxmlformats.org/officeDocument/2006/relationships/hyperlink" Target="https://lpi.oregonstate.edu/mic/glossary#synthesi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ncbi.nlm.nih.gov/books/n/nap9956/ddd0000196/def-item/ggg00004/"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www.verywellhealth.com/what-is-jaundice-1942953"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www.nationaleatingdisorders.org/learn/by-eating-disorder/other/pica"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3" Type="http://schemas.openxmlformats.org/officeDocument/2006/relationships/hyperlink" Target="https://www.bing.com/search?q=Nasogastric+intubation&amp;filters=sid%3a72b245f2-3f67-e2de-b419-c42afa260275&amp;form=ENTLNK" TargetMode="External"/><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a:t>
            </a:fld>
            <a:endParaRPr lang="en-US"/>
          </a:p>
        </p:txBody>
      </p:sp>
    </p:spTree>
    <p:extLst>
      <p:ext uri="{BB962C8B-B14F-4D97-AF65-F5344CB8AC3E}">
        <p14:creationId xmlns:p14="http://schemas.microsoft.com/office/powerpoint/2010/main" val="936828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3</a:t>
            </a:fld>
            <a:endParaRPr lang="en-US"/>
          </a:p>
        </p:txBody>
      </p:sp>
    </p:spTree>
    <p:extLst>
      <p:ext uri="{BB962C8B-B14F-4D97-AF65-F5344CB8AC3E}">
        <p14:creationId xmlns:p14="http://schemas.microsoft.com/office/powerpoint/2010/main" val="10992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4</a:t>
            </a:fld>
            <a:endParaRPr lang="en-US"/>
          </a:p>
        </p:txBody>
      </p:sp>
    </p:spTree>
    <p:extLst>
      <p:ext uri="{BB962C8B-B14F-4D97-AF65-F5344CB8AC3E}">
        <p14:creationId xmlns:p14="http://schemas.microsoft.com/office/powerpoint/2010/main" val="1950228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Rounded MT Bold" panose="020F0704030504030204"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5</a:t>
            </a:fld>
            <a:endParaRPr lang="en-US"/>
          </a:p>
        </p:txBody>
      </p:sp>
    </p:spTree>
    <p:extLst>
      <p:ext uri="{BB962C8B-B14F-4D97-AF65-F5344CB8AC3E}">
        <p14:creationId xmlns:p14="http://schemas.microsoft.com/office/powerpoint/2010/main" val="4284089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latin typeface="Arial Rounded MT Bold" pitchFamily="34" charset="0"/>
              </a:rPr>
              <a:t>Page 618 Med Surg text</a:t>
            </a:r>
          </a:p>
          <a:p>
            <a:endParaRPr lang="en-US" sz="1600" dirty="0">
              <a:latin typeface="Arial Rounded MT Bold" pitchFamily="34" charset="0"/>
            </a:endParaRPr>
          </a:p>
          <a:p>
            <a:r>
              <a:rPr lang="en-US" sz="1200" b="1" i="1" kern="1200" dirty="0">
                <a:solidFill>
                  <a:schemeClr val="tx1"/>
                </a:solidFill>
                <a:effectLst/>
                <a:latin typeface="+mn-lt"/>
                <a:ea typeface="+mn-ea"/>
                <a:cs typeface="+mn-cs"/>
              </a:rPr>
              <a:t>Height, Weight, and Body Mass Index</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patient’s height and weight are obtained for planning care. Excess waist circumferences (for women, more than 35 inches; for men, more than 40 inches) place people at greater risk for diabetes and cardiovascular disease. Body mass index (BMI) is calculated to measure body fat and used along with waist-to-hip ratio measurements to determine the patient’s health risk factors (</a:t>
            </a:r>
            <a:r>
              <a:rPr lang="en-US" sz="1200" b="0" i="0" u="none" strike="noStrike" kern="1200" dirty="0">
                <a:solidFill>
                  <a:schemeClr val="tx1"/>
                </a:solidFill>
                <a:effectLst/>
                <a:latin typeface="+mn-lt"/>
                <a:ea typeface="+mn-ea"/>
                <a:cs typeface="+mn-cs"/>
                <a:hlinkClick r:id="rId3"/>
              </a:rPr>
              <a:t>Table 32.4</a:t>
            </a:r>
            <a:r>
              <a:rPr lang="en-US" sz="1200" b="0" i="0" kern="1200" dirty="0">
                <a:solidFill>
                  <a:schemeClr val="tx1"/>
                </a:solidFill>
                <a:effectLst/>
                <a:latin typeface="+mn-lt"/>
                <a:ea typeface="+mn-ea"/>
                <a:cs typeface="+mn-cs"/>
              </a:rPr>
              <a:t>).</a:t>
            </a:r>
          </a:p>
          <a:p>
            <a:endParaRPr lang="en-US" sz="1600" dirty="0">
              <a:latin typeface="Arial Rounded MT Bold" pitchFamily="34" charset="0"/>
            </a:endParaRPr>
          </a:p>
          <a:p>
            <a:pPr fontAlgn="t"/>
            <a:r>
              <a:rPr lang="en-US" sz="1600" b="1" i="1" dirty="0">
                <a:effectLst/>
              </a:rPr>
              <a:t>To calculate body mass index (BMI)</a:t>
            </a:r>
            <a:r>
              <a:rPr lang="en-US" sz="1600" i="1" dirty="0">
                <a:effectLst/>
              </a:rPr>
              <a:t>Formulas:</a:t>
            </a:r>
            <a:endParaRPr lang="en-US" sz="1600" dirty="0">
              <a:effectLst/>
            </a:endParaRPr>
          </a:p>
          <a:p>
            <a:pPr fontAlgn="t"/>
            <a:r>
              <a:rPr lang="en-US" sz="1600" i="1" dirty="0">
                <a:effectLst/>
              </a:rPr>
              <a:t>Pounds and inches:</a:t>
            </a:r>
            <a:r>
              <a:rPr lang="en-US" sz="1600" dirty="0">
                <a:effectLst/>
              </a:rPr>
              <a:t> weight (</a:t>
            </a:r>
            <a:r>
              <a:rPr lang="en-US" sz="1600" dirty="0" err="1">
                <a:effectLst/>
              </a:rPr>
              <a:t>lb</a:t>
            </a:r>
            <a:r>
              <a:rPr lang="en-US" sz="1600" dirty="0">
                <a:effectLst/>
              </a:rPr>
              <a:t>) / [height (in.)]</a:t>
            </a:r>
            <a:r>
              <a:rPr lang="en-US" sz="1600" baseline="30000" dirty="0">
                <a:effectLst/>
              </a:rPr>
              <a:t>2</a:t>
            </a:r>
            <a:r>
              <a:rPr lang="en-US" sz="1600" dirty="0">
                <a:effectLst/>
              </a:rPr>
              <a:t> × 703</a:t>
            </a:r>
          </a:p>
          <a:p>
            <a:pPr fontAlgn="t"/>
            <a:r>
              <a:rPr lang="en-US" sz="1600" dirty="0">
                <a:effectLst/>
              </a:rPr>
              <a:t>Step 1. Multiply height (in inches) by height.</a:t>
            </a:r>
          </a:p>
          <a:p>
            <a:pPr fontAlgn="t"/>
            <a:r>
              <a:rPr lang="en-US" sz="1600" dirty="0">
                <a:effectLst/>
              </a:rPr>
              <a:t>Step 2. Divide weight (in pounds) by Step 1 answer.</a:t>
            </a:r>
          </a:p>
          <a:p>
            <a:pPr fontAlgn="t"/>
            <a:r>
              <a:rPr lang="en-US" sz="1600" dirty="0">
                <a:effectLst/>
              </a:rPr>
              <a:t>Step 3. Multiply Step 2 answer by 703.</a:t>
            </a:r>
          </a:p>
          <a:p>
            <a:pPr fontAlgn="t"/>
            <a:r>
              <a:rPr lang="en-US" sz="1600" i="1" dirty="0">
                <a:effectLst/>
              </a:rPr>
              <a:t>Kilograms and meters:</a:t>
            </a:r>
            <a:r>
              <a:rPr lang="en-US" sz="1600" dirty="0">
                <a:effectLst/>
              </a:rPr>
              <a:t> weight (kg) / [height (m)]</a:t>
            </a:r>
            <a:r>
              <a:rPr lang="en-US" sz="1600" baseline="30000" dirty="0">
                <a:effectLst/>
              </a:rPr>
              <a:t>2</a:t>
            </a:r>
            <a:endParaRPr lang="en-US" sz="1600" dirty="0">
              <a:effectLst/>
            </a:endParaRPr>
          </a:p>
          <a:p>
            <a:pPr fontAlgn="t"/>
            <a:r>
              <a:rPr lang="en-US" sz="1600" dirty="0">
                <a:effectLst/>
              </a:rPr>
              <a:t>Step 1. Multiply height (in meters) by height.</a:t>
            </a:r>
          </a:p>
          <a:p>
            <a:pPr fontAlgn="t"/>
            <a:r>
              <a:rPr lang="en-US" sz="1600" dirty="0">
                <a:effectLst/>
              </a:rPr>
              <a:t>Step 2. Divide weight (in kilograms) by Step 1 answer.</a:t>
            </a:r>
          </a:p>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6</a:t>
            </a:fld>
            <a:endParaRPr lang="en-US"/>
          </a:p>
        </p:txBody>
      </p:sp>
    </p:spTree>
    <p:extLst>
      <p:ext uri="{BB962C8B-B14F-4D97-AF65-F5344CB8AC3E}">
        <p14:creationId xmlns:p14="http://schemas.microsoft.com/office/powerpoint/2010/main" val="2764555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7</a:t>
            </a:fld>
            <a:endParaRPr lang="en-US"/>
          </a:p>
        </p:txBody>
      </p:sp>
    </p:spTree>
    <p:extLst>
      <p:ext uri="{BB962C8B-B14F-4D97-AF65-F5344CB8AC3E}">
        <p14:creationId xmlns:p14="http://schemas.microsoft.com/office/powerpoint/2010/main" val="2433920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600" dirty="0">
                <a:latin typeface="Arial Rounded MT Bold" pitchFamily="34" charset="0"/>
              </a:rPr>
              <a:t>Complex Carbs: </a:t>
            </a:r>
            <a:r>
              <a:rPr lang="en-US" sz="1200" b="1" i="0" kern="1200" dirty="0">
                <a:solidFill>
                  <a:schemeClr val="tx1"/>
                </a:solidFill>
                <a:effectLst/>
                <a:latin typeface="+mn-lt"/>
                <a:ea typeface="+mn-ea"/>
                <a:cs typeface="+mn-cs"/>
              </a:rPr>
              <a:t>Whole grains, beans, quinoa, legumes, oats, and brown rice </a:t>
            </a:r>
            <a:endParaRPr lang="en-US" sz="1600" b="1" dirty="0">
              <a:latin typeface="Arial Rounded MT Bold" pitchFamily="34" charset="0"/>
            </a:endParaRPr>
          </a:p>
          <a:p>
            <a:endParaRPr lang="en-US" sz="1600" dirty="0">
              <a:latin typeface="Arial Rounded MT Bold" pitchFamily="34" charset="0"/>
            </a:endParaRPr>
          </a:p>
          <a:p>
            <a:r>
              <a:rPr lang="en-US" sz="1600" dirty="0">
                <a:latin typeface="Arial Rounded MT Bold" pitchFamily="34" charset="0"/>
              </a:rPr>
              <a:t>Simple Carbs: </a:t>
            </a:r>
            <a:r>
              <a:rPr lang="en-US" sz="1200" b="1" i="0" kern="1200" dirty="0">
                <a:solidFill>
                  <a:schemeClr val="tx1"/>
                </a:solidFill>
                <a:effectLst/>
                <a:latin typeface="+mn-lt"/>
                <a:ea typeface="+mn-ea"/>
                <a:cs typeface="+mn-cs"/>
              </a:rPr>
              <a:t>Raw sugar, Brown sugar, Corn syrup/high-fructose corn syrup, Fruits (naturally occurring sugars), Vegetables (naturally occurring sugars), Milk and milk products, (naturally occurring sugars), Honey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Good Carbs: </a:t>
            </a:r>
            <a:r>
              <a:rPr lang="en-US" sz="1200" b="1" i="0" kern="1200" dirty="0">
                <a:solidFill>
                  <a:schemeClr val="tx1"/>
                </a:solidFill>
                <a:effectLst/>
                <a:latin typeface="+mn-lt"/>
                <a:ea typeface="+mn-ea"/>
                <a:cs typeface="+mn-cs"/>
              </a:rPr>
              <a:t>vegetables, low glycemic fruits such as berries and apples, as well as legumes and unprocessed high fiber whole grains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Bad Carbs: </a:t>
            </a:r>
            <a:r>
              <a:rPr lang="en-US" sz="1200" b="1" i="0" kern="1200" dirty="0">
                <a:solidFill>
                  <a:schemeClr val="tx1"/>
                </a:solidFill>
                <a:effectLst/>
                <a:latin typeface="+mn-lt"/>
                <a:ea typeface="+mn-ea"/>
                <a:cs typeface="+mn-cs"/>
              </a:rPr>
              <a:t>chips, cookies, sodas, bagels, cake, pastries, pancakes, soda, high fructose corn syrup and baked goods</a:t>
            </a:r>
            <a:r>
              <a:rPr lang="en-US" sz="1200" b="0" i="0" kern="1200" dirty="0">
                <a:solidFill>
                  <a:schemeClr val="tx1"/>
                </a:solidFill>
                <a:effectLst/>
                <a:latin typeface="+mn-lt"/>
                <a:ea typeface="+mn-ea"/>
                <a:cs typeface="+mn-cs"/>
              </a:rPr>
              <a:t>.</a:t>
            </a:r>
          </a:p>
          <a:p>
            <a:endParaRPr lang="en-US" sz="1600" dirty="0">
              <a:latin typeface="Arial Rounded MT Bold"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Arial Rounded MT Bold" pitchFamily="34" charset="0"/>
              </a:rPr>
              <a:t>Disaccharides</a:t>
            </a:r>
            <a:r>
              <a:rPr lang="en-US" sz="1200" b="0" i="0" kern="1200" dirty="0">
                <a:solidFill>
                  <a:schemeClr val="tx1"/>
                </a:solidFill>
                <a:effectLst/>
                <a:latin typeface="+mn-lt"/>
                <a:ea typeface="+mn-ea"/>
                <a:cs typeface="+mn-cs"/>
              </a:rPr>
              <a:t> (lactose): milk, dairy products /  disaccharides are simple sugars soluble in water. Three common examples are sucrose, lactose, and maltose. Disaccharides are one of the four chemical groupings of carbohydrates.</a:t>
            </a:r>
          </a:p>
          <a:p>
            <a:endParaRPr lang="en-US" sz="1600" dirty="0">
              <a:latin typeface="Arial Rounded MT Bold" pitchFamily="34" charset="0"/>
            </a:endParaRPr>
          </a:p>
          <a:p>
            <a:r>
              <a:rPr lang="en-US" sz="1600" dirty="0">
                <a:latin typeface="Arial Rounded MT Bold" pitchFamily="34" charset="0"/>
              </a:rPr>
              <a:t>Complex polysaccharides: </a:t>
            </a:r>
            <a:r>
              <a:rPr lang="en-US" sz="1200" b="0" i="0" kern="1200" dirty="0">
                <a:solidFill>
                  <a:schemeClr val="tx1"/>
                </a:solidFill>
                <a:effectLst/>
                <a:latin typeface="+mn-lt"/>
                <a:ea typeface="+mn-ea"/>
                <a:cs typeface="+mn-cs"/>
              </a:rPr>
              <a:t>consist of hundreds or even thousands of monosaccharides. They include starch, glycogen, cellulose, and chitin.</a:t>
            </a:r>
            <a:endParaRPr lang="en-US" sz="1600" dirty="0">
              <a:latin typeface="Arial Rounded MT Bold" pitchFamily="34" charset="0"/>
            </a:endParaRPr>
          </a:p>
          <a:p>
            <a:endParaRPr lang="en-US" sz="1600" dirty="0">
              <a:latin typeface="Arial Rounded MT Bold" pitchFamily="34" charset="0"/>
            </a:endParaRPr>
          </a:p>
          <a:p>
            <a:r>
              <a:rPr lang="en-US" sz="1600" dirty="0">
                <a:latin typeface="Arial Rounded MT Bold" pitchFamily="34" charset="0"/>
              </a:rPr>
              <a:t>Starches: </a:t>
            </a:r>
            <a:r>
              <a:rPr lang="en-US" sz="1200" b="0" i="0" kern="1200" dirty="0">
                <a:solidFill>
                  <a:schemeClr val="tx1"/>
                </a:solidFill>
                <a:effectLst/>
                <a:latin typeface="+mn-lt"/>
                <a:ea typeface="+mn-ea"/>
                <a:cs typeface="+mn-cs"/>
              </a:rPr>
              <a:t>it is the </a:t>
            </a:r>
            <a:r>
              <a:rPr lang="en-US" sz="1200" b="1" i="0" u="sng" kern="1200" dirty="0">
                <a:solidFill>
                  <a:schemeClr val="tx1"/>
                </a:solidFill>
                <a:effectLst/>
                <a:latin typeface="+mn-lt"/>
                <a:ea typeface="+mn-ea"/>
                <a:cs typeface="+mn-cs"/>
              </a:rPr>
              <a:t>chief</a:t>
            </a:r>
            <a:r>
              <a:rPr lang="en-US" sz="1200" b="0" i="0" kern="1200" dirty="0">
                <a:solidFill>
                  <a:schemeClr val="tx1"/>
                </a:solidFill>
                <a:effectLst/>
                <a:latin typeface="+mn-lt"/>
                <a:ea typeface="+mn-ea"/>
                <a:cs typeface="+mn-cs"/>
              </a:rPr>
              <a:t> storage form of </a:t>
            </a:r>
            <a:r>
              <a:rPr lang="en-US" sz="1200" b="1" i="0" u="none" strike="noStrike" kern="1200" cap="small"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carbohydrates</a:t>
            </a:r>
            <a:r>
              <a:rPr lang="en-US" sz="1200" b="0" i="0" kern="1200" dirty="0">
                <a:solidFill>
                  <a:schemeClr val="tx1"/>
                </a:solidFill>
                <a:effectLst/>
                <a:latin typeface="+mn-lt"/>
                <a:ea typeface="+mn-ea"/>
                <a:cs typeface="+mn-cs"/>
              </a:rPr>
              <a:t> in plants.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Food sources: Natural sugars (</a:t>
            </a:r>
            <a:r>
              <a:rPr lang="en-US" sz="2400" b="0" i="0" dirty="0">
                <a:solidFill>
                  <a:srgbClr val="202124"/>
                </a:solidFill>
                <a:effectLst/>
                <a:latin typeface="Roboto" panose="02000000000000000000" pitchFamily="2" charset="0"/>
              </a:rPr>
              <a:t>Natural sugars are found </a:t>
            </a:r>
            <a:r>
              <a:rPr lang="en-US" sz="2400" b="1" i="0" dirty="0">
                <a:solidFill>
                  <a:srgbClr val="202124"/>
                </a:solidFill>
                <a:effectLst/>
                <a:latin typeface="Roboto" panose="02000000000000000000" pitchFamily="2" charset="0"/>
              </a:rPr>
              <a:t>in fruit as fructose and in dairy products, such as milk and cheese</a:t>
            </a:r>
            <a:r>
              <a:rPr lang="en-US" sz="2400" b="0" i="0" dirty="0">
                <a:solidFill>
                  <a:srgbClr val="202124"/>
                </a:solidFill>
                <a:effectLst/>
                <a:latin typeface="Roboto" panose="02000000000000000000" pitchFamily="2" charset="0"/>
              </a:rPr>
              <a:t>, as lactose)</a:t>
            </a:r>
          </a:p>
          <a:p>
            <a:r>
              <a:rPr lang="en-US" sz="2400" b="0" i="0" dirty="0">
                <a:solidFill>
                  <a:srgbClr val="202124"/>
                </a:solidFill>
                <a:effectLst/>
                <a:latin typeface="Roboto" panose="02000000000000000000" pitchFamily="2" charset="0"/>
              </a:rPr>
              <a:t>                       Refined sugars (Refined sugars are found in sugar cane or sugar beets, which are processed to extract the sugar. It is typically found as </a:t>
            </a:r>
            <a:r>
              <a:rPr lang="en-US" sz="2400" b="1" i="0" dirty="0">
                <a:solidFill>
                  <a:srgbClr val="202124"/>
                </a:solidFill>
                <a:effectLst/>
                <a:latin typeface="Roboto" panose="02000000000000000000" pitchFamily="2" charset="0"/>
              </a:rPr>
              <a:t>sucrose</a:t>
            </a:r>
            <a:r>
              <a:rPr lang="en-US" sz="2400" b="0" i="0" dirty="0">
                <a:solidFill>
                  <a:srgbClr val="202124"/>
                </a:solidFill>
                <a:effectLst/>
                <a:latin typeface="Roboto" panose="02000000000000000000" pitchFamily="2" charset="0"/>
              </a:rPr>
              <a:t>, which is the combination of glucose and fructose.)</a:t>
            </a:r>
          </a:p>
          <a:p>
            <a:r>
              <a:rPr lang="en-US" sz="2400" b="0" i="0" dirty="0">
                <a:solidFill>
                  <a:srgbClr val="202124"/>
                </a:solidFill>
                <a:effectLst/>
                <a:latin typeface="Roboto" panose="02000000000000000000" pitchFamily="2" charset="0"/>
              </a:rPr>
              <a:t>                       Modified starch thickeners (modified starch thickeners include </a:t>
            </a:r>
            <a:r>
              <a:rPr lang="en-US" sz="2400" b="1" i="0" dirty="0">
                <a:solidFill>
                  <a:srgbClr val="202124"/>
                </a:solidFill>
                <a:effectLst/>
                <a:latin typeface="Roboto" panose="02000000000000000000" pitchFamily="2" charset="0"/>
              </a:rPr>
              <a:t>tapioca, cornstarch, and arrowroot</a:t>
            </a:r>
            <a:r>
              <a:rPr lang="en-US" sz="2400" b="0" i="0" dirty="0">
                <a:solidFill>
                  <a:srgbClr val="202124"/>
                </a:solidFill>
                <a:effectLst/>
                <a:latin typeface="Roboto" panose="02000000000000000000" pitchFamily="2" charset="0"/>
              </a:rPr>
              <a:t>.)</a:t>
            </a:r>
          </a:p>
          <a:p>
            <a:r>
              <a:rPr lang="en-US" sz="2400" b="0" i="0" dirty="0">
                <a:solidFill>
                  <a:srgbClr val="202124"/>
                </a:solidFill>
                <a:effectLst/>
                <a:latin typeface="Roboto" panose="02000000000000000000" pitchFamily="2" charset="0"/>
              </a:rPr>
              <a:t>                       HFCS (</a:t>
            </a:r>
            <a:r>
              <a:rPr lang="en-US" sz="2400" b="0" i="0" dirty="0">
                <a:solidFill>
                  <a:srgbClr val="4D5156"/>
                </a:solidFill>
                <a:effectLst/>
                <a:latin typeface="Roboto" panose="02000000000000000000" pitchFamily="2" charset="0"/>
              </a:rPr>
              <a:t>High-fructose corn syrup, also known as glucose–fructose, fructose syrup, is a sweetener made from corn starch.)</a:t>
            </a:r>
          </a:p>
          <a:p>
            <a:r>
              <a:rPr lang="en-US" sz="2400" b="0" i="0" dirty="0">
                <a:solidFill>
                  <a:srgbClr val="4D5156"/>
                </a:solidFill>
                <a:effectLst/>
                <a:latin typeface="Roboto" panose="02000000000000000000" pitchFamily="2" charset="0"/>
              </a:rPr>
              <a:t>                       Sugar substitutes (A sugar substitute is a food additive that provides a sweet taste like that of sugar zero-calorie or low-calorie sweetener.)</a:t>
            </a:r>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9</a:t>
            </a:fld>
            <a:endParaRPr lang="en-US"/>
          </a:p>
        </p:txBody>
      </p:sp>
    </p:spTree>
    <p:extLst>
      <p:ext uri="{BB962C8B-B14F-4D97-AF65-F5344CB8AC3E}">
        <p14:creationId xmlns:p14="http://schemas.microsoft.com/office/powerpoint/2010/main" val="667752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10</a:t>
            </a:fld>
            <a:endParaRPr lang="en-US"/>
          </a:p>
        </p:txBody>
      </p:sp>
    </p:spTree>
    <p:extLst>
      <p:ext uri="{BB962C8B-B14F-4D97-AF65-F5344CB8AC3E}">
        <p14:creationId xmlns:p14="http://schemas.microsoft.com/office/powerpoint/2010/main" val="3610638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i="0" kern="1200" dirty="0">
                <a:solidFill>
                  <a:schemeClr val="tx1"/>
                </a:solidFill>
                <a:effectLst/>
                <a:latin typeface="+mn-lt"/>
                <a:ea typeface="+mn-ea"/>
                <a:cs typeface="+mn-cs"/>
              </a:rPr>
              <a:t>Amino acids are the building blocks of proteins and play an important role in body functions. They are needed for vital processes like </a:t>
            </a:r>
            <a:r>
              <a:rPr lang="en-US" sz="1200" b="1" i="0" kern="1200" dirty="0">
                <a:solidFill>
                  <a:schemeClr val="tx1"/>
                </a:solidFill>
                <a:effectLst/>
                <a:latin typeface="+mn-lt"/>
                <a:ea typeface="+mn-ea"/>
                <a:cs typeface="+mn-cs"/>
              </a:rPr>
              <a:t>the cell building and synthesis of hormones and neurotransmitters</a:t>
            </a:r>
            <a:r>
              <a:rPr lang="en-US" sz="1200" b="0" i="0" kern="1200" dirty="0">
                <a:solidFill>
                  <a:schemeClr val="tx1"/>
                </a:solidFill>
                <a:effectLst/>
                <a:latin typeface="+mn-lt"/>
                <a:ea typeface="+mn-ea"/>
                <a:cs typeface="+mn-cs"/>
              </a:rPr>
              <a:t> (brain chemicals).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Protein examples</a:t>
            </a:r>
            <a:r>
              <a:rPr lang="en-US" sz="1200" b="1" i="0" kern="1200" dirty="0">
                <a:solidFill>
                  <a:schemeClr val="tx1"/>
                </a:solidFill>
                <a:effectLst/>
                <a:latin typeface="+mn-lt"/>
                <a:ea typeface="+mn-ea"/>
                <a:cs typeface="+mn-cs"/>
              </a:rPr>
              <a:t>: meat, dairy, including milk, cheese and yogurt, and eggs</a:t>
            </a:r>
            <a:r>
              <a:rPr lang="en-US" sz="1200" b="0" i="0" kern="1200" dirty="0">
                <a:solidFill>
                  <a:schemeClr val="tx1"/>
                </a:solidFill>
                <a:effectLst/>
                <a:latin typeface="+mn-lt"/>
                <a:ea typeface="+mn-ea"/>
                <a:cs typeface="+mn-cs"/>
              </a:rPr>
              <a:t>. These are the most complete foods for essential amino acids. Fish is another example of a food with a high protein content. </a:t>
            </a:r>
            <a:endParaRPr lang="en-US" sz="1600" dirty="0">
              <a:latin typeface="Arial Rounded MT Bold" pitchFamily="34" charset="0"/>
            </a:endParaRPr>
          </a:p>
          <a:p>
            <a:endParaRPr lang="en-US" sz="1600" dirty="0">
              <a:latin typeface="Arial Rounded MT Bold" pitchFamily="34" charset="0"/>
            </a:endParaRPr>
          </a:p>
          <a:p>
            <a:r>
              <a:rPr lang="en-US" sz="1200" b="1" i="0" kern="1200" dirty="0">
                <a:solidFill>
                  <a:srgbClr val="FF0000"/>
                </a:solidFill>
                <a:effectLst/>
                <a:latin typeface="+mn-lt"/>
                <a:ea typeface="+mn-ea"/>
                <a:cs typeface="+mn-cs"/>
              </a:rPr>
              <a:t>Protein structural role</a:t>
            </a:r>
            <a:r>
              <a:rPr lang="en-US" sz="1200" b="0" i="0" kern="1200" dirty="0">
                <a:solidFill>
                  <a:schemeClr val="tx1"/>
                </a:solidFill>
                <a:effectLst/>
                <a:latin typeface="+mn-lt"/>
                <a:ea typeface="+mn-ea"/>
                <a:cs typeface="+mn-cs"/>
              </a:rPr>
              <a:t>: It </a:t>
            </a:r>
            <a:r>
              <a:rPr lang="en-US" sz="1200" b="1" i="0" kern="1200" dirty="0">
                <a:solidFill>
                  <a:schemeClr val="tx1"/>
                </a:solidFill>
                <a:effectLst/>
                <a:latin typeface="+mn-lt"/>
                <a:ea typeface="+mn-ea"/>
                <a:cs typeface="+mn-cs"/>
              </a:rPr>
              <a:t>helps repair and build your body's tissues</a:t>
            </a:r>
            <a:r>
              <a:rPr lang="en-US" sz="1200" b="0" i="0" kern="1200" dirty="0">
                <a:solidFill>
                  <a:schemeClr val="tx1"/>
                </a:solidFill>
                <a:effectLst/>
                <a:latin typeface="+mn-lt"/>
                <a:ea typeface="+mn-ea"/>
                <a:cs typeface="+mn-cs"/>
              </a:rPr>
              <a:t>, allows metabolic reactions to take place and coordinates bodily functions. In addition to providing your body with a structural framework, proteins also maintain proper pH and fluid balance.</a:t>
            </a:r>
          </a:p>
          <a:p>
            <a:endParaRPr lang="en-US" sz="1200" b="0" i="0" kern="1200" dirty="0">
              <a:solidFill>
                <a:schemeClr val="tx1"/>
              </a:solidFill>
              <a:effectLst/>
              <a:latin typeface="+mn-lt"/>
              <a:ea typeface="+mn-ea"/>
              <a:cs typeface="+mn-cs"/>
            </a:endParaRPr>
          </a:p>
          <a:p>
            <a:r>
              <a:rPr lang="en-US" sz="1200" b="1" i="0" kern="1200" dirty="0">
                <a:solidFill>
                  <a:srgbClr val="FF0000"/>
                </a:solidFill>
                <a:effectLst/>
                <a:latin typeface="+mn-lt"/>
                <a:ea typeface="+mn-ea"/>
                <a:cs typeface="+mn-cs"/>
              </a:rPr>
              <a:t>Enzyme role</a:t>
            </a:r>
            <a:r>
              <a:rPr lang="en-US" sz="1200" b="0" i="0" kern="1200" dirty="0">
                <a:solidFill>
                  <a:schemeClr val="tx1"/>
                </a:solidFill>
                <a:effectLst/>
                <a:latin typeface="+mn-lt"/>
                <a:ea typeface="+mn-ea"/>
                <a:cs typeface="+mn-cs"/>
              </a:rPr>
              <a:t>: Digestive enzymes play a key role in </a:t>
            </a:r>
            <a:r>
              <a:rPr lang="en-US" sz="1200" b="1" i="0" kern="1200" dirty="0">
                <a:solidFill>
                  <a:schemeClr val="tx1"/>
                </a:solidFill>
                <a:effectLst/>
                <a:latin typeface="+mn-lt"/>
                <a:ea typeface="+mn-ea"/>
                <a:cs typeface="+mn-cs"/>
              </a:rPr>
              <a:t>breaking down the food you eat</a:t>
            </a:r>
            <a:r>
              <a:rPr lang="en-US" sz="1200" b="0" i="0" kern="1200" dirty="0">
                <a:solidFill>
                  <a:schemeClr val="tx1"/>
                </a:solidFill>
                <a:effectLst/>
                <a:latin typeface="+mn-lt"/>
                <a:ea typeface="+mn-ea"/>
                <a:cs typeface="+mn-cs"/>
              </a:rPr>
              <a:t>. These proteins speed up chemical reactions that turn nutrients into substances that your digestive tract can absorb. Your saliva has digestive enzymes in it. Some of your organs, including your pancreas, gallbladder, and liver, also release them.</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Transport role: </a:t>
            </a:r>
            <a:r>
              <a:rPr lang="en-US" sz="1200" b="0" i="0" kern="1200" dirty="0">
                <a:solidFill>
                  <a:schemeClr val="tx1"/>
                </a:solidFill>
                <a:effectLst/>
                <a:latin typeface="+mn-lt"/>
                <a:ea typeface="+mn-ea"/>
                <a:cs typeface="+mn-cs"/>
              </a:rPr>
              <a:t>Transporting nutrients to the cells of your body is the job of your circulatory system. The </a:t>
            </a:r>
            <a:r>
              <a:rPr lang="en-US" sz="1200" b="1" i="0" kern="1200" dirty="0">
                <a:solidFill>
                  <a:schemeClr val="tx1"/>
                </a:solidFill>
                <a:effectLst/>
                <a:latin typeface="+mn-lt"/>
                <a:ea typeface="+mn-ea"/>
                <a:cs typeface="+mn-cs"/>
              </a:rPr>
              <a:t>circulatory system</a:t>
            </a:r>
            <a:r>
              <a:rPr lang="en-US" sz="1200" b="0" i="0" kern="1200" dirty="0">
                <a:solidFill>
                  <a:schemeClr val="tx1"/>
                </a:solidFill>
                <a:effectLst/>
                <a:latin typeface="+mn-lt"/>
                <a:ea typeface="+mn-ea"/>
                <a:cs typeface="+mn-cs"/>
              </a:rPr>
              <a:t> consists of your heart, blood and blood vessels. There are three types of blood vessels: arteries, veins and capillaries. Nutrients are transported throughout your body through your blood via </a:t>
            </a:r>
            <a:r>
              <a:rPr lang="en-US" sz="1200" b="1" i="0" kern="1200" dirty="0">
                <a:solidFill>
                  <a:schemeClr val="tx1"/>
                </a:solidFill>
                <a:effectLst/>
                <a:latin typeface="+mn-lt"/>
                <a:ea typeface="+mn-ea"/>
                <a:cs typeface="+mn-cs"/>
              </a:rPr>
              <a:t>capillaries</a:t>
            </a:r>
            <a:r>
              <a:rPr lang="en-US" sz="1200" b="0" i="0" kern="1200" dirty="0">
                <a:solidFill>
                  <a:schemeClr val="tx1"/>
                </a:solidFill>
                <a:effectLst/>
                <a:latin typeface="+mn-lt"/>
                <a:ea typeface="+mn-ea"/>
                <a:cs typeface="+mn-cs"/>
              </a:rPr>
              <a:t>, tiny blood vessels that connect arteries to veins.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Defense role: </a:t>
            </a:r>
            <a:r>
              <a:rPr lang="en-US" sz="1200" b="0" i="0" kern="1200" dirty="0">
                <a:solidFill>
                  <a:schemeClr val="tx1"/>
                </a:solidFill>
                <a:effectLst/>
                <a:latin typeface="+mn-lt"/>
                <a:ea typeface="+mn-ea"/>
                <a:cs typeface="+mn-cs"/>
              </a:rPr>
              <a:t>Protective nutrients </a:t>
            </a:r>
            <a:r>
              <a:rPr lang="en-US" sz="1200" b="1" i="0" kern="1200" dirty="0">
                <a:solidFill>
                  <a:schemeClr val="tx1"/>
                </a:solidFill>
                <a:effectLst/>
                <a:latin typeface="+mn-lt"/>
                <a:ea typeface="+mn-ea"/>
                <a:cs typeface="+mn-cs"/>
              </a:rPr>
              <a:t>benefit health</a:t>
            </a:r>
            <a:r>
              <a:rPr lang="en-US" sz="1200" b="0" i="0" kern="1200" dirty="0">
                <a:solidFill>
                  <a:schemeClr val="tx1"/>
                </a:solidFill>
                <a:effectLst/>
                <a:latin typeface="+mn-lt"/>
                <a:ea typeface="+mn-ea"/>
                <a:cs typeface="+mn-cs"/>
              </a:rPr>
              <a:t> in various ways beyond their conventionally established nutrient function such as by enhancing immune function, promoting gastrointestinal integrity, impacting metabolism, and preventing disease.</a:t>
            </a:r>
          </a:p>
          <a:p>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Fluid and acid-base balance: Electrolytes are </a:t>
            </a:r>
            <a:r>
              <a:rPr lang="en-US" sz="1200" b="0" i="0" u="none" strike="noStrike" kern="1200" dirty="0">
                <a:solidFill>
                  <a:schemeClr val="tx1"/>
                </a:solidFill>
                <a:effectLst/>
                <a:latin typeface="+mn-lt"/>
                <a:ea typeface="+mn-ea"/>
                <a:cs typeface="+mn-cs"/>
                <a:hlinkClick r:id="rId3"/>
              </a:rPr>
              <a:t>minerals</a:t>
            </a:r>
            <a:r>
              <a:rPr lang="en-US" sz="1200" b="0" i="0" kern="1200" dirty="0">
                <a:solidFill>
                  <a:schemeClr val="tx1"/>
                </a:solidFill>
                <a:effectLst/>
                <a:latin typeface="+mn-lt"/>
                <a:ea typeface="+mn-ea"/>
                <a:cs typeface="+mn-cs"/>
              </a:rPr>
              <a:t> in your body that have an electric charge. They are in your blood, urine, tissues, and other body fluids. Electrolytes are important because they help</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Balance the amount of water in your body</a:t>
            </a:r>
          </a:p>
          <a:p>
            <a:pPr fontAlgn="base"/>
            <a:r>
              <a:rPr lang="en-US" sz="1200" b="0" i="0" kern="1200" dirty="0">
                <a:solidFill>
                  <a:schemeClr val="tx1"/>
                </a:solidFill>
                <a:effectLst/>
                <a:latin typeface="+mn-lt"/>
                <a:ea typeface="+mn-ea"/>
                <a:cs typeface="+mn-cs"/>
              </a:rPr>
              <a:t>Balance your body's acid/base (pH) level</a:t>
            </a:r>
          </a:p>
          <a:p>
            <a:pPr fontAlgn="base"/>
            <a:r>
              <a:rPr lang="en-US" sz="1200" b="0" i="0" kern="1200" dirty="0">
                <a:solidFill>
                  <a:schemeClr val="tx1"/>
                </a:solidFill>
                <a:effectLst/>
                <a:latin typeface="+mn-lt"/>
                <a:ea typeface="+mn-ea"/>
                <a:cs typeface="+mn-cs"/>
              </a:rPr>
              <a:t>Move nutrients into your cells</a:t>
            </a:r>
          </a:p>
          <a:p>
            <a:pPr fontAlgn="base"/>
            <a:r>
              <a:rPr lang="en-US" sz="1200" b="0" i="0" kern="1200" dirty="0">
                <a:solidFill>
                  <a:schemeClr val="tx1"/>
                </a:solidFill>
                <a:effectLst/>
                <a:latin typeface="+mn-lt"/>
                <a:ea typeface="+mn-ea"/>
                <a:cs typeface="+mn-cs"/>
              </a:rPr>
              <a:t>Move wastes out of your cells</a:t>
            </a:r>
          </a:p>
          <a:p>
            <a:pPr fontAlgn="base"/>
            <a:r>
              <a:rPr lang="en-US" sz="1200" b="0" i="0" kern="1200" dirty="0">
                <a:solidFill>
                  <a:schemeClr val="tx1"/>
                </a:solidFill>
                <a:effectLst/>
                <a:latin typeface="+mn-lt"/>
                <a:ea typeface="+mn-ea"/>
                <a:cs typeface="+mn-cs"/>
              </a:rPr>
              <a:t>Make sure that your nerves, muscles, the heart, and the brain work the way they should</a:t>
            </a:r>
          </a:p>
          <a:p>
            <a:pPr fontAlgn="base"/>
            <a:endParaRPr lang="en-US" sz="1200" b="0" i="0" kern="1200" dirty="0">
              <a:solidFill>
                <a:schemeClr val="tx1"/>
              </a:solidFill>
              <a:effectLst/>
              <a:latin typeface="+mn-lt"/>
              <a:ea typeface="+mn-ea"/>
              <a:cs typeface="+mn-cs"/>
            </a:endParaRPr>
          </a:p>
          <a:p>
            <a:pPr fontAlgn="base"/>
            <a:r>
              <a:rPr lang="en-US" sz="1200" b="1" i="0" u="none" strike="noStrike" kern="1200" dirty="0">
                <a:solidFill>
                  <a:schemeClr val="tx1"/>
                </a:solidFill>
                <a:effectLst/>
                <a:latin typeface="+mn-lt"/>
                <a:ea typeface="+mn-ea"/>
                <a:cs typeface="+mn-cs"/>
                <a:hlinkClick r:id="rId4"/>
              </a:rPr>
              <a:t>Sodium</a:t>
            </a:r>
            <a:r>
              <a:rPr lang="en-US" sz="1200" b="1" i="0"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hlinkClick r:id="rId5"/>
              </a:rPr>
              <a:t>calcium</a:t>
            </a:r>
            <a:r>
              <a:rPr lang="en-US" sz="1200" b="1" i="0"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hlinkClick r:id="rId6"/>
              </a:rPr>
              <a:t>potassium</a:t>
            </a:r>
            <a:r>
              <a:rPr lang="en-US" sz="1200" b="1" i="0" kern="1200" dirty="0">
                <a:solidFill>
                  <a:schemeClr val="tx1"/>
                </a:solidFill>
                <a:effectLst/>
                <a:latin typeface="+mn-lt"/>
                <a:ea typeface="+mn-ea"/>
                <a:cs typeface="+mn-cs"/>
              </a:rPr>
              <a:t>, chloride, phosphate, and magnesium are all electrolytes</a:t>
            </a:r>
            <a:r>
              <a:rPr lang="en-US" sz="1200" b="0" i="0" kern="1200" dirty="0">
                <a:solidFill>
                  <a:schemeClr val="tx1"/>
                </a:solidFill>
                <a:effectLst/>
                <a:latin typeface="+mn-lt"/>
                <a:ea typeface="+mn-ea"/>
                <a:cs typeface="+mn-cs"/>
              </a:rPr>
              <a:t>. You get them from the foods you eat and the fluids you drink.</a:t>
            </a:r>
          </a:p>
          <a:p>
            <a:pPr fontAlgn="base"/>
            <a:r>
              <a:rPr lang="en-US" sz="1200" b="0" i="0" kern="1200" dirty="0">
                <a:solidFill>
                  <a:schemeClr val="tx1"/>
                </a:solidFill>
                <a:effectLst/>
                <a:latin typeface="+mn-lt"/>
                <a:ea typeface="+mn-ea"/>
                <a:cs typeface="+mn-cs"/>
              </a:rPr>
              <a:t>The levels of electrolytes in your body can become too low or too high. This can happen when the amount of water in your body changes. The amount of water that you take in should equal the amount you lose. If something upsets this balance, you may have too little water (</a:t>
            </a:r>
            <a:r>
              <a:rPr lang="en-US" sz="1200" b="0" i="0" u="none" strike="noStrike" kern="1200" dirty="0">
                <a:solidFill>
                  <a:schemeClr val="tx1"/>
                </a:solidFill>
                <a:effectLst/>
                <a:latin typeface="+mn-lt"/>
                <a:ea typeface="+mn-ea"/>
                <a:cs typeface="+mn-cs"/>
                <a:hlinkClick r:id="rId7"/>
              </a:rPr>
              <a:t>dehydration</a:t>
            </a:r>
            <a:r>
              <a:rPr lang="en-US" sz="1200" b="0" i="0" kern="1200" dirty="0">
                <a:solidFill>
                  <a:schemeClr val="tx1"/>
                </a:solidFill>
                <a:effectLst/>
                <a:latin typeface="+mn-lt"/>
                <a:ea typeface="+mn-ea"/>
                <a:cs typeface="+mn-cs"/>
              </a:rPr>
              <a:t>) or too much water (overhydration). Some medicines, vomiting, diarrhea, sweating, and liver or kidney problems can all upset your water balance.</a:t>
            </a:r>
          </a:p>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11</a:t>
            </a:fld>
            <a:endParaRPr lang="en-US"/>
          </a:p>
        </p:txBody>
      </p:sp>
    </p:spTree>
    <p:extLst>
      <p:ext uri="{BB962C8B-B14F-4D97-AF65-F5344CB8AC3E}">
        <p14:creationId xmlns:p14="http://schemas.microsoft.com/office/powerpoint/2010/main" val="4250855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600" dirty="0">
                <a:latin typeface="Arial Rounded MT Bold" pitchFamily="34" charset="0"/>
              </a:rPr>
              <a:t>Structural role: </a:t>
            </a:r>
            <a:r>
              <a:rPr lang="en-US" sz="2400" b="0" i="0" dirty="0">
                <a:solidFill>
                  <a:srgbClr val="202124"/>
                </a:solidFill>
                <a:effectLst/>
                <a:latin typeface="Roboto" panose="02000000000000000000" pitchFamily="2" charset="0"/>
              </a:rPr>
              <a:t>They </a:t>
            </a:r>
            <a:r>
              <a:rPr lang="en-US" sz="2400" b="1" i="0" dirty="0">
                <a:solidFill>
                  <a:srgbClr val="202124"/>
                </a:solidFill>
                <a:effectLst/>
                <a:latin typeface="Roboto" panose="02000000000000000000" pitchFamily="2" charset="0"/>
              </a:rPr>
              <a:t>serve as regulatory agents in cell growth and adhesion</a:t>
            </a:r>
            <a:r>
              <a:rPr lang="en-US" sz="2400" b="0" i="0" dirty="0">
                <a:solidFill>
                  <a:srgbClr val="202124"/>
                </a:solidFill>
                <a:effectLst/>
                <a:latin typeface="Roboto" panose="02000000000000000000" pitchFamily="2" charset="0"/>
              </a:rPr>
              <a:t>.</a:t>
            </a:r>
          </a:p>
          <a:p>
            <a:r>
              <a:rPr lang="en-US" sz="2400" b="0" i="0" dirty="0">
                <a:solidFill>
                  <a:srgbClr val="202124"/>
                </a:solidFill>
                <a:effectLst/>
                <a:latin typeface="Roboto" panose="02000000000000000000" pitchFamily="2" charset="0"/>
              </a:rPr>
              <a:t>Transport role: Lipids are insoluble in water (oils / fat), must be transported with proteins to deliver fatty acids</a:t>
            </a:r>
            <a:endParaRPr lang="en-US" sz="1600" dirty="0">
              <a:latin typeface="Arial Rounded MT Bold" pitchFamily="34" charset="0"/>
            </a:endParaRPr>
          </a:p>
          <a:p>
            <a:endParaRPr lang="en-US" sz="1600" dirty="0">
              <a:latin typeface="Arial Rounded MT Bold" pitchFamily="34" charset="0"/>
            </a:endParaRPr>
          </a:p>
          <a:p>
            <a:r>
              <a:rPr lang="en-US" sz="1600" dirty="0">
                <a:latin typeface="Arial Rounded MT Bold" pitchFamily="34" charset="0"/>
              </a:rPr>
              <a:t>Lipid examples: </a:t>
            </a:r>
            <a:r>
              <a:rPr lang="en-US" sz="1200" b="0" i="0" kern="1200" dirty="0">
                <a:solidFill>
                  <a:schemeClr val="tx1"/>
                </a:solidFill>
                <a:effectLst/>
                <a:latin typeface="+mn-lt"/>
                <a:ea typeface="+mn-ea"/>
                <a:cs typeface="+mn-cs"/>
              </a:rPr>
              <a:t>Foods high in lipids include </a:t>
            </a:r>
            <a:r>
              <a:rPr lang="en-US" sz="1200" b="1" i="0" kern="1200" dirty="0">
                <a:solidFill>
                  <a:schemeClr val="tx1"/>
                </a:solidFill>
                <a:effectLst/>
                <a:latin typeface="+mn-lt"/>
                <a:ea typeface="+mn-ea"/>
                <a:cs typeface="+mn-cs"/>
              </a:rPr>
              <a:t>oils, meats, poultry, oily fish, chocolate, dairy, nuts and seeds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waxes, oils, sterols, cholesterol, fat-soluble vitamins, monoglycerides, diglycerides, triglycerides (fats), and phospholipids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Good</a:t>
            </a:r>
            <a:r>
              <a:rPr lang="en-US" sz="1200" b="0" i="0" kern="1200" dirty="0">
                <a:solidFill>
                  <a:schemeClr val="tx1"/>
                </a:solidFill>
                <a:effectLst/>
                <a:latin typeface="+mn-lt"/>
                <a:ea typeface="+mn-ea"/>
                <a:cs typeface="+mn-cs"/>
              </a:rPr>
              <a:t> lipids activate genes that burn calories, increase metabolism and improve insulin activity.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Bad</a:t>
            </a:r>
            <a:r>
              <a:rPr lang="en-US" sz="1200" b="0" i="0" kern="1200" dirty="0">
                <a:solidFill>
                  <a:schemeClr val="tx1"/>
                </a:solidFill>
                <a:effectLst/>
                <a:latin typeface="+mn-lt"/>
                <a:ea typeface="+mn-ea"/>
                <a:cs typeface="+mn-cs"/>
              </a:rPr>
              <a:t> lipids have the opposite effect, slow metabolism and poor insulin activity.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Labs: Cholesterol or Lipid profile or lipid panel is a panel of blood tests that serves as an initial screening tool for abnormalities in lipids , such as cholesterol and triglycerides. Factors such as your age, sex, and genetics, lifestyle, including your diet, level of physical activity, level of diabetes control, and smoking status. Diabetes, hypothyroidism, alcoholism, kidney disease, liver disease and stress.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Total Cholesterol, Triglycerides, High Density Lipoproteins</a:t>
            </a:r>
            <a:r>
              <a:rPr lang="en-US" sz="1200" b="0" i="0" kern="1200" dirty="0">
                <a:solidFill>
                  <a:schemeClr val="tx1"/>
                </a:solidFill>
                <a:effectLst/>
                <a:latin typeface="+mn-lt"/>
                <a:ea typeface="+mn-ea"/>
                <a:cs typeface="+mn-cs"/>
              </a:rPr>
              <a:t> (HDL also called "good cholesterol"), </a:t>
            </a:r>
            <a:r>
              <a:rPr lang="en-US" sz="1200" b="0" i="0" u="none" strike="noStrike" kern="1200" dirty="0">
                <a:solidFill>
                  <a:schemeClr val="tx1"/>
                </a:solidFill>
                <a:effectLst/>
                <a:latin typeface="+mn-lt"/>
                <a:ea typeface="+mn-ea"/>
                <a:cs typeface="+mn-cs"/>
              </a:rPr>
              <a:t>Low Density Lipoproteins</a:t>
            </a:r>
            <a:r>
              <a:rPr lang="en-US" sz="1200" b="0" i="0" kern="1200" dirty="0">
                <a:solidFill>
                  <a:schemeClr val="tx1"/>
                </a:solidFill>
                <a:effectLst/>
                <a:latin typeface="+mn-lt"/>
                <a:ea typeface="+mn-ea"/>
                <a:cs typeface="+mn-cs"/>
              </a:rPr>
              <a:t> (LDL also called "bad cholesterol"), a ratio of Total Cholesterol to HDL and an estimated risk factor.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p>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12</a:t>
            </a:fld>
            <a:endParaRPr lang="en-US"/>
          </a:p>
        </p:txBody>
      </p:sp>
    </p:spTree>
    <p:extLst>
      <p:ext uri="{BB962C8B-B14F-4D97-AF65-F5344CB8AC3E}">
        <p14:creationId xmlns:p14="http://schemas.microsoft.com/office/powerpoint/2010/main" val="3236412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Iron: </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oxygen transport, energy production</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DNA</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synthesis</a:t>
            </a:r>
            <a:r>
              <a:rPr lang="en-US" sz="1200" b="0" i="0" u="none" strike="noStrik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Hemoglobin</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a:extLst>
                    <a:ext uri="{A12FA001-AC4F-418D-AE19-62706E023703}">
                      <ahyp:hlinkClr xmlns:ahyp="http://schemas.microsoft.com/office/drawing/2018/hyperlinkcolor" val="tx"/>
                    </a:ext>
                  </a:extLst>
                </a:hlinkClick>
              </a:rPr>
              <a:t>myoglobin</a:t>
            </a:r>
            <a:r>
              <a:rPr lang="en-US" sz="1200" b="0" i="0" u="none" strike="noStrike" kern="1200" dirty="0">
                <a:solidFill>
                  <a:schemeClr val="tx1"/>
                </a:solidFill>
                <a:effectLst/>
                <a:latin typeface="+mn-lt"/>
                <a:ea typeface="+mn-ea"/>
                <a:cs typeface="+mn-cs"/>
              </a:rPr>
              <a:t>. L</a:t>
            </a:r>
            <a:r>
              <a:rPr lang="en-US" sz="1200" b="0" i="0" kern="1200" dirty="0">
                <a:solidFill>
                  <a:schemeClr val="tx1"/>
                </a:solidFill>
                <a:effectLst/>
                <a:latin typeface="+mn-lt"/>
                <a:ea typeface="+mn-ea"/>
                <a:cs typeface="+mn-cs"/>
              </a:rPr>
              <a:t>aboratory tests that measure </a:t>
            </a:r>
            <a:r>
              <a:rPr lang="en-US" sz="1200" b="0" i="0" u="none" strike="noStrike" kern="1200" dirty="0">
                <a:solidFill>
                  <a:schemeClr val="tx1"/>
                </a:solidFill>
                <a:effectLst/>
                <a:latin typeface="+mn-lt"/>
                <a:ea typeface="+mn-ea"/>
                <a:cs typeface="+mn-cs"/>
                <a:hlinkClick r:id="rId7"/>
              </a:rPr>
              <a:t>serum</a:t>
            </a:r>
            <a:r>
              <a:rPr lang="en-US" sz="1200" b="0" i="0" kern="1200" dirty="0">
                <a:solidFill>
                  <a:schemeClr val="tx1"/>
                </a:solidFill>
                <a:effectLst/>
                <a:latin typeface="+mn-lt"/>
                <a:ea typeface="+mn-ea"/>
                <a:cs typeface="+mn-cs"/>
              </a:rPr>
              <a:t> ferritin (iron-storage protein), serum iron, total iron binding capacity (TIBC) , saturation of transferrin (the main iron carrier in blood),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Vitamin A: two types of vitamin A – </a:t>
            </a:r>
            <a:r>
              <a:rPr lang="en-US" sz="1200" b="1" i="0" kern="1200" dirty="0">
                <a:solidFill>
                  <a:schemeClr val="tx1"/>
                </a:solidFill>
                <a:effectLst/>
                <a:latin typeface="+mn-lt"/>
                <a:ea typeface="+mn-ea"/>
                <a:cs typeface="+mn-cs"/>
              </a:rPr>
              <a:t>retinol and beta-carotene</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Regulates the immune system</a:t>
            </a:r>
            <a:r>
              <a:rPr lang="en-US" sz="1200" b="0" i="0" kern="1200" dirty="0">
                <a:solidFill>
                  <a:schemeClr val="tx1"/>
                </a:solidFill>
                <a:effectLst/>
                <a:latin typeface="+mn-lt"/>
                <a:ea typeface="+mn-ea"/>
                <a:cs typeface="+mn-cs"/>
              </a:rPr>
              <a:t>. It helps regulate the immune system by vitamin A may help </a:t>
            </a:r>
            <a:r>
              <a:rPr lang="en-US" sz="1200" b="0" i="0" u="none" strike="noStrike" kern="1200" dirty="0">
                <a:solidFill>
                  <a:schemeClr val="tx1"/>
                </a:solidFill>
                <a:effectLst/>
                <a:latin typeface="+mn-lt"/>
                <a:ea typeface="+mn-ea"/>
                <a:cs typeface="+mn-cs"/>
              </a:rPr>
              <a:t>lymphocytes</a:t>
            </a:r>
            <a:r>
              <a:rPr lang="en-US" sz="1200" b="0" i="0" kern="1200" dirty="0">
                <a:solidFill>
                  <a:schemeClr val="tx1"/>
                </a:solidFill>
                <a:effectLst/>
                <a:latin typeface="+mn-lt"/>
                <a:ea typeface="+mn-ea"/>
                <a:cs typeface="+mn-cs"/>
              </a:rPr>
              <a:t>, a type of white blood cell that fights infections, function more effectively.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Vitamin D: </a:t>
            </a:r>
            <a:r>
              <a:rPr lang="en-US" sz="1200" b="1" i="0" kern="1200" dirty="0">
                <a:solidFill>
                  <a:schemeClr val="tx1"/>
                </a:solidFill>
                <a:effectLst/>
                <a:latin typeface="+mn-lt"/>
                <a:ea typeface="+mn-ea"/>
                <a:cs typeface="+mn-cs"/>
              </a:rPr>
              <a:t>regulate the immune system and the neuromuscular system</a:t>
            </a:r>
            <a:r>
              <a:rPr lang="en-US" sz="1200" b="0" i="0" kern="1200" dirty="0">
                <a:solidFill>
                  <a:schemeClr val="tx1"/>
                </a:solidFill>
                <a:effectLst/>
                <a:latin typeface="+mn-lt"/>
                <a:ea typeface="+mn-ea"/>
                <a:cs typeface="+mn-cs"/>
              </a:rPr>
              <a:t>. Vitamin D also plays major roles in the life cycle of human cells. Vitamin D is so important that your body makes it by itself -- but only after skin exposure to sufficient sunlight.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Iodine: most important role is to </a:t>
            </a:r>
            <a:r>
              <a:rPr lang="en-US" sz="1200" b="1" i="0" kern="1200" dirty="0">
                <a:solidFill>
                  <a:schemeClr val="tx1"/>
                </a:solidFill>
                <a:effectLst/>
                <a:latin typeface="+mn-lt"/>
                <a:ea typeface="+mn-ea"/>
                <a:cs typeface="+mn-cs"/>
              </a:rPr>
              <a:t>ensure proper thyroid function</a:t>
            </a:r>
            <a:r>
              <a:rPr lang="en-US" sz="1200" b="0" i="0" kern="1200" dirty="0">
                <a:solidFill>
                  <a:schemeClr val="tx1"/>
                </a:solidFill>
                <a:effectLst/>
                <a:latin typeface="+mn-lt"/>
                <a:ea typeface="+mn-ea"/>
                <a:cs typeface="+mn-cs"/>
              </a:rPr>
              <a:t>. It helps to regulate the production of the thyroid hormones thyroxine (T4) and triiodothyronine (T3). Getting enough iodine is essential for preventing low thyroid hormone production and hypothyroidism.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Folate: Folate (vitamin B-9) is </a:t>
            </a:r>
            <a:r>
              <a:rPr lang="en-US" sz="1200" b="1" i="0" kern="1200" dirty="0">
                <a:solidFill>
                  <a:schemeClr val="tx1"/>
                </a:solidFill>
                <a:effectLst/>
                <a:latin typeface="+mn-lt"/>
                <a:ea typeface="+mn-ea"/>
                <a:cs typeface="+mn-cs"/>
              </a:rPr>
              <a:t>important in red blood cell formation</a:t>
            </a:r>
            <a:r>
              <a:rPr lang="en-US" sz="1200" b="0" i="0" kern="1200" dirty="0">
                <a:solidFill>
                  <a:schemeClr val="tx1"/>
                </a:solidFill>
                <a:effectLst/>
                <a:latin typeface="+mn-lt"/>
                <a:ea typeface="+mn-ea"/>
                <a:cs typeface="+mn-cs"/>
              </a:rPr>
              <a:t> and for healthy cell growth and function. The nutrient is crucial during early pregnancy to reduce the risk of birth defects of the brain and spine.  USDA recommends that women of child bearing age consume 200mcg of folic acid a day.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Zinc: is essential for cell growth and division, immune function, enzyme reactions, DNA synthesis and protein production.</a:t>
            </a:r>
          </a:p>
          <a:p>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13</a:t>
            </a:fld>
            <a:endParaRPr lang="en-US"/>
          </a:p>
        </p:txBody>
      </p:sp>
    </p:spTree>
    <p:extLst>
      <p:ext uri="{BB962C8B-B14F-4D97-AF65-F5344CB8AC3E}">
        <p14:creationId xmlns:p14="http://schemas.microsoft.com/office/powerpoint/2010/main" val="2221249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14</a:t>
            </a:fld>
            <a:endParaRPr lang="en-US"/>
          </a:p>
        </p:txBody>
      </p:sp>
    </p:spTree>
    <p:extLst>
      <p:ext uri="{BB962C8B-B14F-4D97-AF65-F5344CB8AC3E}">
        <p14:creationId xmlns:p14="http://schemas.microsoft.com/office/powerpoint/2010/main" val="1649777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liver stores the minerals iron and copper; the fat-soluble vitamins A, D, E, and K; and the water-soluble vitamin B</a:t>
            </a:r>
            <a:r>
              <a:rPr lang="en-US" sz="1200" b="0" i="0" kern="1200" baseline="-25000" dirty="0">
                <a:solidFill>
                  <a:schemeClr val="tx1"/>
                </a:solidFill>
                <a:effectLst/>
                <a:latin typeface="+mn-lt"/>
                <a:ea typeface="+mn-ea"/>
                <a:cs typeface="+mn-cs"/>
              </a:rPr>
              <a:t>12</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dirty="0"/>
              <a:t>Major minerals: </a:t>
            </a:r>
            <a:r>
              <a:rPr lang="en-US" sz="1200" b="0" i="0" kern="1200" dirty="0">
                <a:solidFill>
                  <a:schemeClr val="tx1"/>
                </a:solidFill>
                <a:effectLst/>
                <a:latin typeface="+mn-lt"/>
                <a:ea typeface="+mn-ea"/>
                <a:cs typeface="+mn-cs"/>
              </a:rPr>
              <a:t>One of the key tasks of major minerals is </a:t>
            </a:r>
            <a:r>
              <a:rPr lang="en-US" sz="1200" b="1" i="0" kern="1200" dirty="0">
                <a:solidFill>
                  <a:schemeClr val="tx1"/>
                </a:solidFill>
                <a:effectLst/>
                <a:latin typeface="+mn-lt"/>
                <a:ea typeface="+mn-ea"/>
                <a:cs typeface="+mn-cs"/>
              </a:rPr>
              <a:t>to maintain the proper balance of water in the body</a:t>
            </a:r>
            <a:r>
              <a:rPr lang="en-US" sz="1200" b="0" i="0" kern="1200" dirty="0">
                <a:solidFill>
                  <a:schemeClr val="tx1"/>
                </a:solidFill>
                <a:effectLst/>
                <a:latin typeface="+mn-lt"/>
                <a:ea typeface="+mn-ea"/>
                <a:cs typeface="+mn-cs"/>
              </a:rPr>
              <a:t>. Sodium, chloride, and potassium take the lead in doing this. Three other major minerals—calcium, phosphorus, and magnesium—are important for healthy bones.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Minor minerals: building strong bones to transmitting nerve impulses. Some minerals are even used to make hormones or maintain a normal heartbeat.</a:t>
            </a:r>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15</a:t>
            </a:fld>
            <a:endParaRPr lang="en-US"/>
          </a:p>
        </p:txBody>
      </p:sp>
    </p:spTree>
    <p:extLst>
      <p:ext uri="{BB962C8B-B14F-4D97-AF65-F5344CB8AC3E}">
        <p14:creationId xmlns:p14="http://schemas.microsoft.com/office/powerpoint/2010/main" val="85390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Water-soluble vitamins: </a:t>
            </a:r>
            <a:r>
              <a:rPr lang="en-US" sz="1200" b="0" i="0" kern="1200" dirty="0">
                <a:solidFill>
                  <a:schemeClr val="tx1"/>
                </a:solidFill>
                <a:effectLst/>
                <a:latin typeface="+mn-lt"/>
                <a:ea typeface="+mn-ea"/>
                <a:cs typeface="+mn-cs"/>
              </a:rPr>
              <a:t>Water-soluble vitamins are carried to the body's tissues but are not stored in the body. </a:t>
            </a:r>
            <a:r>
              <a:rPr lang="en-US" sz="1200" b="1" i="0" kern="1200" dirty="0">
                <a:solidFill>
                  <a:schemeClr val="tx1"/>
                </a:solidFill>
                <a:effectLst/>
                <a:latin typeface="+mn-lt"/>
                <a:ea typeface="+mn-ea"/>
                <a:cs typeface="+mn-cs"/>
              </a:rPr>
              <a:t>Helps promote cardiovascular and eye health</a:t>
            </a:r>
            <a:r>
              <a:rPr lang="en-US" sz="1200" b="0" i="0" kern="1200" dirty="0">
                <a:solidFill>
                  <a:schemeClr val="tx1"/>
                </a:solidFill>
                <a:effectLst/>
                <a:latin typeface="+mn-lt"/>
                <a:ea typeface="+mn-ea"/>
                <a:cs typeface="+mn-cs"/>
              </a:rPr>
              <a:t>, and ward off wrinkles and the signs of aging skin. THIAMIN HCL (Vitamin B1) The body needs B1 to convert food into energy, and for DNA and RNA to work together.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Fat-soluble vitamins: The fat-soluble vitamins are A, D, E, and K. Being fat soluble means that </a:t>
            </a:r>
            <a:r>
              <a:rPr lang="en-US" sz="1200" b="1" i="0" kern="1200" dirty="0">
                <a:solidFill>
                  <a:schemeClr val="tx1"/>
                </a:solidFill>
                <a:effectLst/>
                <a:latin typeface="+mn-lt"/>
                <a:ea typeface="+mn-ea"/>
                <a:cs typeface="+mn-cs"/>
              </a:rPr>
              <a:t>they are absorbed in the lymph, are transported in the blood with carrier proteins</a:t>
            </a:r>
            <a:r>
              <a:rPr lang="en-US" sz="1200" b="0" i="0" kern="1200" dirty="0">
                <a:solidFill>
                  <a:schemeClr val="tx1"/>
                </a:solidFill>
                <a:effectLst/>
                <a:latin typeface="+mn-lt"/>
                <a:ea typeface="+mn-ea"/>
                <a:cs typeface="+mn-cs"/>
              </a:rPr>
              <a:t>, and they can be stored in the liver and fatty tissues.</a:t>
            </a:r>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16</a:t>
            </a:fld>
            <a:endParaRPr lang="en-US"/>
          </a:p>
        </p:txBody>
      </p:sp>
    </p:spTree>
    <p:extLst>
      <p:ext uri="{BB962C8B-B14F-4D97-AF65-F5344CB8AC3E}">
        <p14:creationId xmlns:p14="http://schemas.microsoft.com/office/powerpoint/2010/main" val="185841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17</a:t>
            </a:fld>
            <a:endParaRPr lang="en-US"/>
          </a:p>
        </p:txBody>
      </p:sp>
    </p:spTree>
    <p:extLst>
      <p:ext uri="{BB962C8B-B14F-4D97-AF65-F5344CB8AC3E}">
        <p14:creationId xmlns:p14="http://schemas.microsoft.com/office/powerpoint/2010/main" val="1991546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Estimated Average Requirement </a:t>
            </a:r>
            <a:r>
              <a:rPr lang="en-US" sz="1600" b="1" dirty="0"/>
              <a:t>(EAR)</a:t>
            </a:r>
            <a:r>
              <a:rPr lang="en-US" sz="1600" dirty="0"/>
              <a:t>: </a:t>
            </a:r>
            <a:r>
              <a:rPr lang="en-US" sz="1200" b="0" i="0" kern="1200" dirty="0">
                <a:solidFill>
                  <a:schemeClr val="tx1"/>
                </a:solidFill>
                <a:effectLst/>
                <a:latin typeface="+mn-lt"/>
                <a:ea typeface="+mn-ea"/>
                <a:cs typeface="+mn-cs"/>
              </a:rPr>
              <a:t>defined as </a:t>
            </a:r>
            <a:r>
              <a:rPr lang="en-US" sz="1200" b="1" i="0" kern="1200" dirty="0">
                <a:solidFill>
                  <a:schemeClr val="tx1"/>
                </a:solidFill>
                <a:effectLst/>
                <a:latin typeface="+mn-lt"/>
                <a:ea typeface="+mn-ea"/>
                <a:cs typeface="+mn-cs"/>
              </a:rPr>
              <a:t>the average daily nutrient intake that is estimated to meet the requirements of 50% of the healthy individuals in a life stage and gender group</a:t>
            </a:r>
            <a:r>
              <a:rPr lang="en-US" sz="1200" b="0" i="0" kern="1200" dirty="0">
                <a:solidFill>
                  <a:schemeClr val="tx1"/>
                </a:solidFill>
                <a:effectLst/>
                <a:latin typeface="+mn-lt"/>
                <a:ea typeface="+mn-ea"/>
                <a:cs typeface="+mn-cs"/>
              </a:rPr>
              <a:t>.</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Recommended Dietary Allowances </a:t>
            </a:r>
            <a:r>
              <a:rPr lang="en-US" sz="1600" b="1" dirty="0"/>
              <a:t>(RDAs)</a:t>
            </a:r>
            <a:r>
              <a:rPr lang="en-US" sz="1600" dirty="0"/>
              <a:t>: </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average daily level of intake sufficient to meet the nutrient requirements of nearly all (97%-98%) healthy people.</a:t>
            </a:r>
            <a:endParaRPr lang="en-US" sz="16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Adequate Intake </a:t>
            </a:r>
            <a:r>
              <a:rPr lang="en-US" sz="1600" b="1" dirty="0"/>
              <a:t>(AI): </a:t>
            </a:r>
            <a:r>
              <a:rPr lang="en-US" sz="1200" b="0" i="0" kern="1200" dirty="0">
                <a:solidFill>
                  <a:schemeClr val="tx1"/>
                </a:solidFill>
                <a:effectLst/>
                <a:latin typeface="+mn-lt"/>
                <a:ea typeface="+mn-ea"/>
                <a:cs typeface="+mn-cs"/>
              </a:rPr>
              <a:t>The </a:t>
            </a:r>
            <a:r>
              <a:rPr lang="en-US" sz="1200" b="0" i="0" kern="1200" dirty="0">
                <a:solidFill>
                  <a:schemeClr val="tx1"/>
                </a:solidFill>
                <a:effectLst/>
                <a:latin typeface="+mn-lt"/>
                <a:ea typeface="+mn-ea"/>
                <a:cs typeface="+mn-cs"/>
                <a:hlinkClick r:id="rId3"/>
              </a:rPr>
              <a:t>AI</a:t>
            </a:r>
            <a:r>
              <a:rPr lang="en-US" sz="1200" b="0" i="0" kern="1200" dirty="0">
                <a:solidFill>
                  <a:schemeClr val="tx1"/>
                </a:solidFill>
                <a:effectLst/>
                <a:latin typeface="+mn-lt"/>
                <a:ea typeface="+mn-ea"/>
                <a:cs typeface="+mn-cs"/>
              </a:rPr>
              <a:t> is a recommended average daily nutrient intake level, based on experimentally derived intake levels or approximations of observed mean nutrient intake by a group (or groups) of apparently healthy people that are assumed to be adequate.</a:t>
            </a:r>
            <a:endParaRPr lang="en-US" sz="160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Tolerable upper limits </a:t>
            </a:r>
            <a:r>
              <a:rPr lang="en-US" sz="1600" b="1" dirty="0"/>
              <a:t>(UL</a:t>
            </a:r>
            <a:r>
              <a:rPr lang="en-US" sz="1600" dirty="0"/>
              <a:t>): </a:t>
            </a:r>
            <a:r>
              <a:rPr lang="en-US" sz="1200" b="1" i="0" kern="1200" dirty="0">
                <a:solidFill>
                  <a:schemeClr val="tx1"/>
                </a:solidFill>
                <a:effectLst/>
                <a:latin typeface="+mn-lt"/>
                <a:ea typeface="+mn-ea"/>
                <a:cs typeface="+mn-cs"/>
              </a:rPr>
              <a:t>The highest level of nutrient intake that is likely to pose no risk of adverse health effects for almost all individuals</a:t>
            </a:r>
            <a:r>
              <a:rPr lang="en-US" sz="1200" b="0" i="0" kern="1200" dirty="0">
                <a:solidFill>
                  <a:schemeClr val="tx1"/>
                </a:solidFill>
                <a:effectLst/>
                <a:latin typeface="+mn-lt"/>
                <a:ea typeface="+mn-ea"/>
                <a:cs typeface="+mn-cs"/>
              </a:rPr>
              <a:t> in the general population. As intake increases above the UL, the risk of adverse effects increases.</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18</a:t>
            </a:fld>
            <a:endParaRPr lang="en-US"/>
          </a:p>
        </p:txBody>
      </p:sp>
    </p:spTree>
    <p:extLst>
      <p:ext uri="{BB962C8B-B14F-4D97-AF65-F5344CB8AC3E}">
        <p14:creationId xmlns:p14="http://schemas.microsoft.com/office/powerpoint/2010/main" val="498790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19</a:t>
            </a:fld>
            <a:endParaRPr lang="en-US"/>
          </a:p>
        </p:txBody>
      </p:sp>
    </p:spTree>
    <p:extLst>
      <p:ext uri="{BB962C8B-B14F-4D97-AF65-F5344CB8AC3E}">
        <p14:creationId xmlns:p14="http://schemas.microsoft.com/office/powerpoint/2010/main" val="14327293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latin typeface="Arial Rounded MT Bold" pitchFamily="34" charset="0"/>
              </a:rPr>
              <a:t>Page 103 Maternal Child text</a:t>
            </a:r>
          </a:p>
          <a:p>
            <a:endParaRPr lang="en-US" sz="1600" dirty="0">
              <a:latin typeface="Arial Rounded MT Bold" pitchFamily="34" charset="0"/>
            </a:endParaRPr>
          </a:p>
          <a:p>
            <a:r>
              <a:rPr lang="en-US" sz="1600" dirty="0">
                <a:latin typeface="Arial Rounded MT Bold" pitchFamily="34" charset="0"/>
              </a:rPr>
              <a:t>Page 445 of the Fundamentals Text</a:t>
            </a:r>
          </a:p>
        </p:txBody>
      </p:sp>
      <p:sp>
        <p:nvSpPr>
          <p:cNvPr id="4" name="Slide Number Placeholder 3"/>
          <p:cNvSpPr>
            <a:spLocks noGrp="1"/>
          </p:cNvSpPr>
          <p:nvPr>
            <p:ph type="sldNum" sz="quarter" idx="10"/>
          </p:nvPr>
        </p:nvSpPr>
        <p:spPr/>
        <p:txBody>
          <a:bodyPr/>
          <a:lstStyle/>
          <a:p>
            <a:fld id="{AF74327D-7E57-4587-91EC-425CBC1DB777}" type="slidenum">
              <a:rPr lang="en-US" smtClean="0"/>
              <a:pPr/>
              <a:t>20</a:t>
            </a:fld>
            <a:endParaRPr lang="en-US"/>
          </a:p>
        </p:txBody>
      </p:sp>
    </p:spTree>
    <p:extLst>
      <p:ext uri="{BB962C8B-B14F-4D97-AF65-F5344CB8AC3E}">
        <p14:creationId xmlns:p14="http://schemas.microsoft.com/office/powerpoint/2010/main" val="8231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21</a:t>
            </a:fld>
            <a:endParaRPr lang="en-US"/>
          </a:p>
        </p:txBody>
      </p:sp>
    </p:spTree>
    <p:extLst>
      <p:ext uri="{BB962C8B-B14F-4D97-AF65-F5344CB8AC3E}">
        <p14:creationId xmlns:p14="http://schemas.microsoft.com/office/powerpoint/2010/main" val="2085581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Rounded MT Bold" pitchFamily="34" charset="0"/>
              </a:rPr>
              <a:t>Page 104.  I updated the protein and Folic Acid numbers.  Those are wrong on your copy of the power point.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22</a:t>
            </a:fld>
            <a:endParaRPr lang="en-US"/>
          </a:p>
        </p:txBody>
      </p:sp>
    </p:spTree>
    <p:extLst>
      <p:ext uri="{BB962C8B-B14F-4D97-AF65-F5344CB8AC3E}">
        <p14:creationId xmlns:p14="http://schemas.microsoft.com/office/powerpoint/2010/main" val="1007740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err="1">
                <a:latin typeface="Arial Rounded MT Bold" pitchFamily="34" charset="0"/>
              </a:rPr>
              <a:t>Pg</a:t>
            </a:r>
            <a:r>
              <a:rPr lang="en-US" sz="1400" dirty="0">
                <a:latin typeface="Arial Rounded MT Bold" pitchFamily="34" charset="0"/>
              </a:rPr>
              <a:t> 270 Maternal Child text</a:t>
            </a:r>
          </a:p>
          <a:p>
            <a:endParaRPr lang="en-US" sz="1400" dirty="0">
              <a:latin typeface="Arial Rounded MT Bold" pitchFamily="34" charset="0"/>
            </a:endParaRPr>
          </a:p>
          <a:p>
            <a:r>
              <a:rPr lang="en-US" sz="1400" dirty="0">
                <a:latin typeface="Arial Rounded MT Bold" pitchFamily="34" charset="0"/>
              </a:rPr>
              <a:t>500 kcal additional per day for mother’s intake; due to breastfeeding infant = caloric decrease in mother. Mother needs additional calories to sustain her postpartum healing &amp; infant receiving vitamins, nutrients, water products.</a:t>
            </a:r>
          </a:p>
          <a:p>
            <a:endParaRPr lang="en-US" sz="1400" dirty="0">
              <a:latin typeface="Arial Rounded MT Bold" pitchFamily="34" charset="0"/>
            </a:endParaRPr>
          </a:p>
          <a:p>
            <a:r>
              <a:rPr lang="en-US" sz="1400" dirty="0">
                <a:latin typeface="Arial Rounded MT Bold" pitchFamily="34" charset="0"/>
              </a:rPr>
              <a:t>2,500 ml of water in mother’s fluid intake per day to sustain breastmilk output for infant</a:t>
            </a:r>
          </a:p>
          <a:p>
            <a:endParaRPr lang="en-US" sz="1400" dirty="0">
              <a:latin typeface="Arial Rounded MT Bold" pitchFamily="34" charset="0"/>
            </a:endParaRPr>
          </a:p>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23</a:t>
            </a:fld>
            <a:endParaRPr lang="en-US"/>
          </a:p>
        </p:txBody>
      </p:sp>
    </p:spTree>
    <p:extLst>
      <p:ext uri="{BB962C8B-B14F-4D97-AF65-F5344CB8AC3E}">
        <p14:creationId xmlns:p14="http://schemas.microsoft.com/office/powerpoint/2010/main" val="3877861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Colostrum is the perfect first food for the newborn. It is easy to digest and highly concentrated with carbohydrates and fat. It also contains secretory </a:t>
            </a:r>
            <a:r>
              <a:rPr lang="en-US" sz="1200" b="1" i="0" kern="1200" dirty="0">
                <a:solidFill>
                  <a:schemeClr val="tx1"/>
                </a:solidFill>
                <a:effectLst/>
                <a:latin typeface="+mn-lt"/>
                <a:ea typeface="+mn-ea"/>
                <a:cs typeface="+mn-cs"/>
              </a:rPr>
              <a:t>immunoglobulin</a:t>
            </a:r>
            <a:r>
              <a:rPr lang="en-US" sz="1200" b="0" i="0" kern="1200" dirty="0">
                <a:solidFill>
                  <a:schemeClr val="tx1"/>
                </a:solidFill>
                <a:effectLst/>
                <a:latin typeface="+mn-lt"/>
                <a:ea typeface="+mn-ea"/>
                <a:cs typeface="+mn-cs"/>
              </a:rPr>
              <a:t> A (IgA),</a:t>
            </a:r>
          </a:p>
          <a:p>
            <a:r>
              <a:rPr lang="en-US" sz="1200" b="0" i="0" kern="1200" dirty="0">
                <a:solidFill>
                  <a:schemeClr val="tx1"/>
                </a:solidFill>
                <a:effectLst/>
                <a:latin typeface="+mn-lt"/>
                <a:ea typeface="+mn-ea"/>
                <a:cs typeface="+mn-cs"/>
              </a:rPr>
              <a:t>which is a new substance to the newborn.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IgA protects the baby from infections in the mucous membranes in the throat, lungs, and intestines. Leukocytes in colostrum also protect the newborn from infections.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addition, colostrum has a laxative effect, which aids in the passage of the first </a:t>
            </a:r>
            <a:r>
              <a:rPr lang="en-US" sz="1200" b="0" i="0" kern="1200" dirty="0" err="1">
                <a:solidFill>
                  <a:schemeClr val="tx1"/>
                </a:solidFill>
                <a:effectLst/>
                <a:latin typeface="+mn-lt"/>
                <a:ea typeface="+mn-ea"/>
                <a:cs typeface="+mn-cs"/>
              </a:rPr>
              <a:t>merconium</a:t>
            </a:r>
            <a:r>
              <a:rPr lang="en-US" sz="1200" b="0" i="0" kern="1200" dirty="0">
                <a:solidFill>
                  <a:schemeClr val="tx1"/>
                </a:solidFill>
                <a:effectLst/>
                <a:latin typeface="+mn-lt"/>
                <a:ea typeface="+mn-ea"/>
                <a:cs typeface="+mn-cs"/>
              </a:rPr>
              <a:t> stool after birth </a:t>
            </a:r>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24</a:t>
            </a:fld>
            <a:endParaRPr lang="en-US"/>
          </a:p>
        </p:txBody>
      </p:sp>
    </p:spTree>
    <p:extLst>
      <p:ext uri="{BB962C8B-B14F-4D97-AF65-F5344CB8AC3E}">
        <p14:creationId xmlns:p14="http://schemas.microsoft.com/office/powerpoint/2010/main" val="448510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will refer to colostrum as liquid gold.</a:t>
            </a:r>
          </a:p>
        </p:txBody>
      </p:sp>
      <p:sp>
        <p:nvSpPr>
          <p:cNvPr id="4" name="Slide Number Placeholder 3"/>
          <p:cNvSpPr>
            <a:spLocks noGrp="1"/>
          </p:cNvSpPr>
          <p:nvPr>
            <p:ph type="sldNum" sz="quarter" idx="5"/>
          </p:nvPr>
        </p:nvSpPr>
        <p:spPr/>
        <p:txBody>
          <a:bodyPr/>
          <a:lstStyle/>
          <a:p>
            <a:fld id="{AF74327D-7E57-4587-91EC-425CBC1DB777}" type="slidenum">
              <a:rPr lang="en-US" smtClean="0"/>
              <a:pPr/>
              <a:t>25</a:t>
            </a:fld>
            <a:endParaRPr lang="en-US"/>
          </a:p>
        </p:txBody>
      </p:sp>
    </p:spTree>
    <p:extLst>
      <p:ext uri="{BB962C8B-B14F-4D97-AF65-F5344CB8AC3E}">
        <p14:creationId xmlns:p14="http://schemas.microsoft.com/office/powerpoint/2010/main" val="1920918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Galactosemia: Lactose Intolerance</a:t>
            </a:r>
          </a:p>
          <a:p>
            <a:endParaRPr lang="en-US" dirty="0"/>
          </a:p>
          <a:p>
            <a:r>
              <a:rPr lang="en-US" dirty="0"/>
              <a:t>Infant formulas: Without milk sugars – </a:t>
            </a:r>
            <a:r>
              <a:rPr lang="en-US" dirty="0" err="1"/>
              <a:t>Neutramigen</a:t>
            </a:r>
            <a:r>
              <a:rPr lang="en-US" dirty="0"/>
              <a:t>, </a:t>
            </a:r>
            <a:r>
              <a:rPr lang="en-US" dirty="0" err="1"/>
              <a:t>Neosure</a:t>
            </a:r>
            <a:r>
              <a:rPr lang="en-US" dirty="0"/>
              <a:t>, Soy-based, Goat’s milk formula, Enfamil AR, </a:t>
            </a:r>
          </a:p>
        </p:txBody>
      </p:sp>
      <p:sp>
        <p:nvSpPr>
          <p:cNvPr id="4" name="Slide Number Placeholder 3"/>
          <p:cNvSpPr>
            <a:spLocks noGrp="1"/>
          </p:cNvSpPr>
          <p:nvPr>
            <p:ph type="sldNum" sz="quarter" idx="5"/>
          </p:nvPr>
        </p:nvSpPr>
        <p:spPr/>
        <p:txBody>
          <a:bodyPr/>
          <a:lstStyle/>
          <a:p>
            <a:fld id="{AF74327D-7E57-4587-91EC-425CBC1DB777}" type="slidenum">
              <a:rPr lang="en-US" smtClean="0"/>
              <a:pPr/>
              <a:t>26</a:t>
            </a:fld>
            <a:endParaRPr lang="en-US"/>
          </a:p>
        </p:txBody>
      </p:sp>
    </p:spTree>
    <p:extLst>
      <p:ext uri="{BB962C8B-B14F-4D97-AF65-F5344CB8AC3E}">
        <p14:creationId xmlns:p14="http://schemas.microsoft.com/office/powerpoint/2010/main" val="147956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400" dirty="0">
                <a:latin typeface="Arial Rounded MT Bold" pitchFamily="34" charset="0"/>
              </a:rPr>
              <a:t>Page 276 Maternal Child text</a:t>
            </a:r>
          </a:p>
        </p:txBody>
      </p:sp>
      <p:sp>
        <p:nvSpPr>
          <p:cNvPr id="4" name="Slide Number Placeholder 3"/>
          <p:cNvSpPr>
            <a:spLocks noGrp="1"/>
          </p:cNvSpPr>
          <p:nvPr>
            <p:ph type="sldNum" sz="quarter" idx="10"/>
          </p:nvPr>
        </p:nvSpPr>
        <p:spPr/>
        <p:txBody>
          <a:bodyPr/>
          <a:lstStyle/>
          <a:p>
            <a:fld id="{498517FE-5D53-41FE-BF26-741E1066E65E}" type="slidenum">
              <a:rPr lang="en-US" smtClean="0"/>
              <a:pPr/>
              <a:t>28</a:t>
            </a:fld>
            <a:endParaRPr lang="en-US"/>
          </a:p>
        </p:txBody>
      </p:sp>
    </p:spTree>
    <p:extLst>
      <p:ext uri="{BB962C8B-B14F-4D97-AF65-F5344CB8AC3E}">
        <p14:creationId xmlns:p14="http://schemas.microsoft.com/office/powerpoint/2010/main" val="79814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of formula: cost depends on type, brand, use (premature infant, lactose intolerance, hypo-allergenic, etc..)</a:t>
            </a:r>
          </a:p>
          <a:p>
            <a:endParaRPr lang="en-US" dirty="0"/>
          </a:p>
          <a:p>
            <a:r>
              <a:rPr lang="en-US" dirty="0"/>
              <a:t> </a:t>
            </a:r>
          </a:p>
        </p:txBody>
      </p:sp>
      <p:sp>
        <p:nvSpPr>
          <p:cNvPr id="4" name="Slide Number Placeholder 3"/>
          <p:cNvSpPr>
            <a:spLocks noGrp="1"/>
          </p:cNvSpPr>
          <p:nvPr>
            <p:ph type="sldNum" sz="quarter" idx="5"/>
          </p:nvPr>
        </p:nvSpPr>
        <p:spPr/>
        <p:txBody>
          <a:bodyPr/>
          <a:lstStyle/>
          <a:p>
            <a:fld id="{AF74327D-7E57-4587-91EC-425CBC1DB777}" type="slidenum">
              <a:rPr lang="en-US" smtClean="0"/>
              <a:pPr/>
              <a:t>29</a:t>
            </a:fld>
            <a:endParaRPr lang="en-US"/>
          </a:p>
        </p:txBody>
      </p:sp>
    </p:spTree>
    <p:extLst>
      <p:ext uri="{BB962C8B-B14F-4D97-AF65-F5344CB8AC3E}">
        <p14:creationId xmlns:p14="http://schemas.microsoft.com/office/powerpoint/2010/main" val="34122777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400" dirty="0">
                <a:latin typeface="Arial Rounded MT Bold" pitchFamily="34" charset="0"/>
              </a:rPr>
              <a:t>Kcal: </a:t>
            </a:r>
            <a:r>
              <a:rPr lang="en-US" sz="1200" b="0" i="0" kern="1200" dirty="0">
                <a:solidFill>
                  <a:schemeClr val="tx1"/>
                </a:solidFill>
                <a:effectLst/>
                <a:latin typeface="+mn-lt"/>
                <a:ea typeface="+mn-ea"/>
                <a:cs typeface="+mn-cs"/>
              </a:rPr>
              <a:t>The term used to represent the amount of energy required to raise the temperature of a liter of water one degree centigrade at sea level. In nutrition terms, the word calorie is commonly used to refer to a unit of food energy.</a:t>
            </a:r>
            <a:endParaRPr lang="en-US" sz="1400" dirty="0">
              <a:latin typeface="Arial Rounded MT Bold" pitchFamily="34" charset="0"/>
            </a:endParaRPr>
          </a:p>
          <a:p>
            <a:endParaRPr lang="en-US" sz="1400" dirty="0">
              <a:latin typeface="Arial Rounded MT Bold" pitchFamily="34" charset="0"/>
            </a:endParaRPr>
          </a:p>
          <a:p>
            <a:r>
              <a:rPr lang="en-US" sz="1200" b="1" i="0" kern="1200" dirty="0">
                <a:solidFill>
                  <a:schemeClr val="tx1"/>
                </a:solidFill>
                <a:effectLst/>
                <a:latin typeface="+mn-lt"/>
                <a:ea typeface="+mn-ea"/>
                <a:cs typeface="+mn-cs"/>
              </a:rPr>
              <a:t>Box 16.1</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Calorie and Fluid Requirements of the Newborn</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Estimated calorie requirements</a:t>
            </a:r>
          </a:p>
          <a:p>
            <a:r>
              <a:rPr lang="en-US" sz="1200" b="0" i="0" kern="1200" dirty="0">
                <a:solidFill>
                  <a:schemeClr val="tx1"/>
                </a:solidFill>
                <a:effectLst/>
                <a:latin typeface="+mn-lt"/>
                <a:ea typeface="+mn-ea"/>
                <a:cs typeface="+mn-cs"/>
              </a:rPr>
              <a:t>Term infant: 105 to 108 kcal/kg/day</a:t>
            </a:r>
          </a:p>
          <a:p>
            <a:r>
              <a:rPr lang="en-US" sz="1200" b="0" i="0" kern="1200" dirty="0">
                <a:solidFill>
                  <a:schemeClr val="tx1"/>
                </a:solidFill>
                <a:effectLst/>
                <a:latin typeface="+mn-lt"/>
                <a:ea typeface="+mn-ea"/>
                <a:cs typeface="+mn-cs"/>
              </a:rPr>
              <a:t>Preterm infant: 110 to 120 kcal/kg/day</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Estimated fluid requirements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Term infant: 140 to 160 mL/kg/day</a:t>
            </a:r>
          </a:p>
          <a:p>
            <a:r>
              <a:rPr lang="en-US" sz="1200" b="0" i="0" kern="1200" dirty="0">
                <a:solidFill>
                  <a:schemeClr val="tx1"/>
                </a:solidFill>
                <a:effectLst/>
                <a:latin typeface="+mn-lt"/>
                <a:ea typeface="+mn-ea"/>
                <a:cs typeface="+mn-cs"/>
              </a:rPr>
              <a:t>Preterm infant: 60 to 80 mL/kg/day</a:t>
            </a:r>
          </a:p>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498517FE-5D53-41FE-BF26-741E1066E65E}" type="slidenum">
              <a:rPr lang="en-US" smtClean="0"/>
              <a:pPr/>
              <a:t>31</a:t>
            </a:fld>
            <a:endParaRPr lang="en-US"/>
          </a:p>
        </p:txBody>
      </p:sp>
    </p:spTree>
    <p:extLst>
      <p:ext uri="{BB962C8B-B14F-4D97-AF65-F5344CB8AC3E}">
        <p14:creationId xmlns:p14="http://schemas.microsoft.com/office/powerpoint/2010/main" val="42238672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400" dirty="0">
                <a:latin typeface="Arial Rounded MT Bold" pitchFamily="34" charset="0"/>
              </a:rPr>
              <a:t>Ex: Poly Vi Sol supplemental vitamins: Breastfed infants need additional Vitamin D for bone strength and growth, prevent rickets.  Iron to prevent iron deficient anemia</a:t>
            </a:r>
          </a:p>
          <a:p>
            <a:endParaRPr lang="en-US" sz="1400" dirty="0">
              <a:latin typeface="Arial Rounded MT Bold" pitchFamily="34" charset="0"/>
            </a:endParaRPr>
          </a:p>
          <a:p>
            <a:r>
              <a:rPr lang="en-US" sz="1400" dirty="0">
                <a:latin typeface="Arial Rounded MT Bold" pitchFamily="34" charset="0"/>
              </a:rPr>
              <a:t>Slide talks about needing to supplement iron.   Most infant foods like cereals, baby foods </a:t>
            </a:r>
            <a:r>
              <a:rPr lang="en-US" sz="1400" dirty="0" err="1">
                <a:latin typeface="Arial Rounded MT Bold" pitchFamily="34" charset="0"/>
              </a:rPr>
              <a:t>etc</a:t>
            </a:r>
            <a:r>
              <a:rPr lang="en-US" sz="1400" dirty="0">
                <a:latin typeface="Arial Rounded MT Bold" pitchFamily="34" charset="0"/>
              </a:rPr>
              <a:t> are fortified.</a:t>
            </a:r>
          </a:p>
        </p:txBody>
      </p:sp>
      <p:sp>
        <p:nvSpPr>
          <p:cNvPr id="4" name="Slide Number Placeholder 3"/>
          <p:cNvSpPr>
            <a:spLocks noGrp="1"/>
          </p:cNvSpPr>
          <p:nvPr>
            <p:ph type="sldNum" sz="quarter" idx="10"/>
          </p:nvPr>
        </p:nvSpPr>
        <p:spPr/>
        <p:txBody>
          <a:bodyPr/>
          <a:lstStyle/>
          <a:p>
            <a:fld id="{498517FE-5D53-41FE-BF26-741E1066E65E}" type="slidenum">
              <a:rPr lang="en-US" smtClean="0"/>
              <a:pPr/>
              <a:t>32</a:t>
            </a:fld>
            <a:endParaRPr lang="en-US"/>
          </a:p>
        </p:txBody>
      </p:sp>
    </p:spTree>
    <p:extLst>
      <p:ext uri="{BB962C8B-B14F-4D97-AF65-F5344CB8AC3E}">
        <p14:creationId xmlns:p14="http://schemas.microsoft.com/office/powerpoint/2010/main" val="2421756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34</a:t>
            </a:fld>
            <a:endParaRPr lang="en-US"/>
          </a:p>
        </p:txBody>
      </p:sp>
    </p:spTree>
    <p:extLst>
      <p:ext uri="{BB962C8B-B14F-4D97-AF65-F5344CB8AC3E}">
        <p14:creationId xmlns:p14="http://schemas.microsoft.com/office/powerpoint/2010/main" val="40932023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35</a:t>
            </a:fld>
            <a:endParaRPr lang="en-US"/>
          </a:p>
        </p:txBody>
      </p:sp>
    </p:spTree>
    <p:extLst>
      <p:ext uri="{BB962C8B-B14F-4D97-AF65-F5344CB8AC3E}">
        <p14:creationId xmlns:p14="http://schemas.microsoft.com/office/powerpoint/2010/main" val="5071783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Rounded MT Bold" panose="020F0704030504030204" pitchFamily="34" charset="0"/>
              </a:rPr>
              <a:t>You can google “My Plate”  Used to be a pyramid.  Now its an actual plate divided out.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36</a:t>
            </a:fld>
            <a:endParaRPr lang="en-US"/>
          </a:p>
        </p:txBody>
      </p:sp>
    </p:spTree>
    <p:extLst>
      <p:ext uri="{BB962C8B-B14F-4D97-AF65-F5344CB8AC3E}">
        <p14:creationId xmlns:p14="http://schemas.microsoft.com/office/powerpoint/2010/main" val="28221094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see a decrease, but also could see increase.  Depending on diet and activity level.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37</a:t>
            </a:fld>
            <a:endParaRPr lang="en-US"/>
          </a:p>
        </p:txBody>
      </p:sp>
    </p:spTree>
    <p:extLst>
      <p:ext uri="{BB962C8B-B14F-4D97-AF65-F5344CB8AC3E}">
        <p14:creationId xmlns:p14="http://schemas.microsoft.com/office/powerpoint/2010/main" val="66217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38</a:t>
            </a:fld>
            <a:endParaRPr lang="en-US"/>
          </a:p>
        </p:txBody>
      </p:sp>
    </p:spTree>
    <p:extLst>
      <p:ext uri="{BB962C8B-B14F-4D97-AF65-F5344CB8AC3E}">
        <p14:creationId xmlns:p14="http://schemas.microsoft.com/office/powerpoint/2010/main" val="852645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Rounded MT Bold" pitchFamily="34" charset="0"/>
              </a:rPr>
              <a:t>With the fewer or altered taste buds, foods may require more seasoning.  Try to avoid salt if they have cardiac issues.  But good substitutes are like salsas, Mrs. Dash, seasoning rubs or blends for meats.  Etc.</a:t>
            </a:r>
          </a:p>
        </p:txBody>
      </p:sp>
      <p:sp>
        <p:nvSpPr>
          <p:cNvPr id="4" name="Slide Number Placeholder 3"/>
          <p:cNvSpPr>
            <a:spLocks noGrp="1"/>
          </p:cNvSpPr>
          <p:nvPr>
            <p:ph type="sldNum" sz="quarter" idx="10"/>
          </p:nvPr>
        </p:nvSpPr>
        <p:spPr/>
        <p:txBody>
          <a:bodyPr/>
          <a:lstStyle/>
          <a:p>
            <a:fld id="{AF74327D-7E57-4587-91EC-425CBC1DB777}" type="slidenum">
              <a:rPr lang="en-US" smtClean="0"/>
              <a:pPr/>
              <a:t>39</a:t>
            </a:fld>
            <a:endParaRPr lang="en-US"/>
          </a:p>
        </p:txBody>
      </p:sp>
    </p:spTree>
    <p:extLst>
      <p:ext uri="{BB962C8B-B14F-4D97-AF65-F5344CB8AC3E}">
        <p14:creationId xmlns:p14="http://schemas.microsoft.com/office/powerpoint/2010/main" val="17156329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40</a:t>
            </a:fld>
            <a:endParaRPr lang="en-US"/>
          </a:p>
        </p:txBody>
      </p:sp>
    </p:spTree>
    <p:extLst>
      <p:ext uri="{BB962C8B-B14F-4D97-AF65-F5344CB8AC3E}">
        <p14:creationId xmlns:p14="http://schemas.microsoft.com/office/powerpoint/2010/main" val="13428559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41</a:t>
            </a:fld>
            <a:endParaRPr lang="en-US"/>
          </a:p>
        </p:txBody>
      </p:sp>
    </p:spTree>
    <p:extLst>
      <p:ext uri="{BB962C8B-B14F-4D97-AF65-F5344CB8AC3E}">
        <p14:creationId xmlns:p14="http://schemas.microsoft.com/office/powerpoint/2010/main" val="2568217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42</a:t>
            </a:fld>
            <a:endParaRPr lang="en-US"/>
          </a:p>
        </p:txBody>
      </p:sp>
    </p:spTree>
    <p:extLst>
      <p:ext uri="{BB962C8B-B14F-4D97-AF65-F5344CB8AC3E}">
        <p14:creationId xmlns:p14="http://schemas.microsoft.com/office/powerpoint/2010/main" val="10238335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43</a:t>
            </a:fld>
            <a:endParaRPr lang="en-US"/>
          </a:p>
        </p:txBody>
      </p:sp>
    </p:spTree>
    <p:extLst>
      <p:ext uri="{BB962C8B-B14F-4D97-AF65-F5344CB8AC3E}">
        <p14:creationId xmlns:p14="http://schemas.microsoft.com/office/powerpoint/2010/main" val="23344764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638 Med Surg text</a:t>
            </a:r>
          </a:p>
          <a:p>
            <a:endParaRPr lang="en-US" dirty="0"/>
          </a:p>
          <a:p>
            <a:r>
              <a:rPr lang="en-US" sz="1200" b="0" i="0" kern="1200" dirty="0">
                <a:solidFill>
                  <a:schemeClr val="tx1"/>
                </a:solidFill>
                <a:effectLst/>
                <a:latin typeface="+mn-lt"/>
                <a:ea typeface="+mn-ea"/>
                <a:cs typeface="+mn-cs"/>
              </a:rPr>
              <a:t>Factors such as gender, age, body frame size, and being an athlete with larger muscle mass can influence these measurements</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44</a:t>
            </a:fld>
            <a:endParaRPr lang="en-US"/>
          </a:p>
        </p:txBody>
      </p:sp>
    </p:spTree>
    <p:extLst>
      <p:ext uri="{BB962C8B-B14F-4D97-AF65-F5344CB8AC3E}">
        <p14:creationId xmlns:p14="http://schemas.microsoft.com/office/powerpoint/2010/main" val="17267820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we’ve talked about this before.  But amenorrhea is a side affect of malnutrition in females. </a:t>
            </a:r>
          </a:p>
        </p:txBody>
      </p:sp>
      <p:sp>
        <p:nvSpPr>
          <p:cNvPr id="4" name="Slide Number Placeholder 3"/>
          <p:cNvSpPr>
            <a:spLocks noGrp="1"/>
          </p:cNvSpPr>
          <p:nvPr>
            <p:ph type="sldNum" sz="quarter" idx="5"/>
          </p:nvPr>
        </p:nvSpPr>
        <p:spPr/>
        <p:txBody>
          <a:bodyPr/>
          <a:lstStyle/>
          <a:p>
            <a:fld id="{AF74327D-7E57-4587-91EC-425CBC1DB777}" type="slidenum">
              <a:rPr lang="en-US" smtClean="0"/>
              <a:pPr/>
              <a:t>45</a:t>
            </a:fld>
            <a:endParaRPr lang="en-US"/>
          </a:p>
        </p:txBody>
      </p:sp>
    </p:spTree>
    <p:extLst>
      <p:ext uri="{BB962C8B-B14F-4D97-AF65-F5344CB8AC3E}">
        <p14:creationId xmlns:p14="http://schemas.microsoft.com/office/powerpoint/2010/main" val="7801698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Page 618 Med Surg text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Cultural Nutritional Assessment</a:t>
            </a:r>
          </a:p>
          <a:p>
            <a:r>
              <a:rPr lang="en-US" sz="1200" b="0" i="0" kern="1200" dirty="0">
                <a:solidFill>
                  <a:schemeClr val="tx1"/>
                </a:solidFill>
                <a:effectLst/>
                <a:latin typeface="+mn-lt"/>
                <a:ea typeface="+mn-ea"/>
                <a:cs typeface="+mn-cs"/>
              </a:rPr>
              <a:t>Questions to ask when performing a cultural nutritional assessment:</a:t>
            </a:r>
          </a:p>
          <a:p>
            <a:r>
              <a:rPr lang="en-US" sz="1200" b="0" i="0" kern="1200" dirty="0">
                <a:solidFill>
                  <a:schemeClr val="tx1"/>
                </a:solidFill>
                <a:effectLst/>
                <a:latin typeface="+mn-lt"/>
                <a:ea typeface="+mn-ea"/>
                <a:cs typeface="+mn-cs"/>
              </a:rPr>
              <a:t>What types of foods are common in your culture or community?</a:t>
            </a:r>
          </a:p>
          <a:p>
            <a:r>
              <a:rPr lang="en-US" sz="1200" b="0" i="0" kern="1200" dirty="0">
                <a:solidFill>
                  <a:schemeClr val="tx1"/>
                </a:solidFill>
                <a:effectLst/>
                <a:latin typeface="+mn-lt"/>
                <a:ea typeface="+mn-ea"/>
                <a:cs typeface="+mn-cs"/>
              </a:rPr>
              <a:t>What are your preferred foods?</a:t>
            </a:r>
          </a:p>
          <a:p>
            <a:r>
              <a:rPr lang="en-US" sz="1200" b="0" i="0" kern="1200" dirty="0">
                <a:solidFill>
                  <a:schemeClr val="tx1"/>
                </a:solidFill>
                <a:effectLst/>
                <a:latin typeface="+mn-lt"/>
                <a:ea typeface="+mn-ea"/>
                <a:cs typeface="+mn-cs"/>
              </a:rPr>
              <a:t>Which foods do you most commonly consume?</a:t>
            </a:r>
          </a:p>
          <a:p>
            <a:r>
              <a:rPr lang="en-US" sz="1200" b="0" i="0" kern="1200" dirty="0">
                <a:solidFill>
                  <a:schemeClr val="tx1"/>
                </a:solidFill>
                <a:effectLst/>
                <a:latin typeface="+mn-lt"/>
                <a:ea typeface="+mn-ea"/>
                <a:cs typeface="+mn-cs"/>
              </a:rPr>
              <a:t>How and where are your foods chosen and purchased?</a:t>
            </a:r>
          </a:p>
          <a:p>
            <a:r>
              <a:rPr lang="en-US" sz="1200" b="0" i="0" kern="1200" dirty="0">
                <a:solidFill>
                  <a:schemeClr val="tx1"/>
                </a:solidFill>
                <a:effectLst/>
                <a:latin typeface="+mn-lt"/>
                <a:ea typeface="+mn-ea"/>
                <a:cs typeface="+mn-cs"/>
              </a:rPr>
              <a:t>Who prepares the food in your household?</a:t>
            </a:r>
          </a:p>
          <a:p>
            <a:r>
              <a:rPr lang="en-US" sz="1200" b="0" i="0" kern="1200" dirty="0">
                <a:solidFill>
                  <a:schemeClr val="tx1"/>
                </a:solidFill>
                <a:effectLst/>
                <a:latin typeface="+mn-lt"/>
                <a:ea typeface="+mn-ea"/>
                <a:cs typeface="+mn-cs"/>
              </a:rPr>
              <a:t>Who purchases the food in your household?</a:t>
            </a:r>
          </a:p>
          <a:p>
            <a:r>
              <a:rPr lang="en-US" sz="1200" b="0" i="0" kern="1200" dirty="0">
                <a:solidFill>
                  <a:schemeClr val="tx1"/>
                </a:solidFill>
                <a:effectLst/>
                <a:latin typeface="+mn-lt"/>
                <a:ea typeface="+mn-ea"/>
                <a:cs typeface="+mn-cs"/>
              </a:rPr>
              <a:t>How is your food stored for future use?</a:t>
            </a:r>
          </a:p>
          <a:p>
            <a:r>
              <a:rPr lang="en-US" sz="1200" b="0" i="0" kern="1200" dirty="0">
                <a:solidFill>
                  <a:schemeClr val="tx1"/>
                </a:solidFill>
                <a:effectLst/>
                <a:latin typeface="+mn-lt"/>
                <a:ea typeface="+mn-ea"/>
                <a:cs typeface="+mn-cs"/>
              </a:rPr>
              <a:t>How is your food prepared before being eaten?</a:t>
            </a:r>
          </a:p>
          <a:p>
            <a:r>
              <a:rPr lang="en-US" sz="1200" b="0" i="0" kern="1200" dirty="0">
                <a:solidFill>
                  <a:schemeClr val="tx1"/>
                </a:solidFill>
                <a:effectLst/>
                <a:latin typeface="+mn-lt"/>
                <a:ea typeface="+mn-ea"/>
                <a:cs typeface="+mn-cs"/>
              </a:rPr>
              <a:t>What foods do you eat or avoid to maintain your health?</a:t>
            </a:r>
          </a:p>
          <a:p>
            <a:r>
              <a:rPr lang="en-US" sz="1200" b="0" i="0" kern="1200" dirty="0">
                <a:solidFill>
                  <a:schemeClr val="tx1"/>
                </a:solidFill>
                <a:effectLst/>
                <a:latin typeface="+mn-lt"/>
                <a:ea typeface="+mn-ea"/>
                <a:cs typeface="+mn-cs"/>
              </a:rPr>
              <a:t>What foods do you eat or avoid when you are ill?</a:t>
            </a:r>
          </a:p>
          <a:p>
            <a:endParaRPr lang="en-US" dirty="0"/>
          </a:p>
        </p:txBody>
      </p:sp>
      <p:sp>
        <p:nvSpPr>
          <p:cNvPr id="4" name="Slide Number Placeholder 3"/>
          <p:cNvSpPr>
            <a:spLocks noGrp="1"/>
          </p:cNvSpPr>
          <p:nvPr>
            <p:ph type="sldNum" sz="quarter" idx="10"/>
          </p:nvPr>
        </p:nvSpPr>
        <p:spPr/>
        <p:txBody>
          <a:bodyPr/>
          <a:lstStyle/>
          <a:p>
            <a:fld id="{AF74327D-7E57-4587-91EC-425CBC1DB777}" type="slidenum">
              <a:rPr lang="en-US" smtClean="0"/>
              <a:pPr/>
              <a:t>46</a:t>
            </a:fld>
            <a:endParaRPr lang="en-US"/>
          </a:p>
        </p:txBody>
      </p:sp>
    </p:spTree>
    <p:extLst>
      <p:ext uri="{BB962C8B-B14F-4D97-AF65-F5344CB8AC3E}">
        <p14:creationId xmlns:p14="http://schemas.microsoft.com/office/powerpoint/2010/main" val="24032936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47</a:t>
            </a:fld>
            <a:endParaRPr lang="en-US"/>
          </a:p>
        </p:txBody>
      </p:sp>
    </p:spTree>
    <p:extLst>
      <p:ext uri="{BB962C8B-B14F-4D97-AF65-F5344CB8AC3E}">
        <p14:creationId xmlns:p14="http://schemas.microsoft.com/office/powerpoint/2010/main" val="33631671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latin typeface="Arial Rounded MT Bold" panose="020F0704030504030204" pitchFamily="34" charset="0"/>
              </a:rPr>
              <a:t>One of the biggest complaints we see in the nursing home, is that the food is never warm enough.  When they eat in the dining room its not as big of an issue.  For those who prefer to eat in their rooms, it’s a huge complaint.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48</a:t>
            </a:fld>
            <a:endParaRPr lang="en-US"/>
          </a:p>
        </p:txBody>
      </p:sp>
    </p:spTree>
    <p:extLst>
      <p:ext uri="{BB962C8B-B14F-4D97-AF65-F5344CB8AC3E}">
        <p14:creationId xmlns:p14="http://schemas.microsoft.com/office/powerpoint/2010/main" val="38675501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Rounded MT Bold" pitchFamily="34" charset="0"/>
              </a:rPr>
              <a:t>An example of an appetite stimulant would be </a:t>
            </a:r>
            <a:r>
              <a:rPr lang="en-US" sz="1400" dirty="0" err="1">
                <a:latin typeface="Arial Rounded MT Bold" pitchFamily="34" charset="0"/>
              </a:rPr>
              <a:t>marinol</a:t>
            </a:r>
            <a:r>
              <a:rPr lang="en-US" sz="1400" dirty="0">
                <a:latin typeface="Arial Rounded MT Bold" pitchFamily="34" charset="0"/>
              </a:rPr>
              <a:t>, </a:t>
            </a:r>
            <a:r>
              <a:rPr lang="en-US" sz="1400" dirty="0" err="1">
                <a:latin typeface="Arial Rounded MT Bold" pitchFamily="34" charset="0"/>
              </a:rPr>
              <a:t>megace</a:t>
            </a:r>
            <a:r>
              <a:rPr lang="en-US" sz="1400" dirty="0">
                <a:latin typeface="Arial Rounded MT Bold" pitchFamily="34" charset="0"/>
              </a:rPr>
              <a:t>.  </a:t>
            </a:r>
            <a:r>
              <a:rPr lang="en-US" sz="1400" dirty="0" err="1">
                <a:latin typeface="Arial Rounded MT Bold" pitchFamily="34" charset="0"/>
              </a:rPr>
              <a:t>Marinol</a:t>
            </a:r>
            <a:r>
              <a:rPr lang="en-US" sz="1400" dirty="0">
                <a:latin typeface="Arial Rounded MT Bold" pitchFamily="34" charset="0"/>
              </a:rPr>
              <a:t> is derived from cannabis plants.  Comes in pill form.  </a:t>
            </a:r>
            <a:r>
              <a:rPr lang="en-US" sz="1400" dirty="0" err="1">
                <a:latin typeface="Arial Rounded MT Bold" pitchFamily="34" charset="0"/>
              </a:rPr>
              <a:t>Megace</a:t>
            </a:r>
            <a:r>
              <a:rPr lang="en-US" sz="1400" dirty="0">
                <a:latin typeface="Arial Rounded MT Bold" pitchFamily="34" charset="0"/>
              </a:rPr>
              <a:t> is usually a liquid.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49</a:t>
            </a:fld>
            <a:endParaRPr lang="en-US"/>
          </a:p>
        </p:txBody>
      </p:sp>
    </p:spTree>
    <p:extLst>
      <p:ext uri="{BB962C8B-B14F-4D97-AF65-F5344CB8AC3E}">
        <p14:creationId xmlns:p14="http://schemas.microsoft.com/office/powerpoint/2010/main" val="19860847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D929EDFC-DC7E-4FE4-B43F-8D925F780B79}" type="slidenum">
              <a:rPr lang="en-US" smtClean="0"/>
              <a:pPr/>
              <a:t>50</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pPr eaLnBrk="1" hangingPunct="1"/>
            <a:endParaRPr lang="en-US" sz="1600" dirty="0">
              <a:latin typeface="Arial Rounded MT Bold" panose="020F0704030504030204" pitchFamily="34" charset="0"/>
            </a:endParaRPr>
          </a:p>
        </p:txBody>
      </p:sp>
    </p:spTree>
    <p:extLst>
      <p:ext uri="{BB962C8B-B14F-4D97-AF65-F5344CB8AC3E}">
        <p14:creationId xmlns:p14="http://schemas.microsoft.com/office/powerpoint/2010/main" val="25170762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51</a:t>
            </a:fld>
            <a:endParaRPr lang="en-US"/>
          </a:p>
        </p:txBody>
      </p:sp>
    </p:spTree>
    <p:extLst>
      <p:ext uri="{BB962C8B-B14F-4D97-AF65-F5344CB8AC3E}">
        <p14:creationId xmlns:p14="http://schemas.microsoft.com/office/powerpoint/2010/main" val="40034344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https://www.mouthhealthy.org/en/adults-40-60/nutrition</a:t>
            </a:r>
          </a:p>
        </p:txBody>
      </p:sp>
      <p:sp>
        <p:nvSpPr>
          <p:cNvPr id="4" name="Slide Number Placeholder 3"/>
          <p:cNvSpPr>
            <a:spLocks noGrp="1"/>
          </p:cNvSpPr>
          <p:nvPr>
            <p:ph type="sldNum" sz="quarter" idx="5"/>
          </p:nvPr>
        </p:nvSpPr>
        <p:spPr/>
        <p:txBody>
          <a:bodyPr/>
          <a:lstStyle/>
          <a:p>
            <a:fld id="{AF74327D-7E57-4587-91EC-425CBC1DB777}" type="slidenum">
              <a:rPr lang="en-US" smtClean="0"/>
              <a:pPr/>
              <a:t>52</a:t>
            </a:fld>
            <a:endParaRPr lang="en-US"/>
          </a:p>
        </p:txBody>
      </p:sp>
    </p:spTree>
    <p:extLst>
      <p:ext uri="{BB962C8B-B14F-4D97-AF65-F5344CB8AC3E}">
        <p14:creationId xmlns:p14="http://schemas.microsoft.com/office/powerpoint/2010/main" val="12330391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53</a:t>
            </a:fld>
            <a:endParaRPr lang="en-US"/>
          </a:p>
        </p:txBody>
      </p:sp>
    </p:spTree>
    <p:extLst>
      <p:ext uri="{BB962C8B-B14F-4D97-AF65-F5344CB8AC3E}">
        <p14:creationId xmlns:p14="http://schemas.microsoft.com/office/powerpoint/2010/main" val="15572337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Rounded MT Bold" panose="020F0704030504030204"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54</a:t>
            </a:fld>
            <a:endParaRPr lang="en-US"/>
          </a:p>
        </p:txBody>
      </p:sp>
    </p:spTree>
    <p:extLst>
      <p:ext uri="{BB962C8B-B14F-4D97-AF65-F5344CB8AC3E}">
        <p14:creationId xmlns:p14="http://schemas.microsoft.com/office/powerpoint/2010/main" val="13304646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A9E5A5E8-CB82-4F6B-9E01-F7ED9058B18F}" type="slidenum">
              <a:rPr lang="en-US" smtClean="0"/>
              <a:pPr/>
              <a:t>55</a:t>
            </a:fld>
            <a:endParaRPr lang="en-US"/>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pPr eaLnBrk="1" hangingPunct="1"/>
            <a:endParaRPr lang="en-US" sz="1400" dirty="0">
              <a:latin typeface="Arial Rounded MT Bold" pitchFamily="34" charset="0"/>
            </a:endParaRPr>
          </a:p>
        </p:txBody>
      </p:sp>
    </p:spTree>
    <p:extLst>
      <p:ext uri="{BB962C8B-B14F-4D97-AF65-F5344CB8AC3E}">
        <p14:creationId xmlns:p14="http://schemas.microsoft.com/office/powerpoint/2010/main" val="9949906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 Soft is chopped up super fine usually.  Can have meats, but want them chopped up really well.  Usually will use like an electric food chopper.  Want it moist, not dry,  </a:t>
            </a:r>
          </a:p>
        </p:txBody>
      </p:sp>
      <p:sp>
        <p:nvSpPr>
          <p:cNvPr id="4" name="Slide Number Placeholder 3"/>
          <p:cNvSpPr>
            <a:spLocks noGrp="1"/>
          </p:cNvSpPr>
          <p:nvPr>
            <p:ph type="sldNum" sz="quarter" idx="5"/>
          </p:nvPr>
        </p:nvSpPr>
        <p:spPr/>
        <p:txBody>
          <a:bodyPr/>
          <a:lstStyle/>
          <a:p>
            <a:fld id="{AF74327D-7E57-4587-91EC-425CBC1DB777}" type="slidenum">
              <a:rPr lang="en-US" smtClean="0"/>
              <a:pPr/>
              <a:t>56</a:t>
            </a:fld>
            <a:endParaRPr lang="en-US"/>
          </a:p>
        </p:txBody>
      </p:sp>
    </p:spTree>
    <p:extLst>
      <p:ext uri="{BB962C8B-B14F-4D97-AF65-F5344CB8AC3E}">
        <p14:creationId xmlns:p14="http://schemas.microsoft.com/office/powerpoint/2010/main" val="13884608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57</a:t>
            </a:fld>
            <a:endParaRPr lang="en-US"/>
          </a:p>
        </p:txBody>
      </p:sp>
    </p:spTree>
    <p:extLst>
      <p:ext uri="{BB962C8B-B14F-4D97-AF65-F5344CB8AC3E}">
        <p14:creationId xmlns:p14="http://schemas.microsoft.com/office/powerpoint/2010/main" val="19885678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59</a:t>
            </a:fld>
            <a:endParaRPr lang="en-US"/>
          </a:p>
        </p:txBody>
      </p:sp>
    </p:spTree>
    <p:extLst>
      <p:ext uri="{BB962C8B-B14F-4D97-AF65-F5344CB8AC3E}">
        <p14:creationId xmlns:p14="http://schemas.microsoft.com/office/powerpoint/2010/main" val="2402370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61</a:t>
            </a:fld>
            <a:endParaRPr lang="en-US"/>
          </a:p>
        </p:txBody>
      </p:sp>
    </p:spTree>
    <p:extLst>
      <p:ext uri="{BB962C8B-B14F-4D97-AF65-F5344CB8AC3E}">
        <p14:creationId xmlns:p14="http://schemas.microsoft.com/office/powerpoint/2010/main" val="15674486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637 Med Surg text</a:t>
            </a:r>
          </a:p>
        </p:txBody>
      </p:sp>
      <p:sp>
        <p:nvSpPr>
          <p:cNvPr id="4" name="Slide Number Placeholder 3"/>
          <p:cNvSpPr>
            <a:spLocks noGrp="1"/>
          </p:cNvSpPr>
          <p:nvPr>
            <p:ph type="sldNum" sz="quarter" idx="5"/>
          </p:nvPr>
        </p:nvSpPr>
        <p:spPr/>
        <p:txBody>
          <a:bodyPr/>
          <a:lstStyle/>
          <a:p>
            <a:fld id="{AF74327D-7E57-4587-91EC-425CBC1DB777}" type="slidenum">
              <a:rPr lang="en-US" smtClean="0"/>
              <a:pPr/>
              <a:t>65</a:t>
            </a:fld>
            <a:endParaRPr lang="en-US"/>
          </a:p>
        </p:txBody>
      </p:sp>
    </p:spTree>
    <p:extLst>
      <p:ext uri="{BB962C8B-B14F-4D97-AF65-F5344CB8AC3E}">
        <p14:creationId xmlns:p14="http://schemas.microsoft.com/office/powerpoint/2010/main" val="10306176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497-498 Med Surg text</a:t>
            </a:r>
          </a:p>
        </p:txBody>
      </p:sp>
      <p:sp>
        <p:nvSpPr>
          <p:cNvPr id="4" name="Slide Number Placeholder 3"/>
          <p:cNvSpPr>
            <a:spLocks noGrp="1"/>
          </p:cNvSpPr>
          <p:nvPr>
            <p:ph type="sldNum" sz="quarter" idx="5"/>
          </p:nvPr>
        </p:nvSpPr>
        <p:spPr/>
        <p:txBody>
          <a:bodyPr/>
          <a:lstStyle/>
          <a:p>
            <a:fld id="{AF74327D-7E57-4587-91EC-425CBC1DB777}" type="slidenum">
              <a:rPr lang="en-US" smtClean="0"/>
              <a:pPr/>
              <a:t>67</a:t>
            </a:fld>
            <a:endParaRPr lang="en-US"/>
          </a:p>
        </p:txBody>
      </p:sp>
    </p:spTree>
    <p:extLst>
      <p:ext uri="{BB962C8B-B14F-4D97-AF65-F5344CB8AC3E}">
        <p14:creationId xmlns:p14="http://schemas.microsoft.com/office/powerpoint/2010/main" val="493044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Scurvy—a potentially fatal medical condition caused by vitamin C deficiency—is not common. Children who develop scurvy experience the same symptoms that affect adults. Children with scurvy are usually also prone to </a:t>
            </a:r>
            <a:r>
              <a:rPr lang="en-US" sz="1200" b="1" i="0" kern="1200" dirty="0">
                <a:solidFill>
                  <a:schemeClr val="tx1"/>
                </a:solidFill>
                <a:effectLst/>
                <a:latin typeface="+mn-lt"/>
                <a:ea typeface="+mn-ea"/>
                <a:cs typeface="+mn-cs"/>
              </a:rPr>
              <a:t>failure to thrive</a:t>
            </a:r>
            <a:r>
              <a:rPr lang="en-US" sz="1200" b="0" i="0" kern="1200" dirty="0">
                <a:solidFill>
                  <a:schemeClr val="tx1"/>
                </a:solidFill>
                <a:effectLst/>
                <a:latin typeface="+mn-lt"/>
                <a:ea typeface="+mn-ea"/>
                <a:cs typeface="+mn-cs"/>
              </a:rPr>
              <a:t>, which is a condition characterized by a lack of physical growth, and impaired cognitive and social development.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left untreated, scurvy can cause serious health issues that manifest with fever, </a:t>
            </a:r>
            <a:r>
              <a:rPr lang="en-US" sz="1200" b="0" i="0" u="sng" kern="1200" dirty="0">
                <a:solidFill>
                  <a:schemeClr val="tx1"/>
                </a:solidFill>
                <a:effectLst/>
                <a:latin typeface="+mn-lt"/>
                <a:ea typeface="+mn-ea"/>
                <a:cs typeface="+mn-cs"/>
                <a:hlinkClick r:id="rId3"/>
              </a:rPr>
              <a:t>jaundice</a:t>
            </a:r>
            <a:r>
              <a:rPr lang="en-US" sz="1200" b="0" i="0" kern="1200" dirty="0">
                <a:solidFill>
                  <a:schemeClr val="tx1"/>
                </a:solidFill>
                <a:effectLst/>
                <a:latin typeface="+mn-lt"/>
                <a:ea typeface="+mn-ea"/>
                <a:cs typeface="+mn-cs"/>
              </a:rPr>
              <a:t>, open wounds, multi-organ dysfunction, and may eventually lead to death.</a:t>
            </a:r>
          </a:p>
          <a:p>
            <a:endParaRPr lang="en-US" sz="1200" b="0" i="0" kern="1200" dirty="0">
              <a:solidFill>
                <a:schemeClr val="tx1"/>
              </a:solidFill>
              <a:effectLst/>
              <a:latin typeface="+mn-lt"/>
              <a:ea typeface="+mn-ea"/>
              <a:cs typeface="+mn-cs"/>
            </a:endParaRPr>
          </a:p>
          <a:p>
            <a:r>
              <a:rPr lang="en-US" dirty="0"/>
              <a:t>the Royal Navy made sure that all sailors had lemon juice or lime juice to drink when they were at sea for longer than one month. The sailors thought that it was the acid content of the lemon juice that cured scurvy (vitamin C is also called ascorbic acid).  American sailors started calling British sailors Limeys back in the late 1880’s 90’s.  Was popularized again during WWII.  </a:t>
            </a:r>
          </a:p>
        </p:txBody>
      </p:sp>
      <p:sp>
        <p:nvSpPr>
          <p:cNvPr id="4" name="Slide Number Placeholder 3"/>
          <p:cNvSpPr>
            <a:spLocks noGrp="1"/>
          </p:cNvSpPr>
          <p:nvPr>
            <p:ph type="sldNum" sz="quarter" idx="5"/>
          </p:nvPr>
        </p:nvSpPr>
        <p:spPr/>
        <p:txBody>
          <a:bodyPr/>
          <a:lstStyle/>
          <a:p>
            <a:fld id="{AF74327D-7E57-4587-91EC-425CBC1DB777}" type="slidenum">
              <a:rPr lang="en-US" smtClean="0"/>
              <a:pPr/>
              <a:t>69</a:t>
            </a:fld>
            <a:endParaRPr lang="en-US"/>
          </a:p>
        </p:txBody>
      </p:sp>
    </p:spTree>
    <p:extLst>
      <p:ext uri="{BB962C8B-B14F-4D97-AF65-F5344CB8AC3E}">
        <p14:creationId xmlns:p14="http://schemas.microsoft.com/office/powerpoint/2010/main" val="39283646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pretty uncommon.  In the US there are less than 20,000 cases per year.  </a:t>
            </a:r>
          </a:p>
          <a:p>
            <a:endParaRPr lang="en-US" dirty="0"/>
          </a:p>
          <a:p>
            <a:r>
              <a:rPr lang="en-US" dirty="0"/>
              <a:t>It can also be caused by an undiagnosed liver or kidney disease.  Or it could be an absorption issue, like cystic fibrosis, celiac disease or inflammatory bowel disease.  </a:t>
            </a:r>
          </a:p>
          <a:p>
            <a:endParaRPr lang="en-US" dirty="0"/>
          </a:p>
          <a:p>
            <a:r>
              <a:rPr lang="en-US" dirty="0"/>
              <a:t>Good prenatal care and well child check ups are what catch these things early on. </a:t>
            </a:r>
          </a:p>
        </p:txBody>
      </p:sp>
      <p:sp>
        <p:nvSpPr>
          <p:cNvPr id="4" name="Slide Number Placeholder 3"/>
          <p:cNvSpPr>
            <a:spLocks noGrp="1"/>
          </p:cNvSpPr>
          <p:nvPr>
            <p:ph type="sldNum" sz="quarter" idx="5"/>
          </p:nvPr>
        </p:nvSpPr>
        <p:spPr/>
        <p:txBody>
          <a:bodyPr/>
          <a:lstStyle/>
          <a:p>
            <a:fld id="{AF74327D-7E57-4587-91EC-425CBC1DB777}" type="slidenum">
              <a:rPr lang="en-US" smtClean="0"/>
              <a:pPr/>
              <a:t>71</a:t>
            </a:fld>
            <a:endParaRPr lang="en-US"/>
          </a:p>
        </p:txBody>
      </p:sp>
    </p:spTree>
    <p:extLst>
      <p:ext uri="{BB962C8B-B14F-4D97-AF65-F5344CB8AC3E}">
        <p14:creationId xmlns:p14="http://schemas.microsoft.com/office/powerpoint/2010/main" val="3256224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they are testing for when they prick the newborns heel.  They can also use that blood to screen for other issues.  But PKU is the primary.  </a:t>
            </a:r>
          </a:p>
        </p:txBody>
      </p:sp>
      <p:sp>
        <p:nvSpPr>
          <p:cNvPr id="4" name="Slide Number Placeholder 3"/>
          <p:cNvSpPr>
            <a:spLocks noGrp="1"/>
          </p:cNvSpPr>
          <p:nvPr>
            <p:ph type="sldNum" sz="quarter" idx="5"/>
          </p:nvPr>
        </p:nvSpPr>
        <p:spPr/>
        <p:txBody>
          <a:bodyPr/>
          <a:lstStyle/>
          <a:p>
            <a:fld id="{AF74327D-7E57-4587-91EC-425CBC1DB777}" type="slidenum">
              <a:rPr lang="en-US" smtClean="0"/>
              <a:pPr/>
              <a:t>72</a:t>
            </a:fld>
            <a:endParaRPr lang="en-US"/>
          </a:p>
        </p:txBody>
      </p:sp>
    </p:spTree>
    <p:extLst>
      <p:ext uri="{BB962C8B-B14F-4D97-AF65-F5344CB8AC3E}">
        <p14:creationId xmlns:p14="http://schemas.microsoft.com/office/powerpoint/2010/main" val="24483551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Pretty rare, less than 200,000 cases every year.   A lot of our foods like breakfast cereals and breads are already enriched.  You see this more with people who abuse alcohol.  Heavy drinkers usually have poor nutrition.  Excess alcohol makes it harder to the body to absorb and store B vitamins.  </a:t>
            </a:r>
          </a:p>
          <a:p>
            <a:endParaRPr lang="en-US" dirty="0"/>
          </a:p>
          <a:p>
            <a:r>
              <a:rPr lang="en-US" dirty="0"/>
              <a:t>This disease is more common in </a:t>
            </a:r>
            <a:r>
              <a:rPr lang="en-US" dirty="0" err="1"/>
              <a:t>regiions</a:t>
            </a:r>
            <a:r>
              <a:rPr lang="en-US" dirty="0"/>
              <a:t> of the world where the diet includes unenriched, processed white rice which only has a tenth of the amount of thiamine as brown rice.  </a:t>
            </a:r>
          </a:p>
          <a:p>
            <a:endParaRPr lang="en-US" dirty="0"/>
          </a:p>
          <a:p>
            <a:r>
              <a:rPr lang="en-US" dirty="0"/>
              <a:t>Its treated with supplements, probably thiamine injections or even IV thiamine.  They’ll keep doing blood work to check levels.  If its alcohol induced, they may make you go to rehab before doing anything else.  </a:t>
            </a:r>
          </a:p>
        </p:txBody>
      </p:sp>
      <p:sp>
        <p:nvSpPr>
          <p:cNvPr id="4" name="Slide Number Placeholder 3"/>
          <p:cNvSpPr>
            <a:spLocks noGrp="1"/>
          </p:cNvSpPr>
          <p:nvPr>
            <p:ph type="sldNum" sz="quarter" idx="5"/>
          </p:nvPr>
        </p:nvSpPr>
        <p:spPr/>
        <p:txBody>
          <a:bodyPr/>
          <a:lstStyle/>
          <a:p>
            <a:fld id="{AF74327D-7E57-4587-91EC-425CBC1DB777}" type="slidenum">
              <a:rPr lang="en-US" smtClean="0"/>
              <a:pPr/>
              <a:t>75</a:t>
            </a:fld>
            <a:endParaRPr lang="en-US"/>
          </a:p>
        </p:txBody>
      </p:sp>
    </p:spTree>
    <p:extLst>
      <p:ext uri="{BB962C8B-B14F-4D97-AF65-F5344CB8AC3E}">
        <p14:creationId xmlns:p14="http://schemas.microsoft.com/office/powerpoint/2010/main" val="39639008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substances: </a:t>
            </a:r>
            <a:r>
              <a:rPr lang="en-US" sz="1200" b="0" i="0" kern="1200" dirty="0">
                <a:solidFill>
                  <a:schemeClr val="tx1"/>
                </a:solidFill>
                <a:effectLst/>
                <a:latin typeface="+mn-lt"/>
                <a:ea typeface="+mn-ea"/>
                <a:cs typeface="+mn-cs"/>
              </a:rPr>
              <a:t>paper, soap, cloth, hair, string, wool, soil, chalk, talcum powder, paint, gum, metal, pebbles, charcoal, ash, clay, starch, or ice. </a:t>
            </a:r>
          </a:p>
          <a:p>
            <a:endParaRPr lang="en-US" sz="1200" b="0" i="0" kern="1200" dirty="0">
              <a:solidFill>
                <a:schemeClr val="tx1"/>
              </a:solidFill>
              <a:effectLst/>
              <a:latin typeface="+mn-lt"/>
              <a:ea typeface="+mn-ea"/>
              <a:cs typeface="+mn-cs"/>
            </a:endParaRPr>
          </a:p>
          <a:p>
            <a:r>
              <a:rPr lang="en-US" dirty="0">
                <a:hlinkClick r:id="rId3"/>
              </a:rPr>
              <a:t>Pica | National Eating Disorders Association</a:t>
            </a:r>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77</a:t>
            </a:fld>
            <a:endParaRPr lang="en-US"/>
          </a:p>
        </p:txBody>
      </p:sp>
    </p:spTree>
    <p:extLst>
      <p:ext uri="{BB962C8B-B14F-4D97-AF65-F5344CB8AC3E}">
        <p14:creationId xmlns:p14="http://schemas.microsoft.com/office/powerpoint/2010/main" val="16046593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78</a:t>
            </a:fld>
            <a:endParaRPr lang="en-US"/>
          </a:p>
        </p:txBody>
      </p:sp>
    </p:spTree>
    <p:extLst>
      <p:ext uri="{BB962C8B-B14F-4D97-AF65-F5344CB8AC3E}">
        <p14:creationId xmlns:p14="http://schemas.microsoft.com/office/powerpoint/2010/main" val="36300252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79</a:t>
            </a:fld>
            <a:endParaRPr lang="en-US"/>
          </a:p>
        </p:txBody>
      </p:sp>
    </p:spTree>
    <p:extLst>
      <p:ext uri="{BB962C8B-B14F-4D97-AF65-F5344CB8AC3E}">
        <p14:creationId xmlns:p14="http://schemas.microsoft.com/office/powerpoint/2010/main" val="41196768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Rounded MT Bold" pitchFamily="34" charset="0"/>
              </a:rPr>
              <a:t>COCA: Color, Odor, Consistency, Appearance (stools)</a:t>
            </a:r>
          </a:p>
        </p:txBody>
      </p:sp>
      <p:sp>
        <p:nvSpPr>
          <p:cNvPr id="4" name="Slide Number Placeholder 3"/>
          <p:cNvSpPr>
            <a:spLocks noGrp="1"/>
          </p:cNvSpPr>
          <p:nvPr>
            <p:ph type="sldNum" sz="quarter" idx="10"/>
          </p:nvPr>
        </p:nvSpPr>
        <p:spPr/>
        <p:txBody>
          <a:bodyPr/>
          <a:lstStyle/>
          <a:p>
            <a:fld id="{AF74327D-7E57-4587-91EC-425CBC1DB777}" type="slidenum">
              <a:rPr lang="en-US" smtClean="0"/>
              <a:pPr/>
              <a:t>80</a:t>
            </a:fld>
            <a:endParaRPr lang="en-US"/>
          </a:p>
        </p:txBody>
      </p:sp>
    </p:spTree>
    <p:extLst>
      <p:ext uri="{BB962C8B-B14F-4D97-AF65-F5344CB8AC3E}">
        <p14:creationId xmlns:p14="http://schemas.microsoft.com/office/powerpoint/2010/main" val="9757637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81</a:t>
            </a:fld>
            <a:endParaRPr lang="en-US"/>
          </a:p>
        </p:txBody>
      </p:sp>
    </p:spTree>
    <p:extLst>
      <p:ext uri="{BB962C8B-B14F-4D97-AF65-F5344CB8AC3E}">
        <p14:creationId xmlns:p14="http://schemas.microsoft.com/office/powerpoint/2010/main" val="11799895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74327D-7E57-4587-91EC-425CBC1DB777}" type="slidenum">
              <a:rPr lang="en-US" smtClean="0"/>
              <a:pPr/>
              <a:t>82</a:t>
            </a:fld>
            <a:endParaRPr lang="en-US"/>
          </a:p>
        </p:txBody>
      </p:sp>
    </p:spTree>
    <p:extLst>
      <p:ext uri="{BB962C8B-B14F-4D97-AF65-F5344CB8AC3E}">
        <p14:creationId xmlns:p14="http://schemas.microsoft.com/office/powerpoint/2010/main" val="201554309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Pellagra is a disease caused by a lack of the vitamin niacin. Symptoms include inflamed skin, diarrhea, dementia, and sores in the mouth. Areas of the skin exposed to either sunlight or friction are typically affected first. </a:t>
            </a:r>
            <a:r>
              <a:rPr lang="en-US" sz="1200" b="0" i="0" kern="1200">
                <a:solidFill>
                  <a:schemeClr val="tx1"/>
                </a:solidFill>
                <a:effectLst/>
                <a:latin typeface="+mn-lt"/>
                <a:ea typeface="+mn-ea"/>
                <a:cs typeface="+mn-cs"/>
              </a:rPr>
              <a:t>Over time affected skin may become darker, stiffen, peel, or bleed.</a:t>
            </a:r>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83</a:t>
            </a:fld>
            <a:endParaRPr lang="en-US"/>
          </a:p>
        </p:txBody>
      </p:sp>
    </p:spTree>
    <p:extLst>
      <p:ext uri="{BB962C8B-B14F-4D97-AF65-F5344CB8AC3E}">
        <p14:creationId xmlns:p14="http://schemas.microsoft.com/office/powerpoint/2010/main" val="11336366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84</a:t>
            </a:fld>
            <a:endParaRPr lang="en-US"/>
          </a:p>
        </p:txBody>
      </p:sp>
    </p:spTree>
    <p:extLst>
      <p:ext uri="{BB962C8B-B14F-4D97-AF65-F5344CB8AC3E}">
        <p14:creationId xmlns:p14="http://schemas.microsoft.com/office/powerpoint/2010/main" val="19450780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85</a:t>
            </a:fld>
            <a:endParaRPr lang="en-US"/>
          </a:p>
        </p:txBody>
      </p:sp>
    </p:spTree>
    <p:extLst>
      <p:ext uri="{BB962C8B-B14F-4D97-AF65-F5344CB8AC3E}">
        <p14:creationId xmlns:p14="http://schemas.microsoft.com/office/powerpoint/2010/main" val="345704052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86</a:t>
            </a:fld>
            <a:endParaRPr lang="en-US"/>
          </a:p>
        </p:txBody>
      </p:sp>
    </p:spTree>
    <p:extLst>
      <p:ext uri="{BB962C8B-B14F-4D97-AF65-F5344CB8AC3E}">
        <p14:creationId xmlns:p14="http://schemas.microsoft.com/office/powerpoint/2010/main" val="28966834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74327D-7E57-4587-91EC-425CBC1DB777}" type="slidenum">
              <a:rPr lang="en-US" smtClean="0"/>
              <a:pPr/>
              <a:t>87</a:t>
            </a:fld>
            <a:endParaRPr lang="en-US"/>
          </a:p>
        </p:txBody>
      </p:sp>
    </p:spTree>
    <p:extLst>
      <p:ext uri="{BB962C8B-B14F-4D97-AF65-F5344CB8AC3E}">
        <p14:creationId xmlns:p14="http://schemas.microsoft.com/office/powerpoint/2010/main" val="21114706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88</a:t>
            </a:fld>
            <a:endParaRPr lang="en-US"/>
          </a:p>
        </p:txBody>
      </p:sp>
    </p:spTree>
    <p:extLst>
      <p:ext uri="{BB962C8B-B14F-4D97-AF65-F5344CB8AC3E}">
        <p14:creationId xmlns:p14="http://schemas.microsoft.com/office/powerpoint/2010/main" val="9976164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IBS- Irritable Bowel Syndrome</a:t>
            </a:r>
          </a:p>
          <a:p>
            <a:r>
              <a:rPr lang="en-US" dirty="0"/>
              <a:t>PUD – Peptic Ulcer Disease</a:t>
            </a:r>
          </a:p>
          <a:p>
            <a:r>
              <a:rPr lang="en-US" dirty="0"/>
              <a:t>GERD- Gastroesophageal Reflux Disease</a:t>
            </a:r>
          </a:p>
        </p:txBody>
      </p:sp>
      <p:sp>
        <p:nvSpPr>
          <p:cNvPr id="4" name="Slide Number Placeholder 3"/>
          <p:cNvSpPr>
            <a:spLocks noGrp="1"/>
          </p:cNvSpPr>
          <p:nvPr>
            <p:ph type="sldNum" sz="quarter" idx="10"/>
          </p:nvPr>
        </p:nvSpPr>
        <p:spPr/>
        <p:txBody>
          <a:bodyPr/>
          <a:lstStyle/>
          <a:p>
            <a:fld id="{AF74327D-7E57-4587-91EC-425CBC1DB777}" type="slidenum">
              <a:rPr lang="en-US" smtClean="0"/>
              <a:pPr/>
              <a:t>89</a:t>
            </a:fld>
            <a:endParaRPr lang="en-US"/>
          </a:p>
        </p:txBody>
      </p:sp>
    </p:spTree>
    <p:extLst>
      <p:ext uri="{BB962C8B-B14F-4D97-AF65-F5344CB8AC3E}">
        <p14:creationId xmlns:p14="http://schemas.microsoft.com/office/powerpoint/2010/main" val="8586497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90</a:t>
            </a:fld>
            <a:endParaRPr lang="en-US"/>
          </a:p>
        </p:txBody>
      </p:sp>
    </p:spTree>
    <p:extLst>
      <p:ext uri="{BB962C8B-B14F-4D97-AF65-F5344CB8AC3E}">
        <p14:creationId xmlns:p14="http://schemas.microsoft.com/office/powerpoint/2010/main" val="4891356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91</a:t>
            </a:fld>
            <a:endParaRPr lang="en-US"/>
          </a:p>
        </p:txBody>
      </p:sp>
    </p:spTree>
    <p:extLst>
      <p:ext uri="{BB962C8B-B14F-4D97-AF65-F5344CB8AC3E}">
        <p14:creationId xmlns:p14="http://schemas.microsoft.com/office/powerpoint/2010/main" val="35381781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9F9580EC-FB8B-48B4-8AA1-70B8AF7CE6D7}" type="slidenum">
              <a:rPr lang="en-US" smtClean="0"/>
              <a:pPr/>
              <a:t>94</a:t>
            </a:fld>
            <a:endParaRPr 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pPr eaLnBrk="1" hangingPunct="1"/>
            <a:r>
              <a:rPr lang="en-US" sz="1600" dirty="0">
                <a:latin typeface="Arial Rounded MT Bold" panose="020F0704030504030204" pitchFamily="34" charset="0"/>
              </a:rPr>
              <a:t>If you explain to someone why they need to do something or make a change, they are much more likely to accept and adhere to it.  If you just say, do it because your dr. said so.  Its not received as well. </a:t>
            </a:r>
          </a:p>
        </p:txBody>
      </p:sp>
    </p:spTree>
    <p:extLst>
      <p:ext uri="{BB962C8B-B14F-4D97-AF65-F5344CB8AC3E}">
        <p14:creationId xmlns:p14="http://schemas.microsoft.com/office/powerpoint/2010/main" val="5496875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95</a:t>
            </a:fld>
            <a:endParaRPr lang="en-US"/>
          </a:p>
        </p:txBody>
      </p:sp>
    </p:spTree>
    <p:extLst>
      <p:ext uri="{BB962C8B-B14F-4D97-AF65-F5344CB8AC3E}">
        <p14:creationId xmlns:p14="http://schemas.microsoft.com/office/powerpoint/2010/main" val="24608704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96</a:t>
            </a:fld>
            <a:endParaRPr lang="en-US"/>
          </a:p>
        </p:txBody>
      </p:sp>
    </p:spTree>
    <p:extLst>
      <p:ext uri="{BB962C8B-B14F-4D97-AF65-F5344CB8AC3E}">
        <p14:creationId xmlns:p14="http://schemas.microsoft.com/office/powerpoint/2010/main" val="337907252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97</a:t>
            </a:fld>
            <a:endParaRPr lang="en-US"/>
          </a:p>
        </p:txBody>
      </p:sp>
    </p:spTree>
    <p:extLst>
      <p:ext uri="{BB962C8B-B14F-4D97-AF65-F5344CB8AC3E}">
        <p14:creationId xmlns:p14="http://schemas.microsoft.com/office/powerpoint/2010/main" val="111591728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98</a:t>
            </a:fld>
            <a:endParaRPr lang="en-US"/>
          </a:p>
        </p:txBody>
      </p:sp>
    </p:spTree>
    <p:extLst>
      <p:ext uri="{BB962C8B-B14F-4D97-AF65-F5344CB8AC3E}">
        <p14:creationId xmlns:p14="http://schemas.microsoft.com/office/powerpoint/2010/main" val="83066164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99</a:t>
            </a:fld>
            <a:endParaRPr lang="en-US"/>
          </a:p>
        </p:txBody>
      </p:sp>
    </p:spTree>
    <p:extLst>
      <p:ext uri="{BB962C8B-B14F-4D97-AF65-F5344CB8AC3E}">
        <p14:creationId xmlns:p14="http://schemas.microsoft.com/office/powerpoint/2010/main" val="2800093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100</a:t>
            </a:fld>
            <a:endParaRPr lang="en-US"/>
          </a:p>
        </p:txBody>
      </p:sp>
    </p:spTree>
    <p:extLst>
      <p:ext uri="{BB962C8B-B14F-4D97-AF65-F5344CB8AC3E}">
        <p14:creationId xmlns:p14="http://schemas.microsoft.com/office/powerpoint/2010/main" val="143898723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101</a:t>
            </a:fld>
            <a:endParaRPr lang="en-US"/>
          </a:p>
        </p:txBody>
      </p:sp>
    </p:spTree>
    <p:extLst>
      <p:ext uri="{BB962C8B-B14F-4D97-AF65-F5344CB8AC3E}">
        <p14:creationId xmlns:p14="http://schemas.microsoft.com/office/powerpoint/2010/main" val="276679051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102</a:t>
            </a:fld>
            <a:endParaRPr lang="en-US"/>
          </a:p>
        </p:txBody>
      </p:sp>
    </p:spTree>
    <p:extLst>
      <p:ext uri="{BB962C8B-B14F-4D97-AF65-F5344CB8AC3E}">
        <p14:creationId xmlns:p14="http://schemas.microsoft.com/office/powerpoint/2010/main" val="101095881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liquid diet </a:t>
            </a:r>
            <a:r>
              <a:rPr lang="en-US" sz="1200" b="0" i="0" kern="1200" dirty="0">
                <a:solidFill>
                  <a:schemeClr val="tx1"/>
                </a:solidFill>
                <a:effectLst/>
                <a:latin typeface="+mn-lt"/>
                <a:ea typeface="+mn-ea"/>
                <a:cs typeface="+mn-cs"/>
              </a:rPr>
              <a:t>is a diet that mostly consists of liquids, or soft foods that melt at room temperature. A liquid diet usually helps provide sufficient hydration, helps maintain electrolyte balance, and is often prescribed for people when solid food diets are not recommended, such as for people who suffer with gastrointestinal illness or damage, or before or after certain types of medical tests or surgeries involving the mouth or the digestive tract.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Nectar Liquid Diet -- also known as the Nectar Thick Liquid Diet -- is </a:t>
            </a:r>
            <a:r>
              <a:rPr lang="en-US" sz="1200" b="1" i="0" kern="1200" dirty="0">
                <a:solidFill>
                  <a:schemeClr val="tx1"/>
                </a:solidFill>
                <a:effectLst/>
                <a:latin typeface="+mn-lt"/>
                <a:ea typeface="+mn-ea"/>
                <a:cs typeface="+mn-cs"/>
              </a:rPr>
              <a:t>not a weight loss diet plan</a:t>
            </a:r>
            <a:r>
              <a:rPr lang="en-US" sz="1200" b="0" i="0" kern="1200" dirty="0">
                <a:solidFill>
                  <a:schemeClr val="tx1"/>
                </a:solidFill>
                <a:effectLst/>
                <a:latin typeface="+mn-lt"/>
                <a:ea typeface="+mn-ea"/>
                <a:cs typeface="+mn-cs"/>
              </a:rPr>
              <a:t>, but rather a </a:t>
            </a:r>
            <a:r>
              <a:rPr lang="en-US" sz="1200" b="1" i="0" kern="1200" dirty="0">
                <a:solidFill>
                  <a:schemeClr val="tx1"/>
                </a:solidFill>
                <a:effectLst/>
                <a:latin typeface="+mn-lt"/>
                <a:ea typeface="+mn-ea"/>
                <a:cs typeface="+mn-cs"/>
              </a:rPr>
              <a:t>specialized nutrition plan for individuals that suffer from dysphagia, or difficulty chewing and swallowing food</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Honey thick liquids: </a:t>
            </a:r>
            <a:r>
              <a:rPr lang="en-US" sz="1200" b="1" i="0" kern="1200" dirty="0">
                <a:solidFill>
                  <a:schemeClr val="tx1"/>
                </a:solidFill>
                <a:effectLst/>
                <a:latin typeface="+mn-lt"/>
                <a:ea typeface="+mn-ea"/>
                <a:cs typeface="+mn-cs"/>
              </a:rPr>
              <a:t>Honey consistency</a:t>
            </a:r>
            <a:r>
              <a:rPr lang="en-US" sz="1200" b="0" i="0" kern="1200" dirty="0">
                <a:solidFill>
                  <a:schemeClr val="tx1"/>
                </a:solidFill>
                <a:effectLst/>
                <a:latin typeface="+mn-lt"/>
                <a:ea typeface="+mn-ea"/>
                <a:cs typeface="+mn-cs"/>
              </a:rPr>
              <a:t> means l</a:t>
            </a:r>
            <a:r>
              <a:rPr lang="en-US" sz="1200" b="1" i="0" kern="1200" dirty="0">
                <a:solidFill>
                  <a:schemeClr val="tx1"/>
                </a:solidFill>
                <a:effectLst/>
                <a:latin typeface="+mn-lt"/>
                <a:ea typeface="+mn-ea"/>
                <a:cs typeface="+mn-cs"/>
              </a:rPr>
              <a:t> liquids</a:t>
            </a:r>
            <a:r>
              <a:rPr lang="en-US" sz="1200" b="0" i="0" kern="1200" dirty="0">
                <a:solidFill>
                  <a:schemeClr val="tx1"/>
                </a:solidFill>
                <a:effectLst/>
                <a:latin typeface="+mn-lt"/>
                <a:ea typeface="+mn-ea"/>
                <a:cs typeface="+mn-cs"/>
              </a:rPr>
              <a:t> can still be poured, but are very slow. Some</a:t>
            </a:r>
            <a:r>
              <a:rPr lang="en-US" sz="1200" b="1" i="0" kern="1200" dirty="0">
                <a:solidFill>
                  <a:schemeClr val="tx1"/>
                </a:solidFill>
                <a:effectLst/>
                <a:latin typeface="+mn-lt"/>
                <a:ea typeface="+mn-ea"/>
                <a:cs typeface="+mn-cs"/>
              </a:rPr>
              <a:t> liquids</a:t>
            </a:r>
            <a:r>
              <a:rPr lang="en-US" sz="1200" b="0" i="0" kern="1200" dirty="0">
                <a:solidFill>
                  <a:schemeClr val="tx1"/>
                </a:solidFill>
                <a:effectLst/>
                <a:latin typeface="+mn-lt"/>
                <a:ea typeface="+mn-ea"/>
                <a:cs typeface="+mn-cs"/>
              </a:rPr>
              <a:t> will require a</a:t>
            </a:r>
            <a:r>
              <a:rPr lang="en-US" sz="1200" b="1" i="0" kern="1200" dirty="0">
                <a:solidFill>
                  <a:schemeClr val="tx1"/>
                </a:solidFill>
                <a:effectLst/>
                <a:latin typeface="+mn-lt"/>
                <a:ea typeface="+mn-ea"/>
                <a:cs typeface="+mn-cs"/>
              </a:rPr>
              <a:t> thickening</a:t>
            </a:r>
            <a:r>
              <a:rPr lang="en-US" sz="1200" b="0" i="0" kern="1200" dirty="0">
                <a:solidFill>
                  <a:schemeClr val="tx1"/>
                </a:solidFill>
                <a:effectLst/>
                <a:latin typeface="+mn-lt"/>
                <a:ea typeface="+mn-ea"/>
                <a:cs typeface="+mn-cs"/>
              </a:rPr>
              <a:t> agent to be added to reach</a:t>
            </a:r>
            <a:r>
              <a:rPr lang="en-US" sz="1200" b="1" i="0" kern="1200" dirty="0">
                <a:solidFill>
                  <a:schemeClr val="tx1"/>
                </a:solidFill>
                <a:effectLst/>
                <a:latin typeface="+mn-lt"/>
                <a:ea typeface="+mn-ea"/>
                <a:cs typeface="+mn-cs"/>
              </a:rPr>
              <a:t> honey consistency.</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Pudding Thick liquids</a:t>
            </a:r>
            <a:r>
              <a:rPr lang="en-US" sz="1200" b="0" i="0" kern="1200" dirty="0">
                <a:solidFill>
                  <a:schemeClr val="tx1"/>
                </a:solidFill>
                <a:effectLst/>
                <a:latin typeface="+mn-lt"/>
                <a:ea typeface="+mn-ea"/>
                <a:cs typeface="+mn-cs"/>
              </a:rPr>
              <a:t>: liquid stays on a spoon in a soft mass but will not hold its shape. It pours slowly off a spoon and is sip-able. This consistency is difficult to draw though a wide-bore straw.</a:t>
            </a:r>
            <a:endParaRPr lang="en-US" dirty="0"/>
          </a:p>
        </p:txBody>
      </p:sp>
      <p:sp>
        <p:nvSpPr>
          <p:cNvPr id="4" name="Slide Number Placeholder 3"/>
          <p:cNvSpPr>
            <a:spLocks noGrp="1"/>
          </p:cNvSpPr>
          <p:nvPr>
            <p:ph type="sldNum" sz="quarter" idx="10"/>
          </p:nvPr>
        </p:nvSpPr>
        <p:spPr/>
        <p:txBody>
          <a:bodyPr/>
          <a:lstStyle/>
          <a:p>
            <a:fld id="{AF74327D-7E57-4587-91EC-425CBC1DB777}" type="slidenum">
              <a:rPr lang="en-US" smtClean="0"/>
              <a:pPr/>
              <a:t>103</a:t>
            </a:fld>
            <a:endParaRPr lang="en-US"/>
          </a:p>
        </p:txBody>
      </p:sp>
    </p:spTree>
    <p:extLst>
      <p:ext uri="{BB962C8B-B14F-4D97-AF65-F5344CB8AC3E}">
        <p14:creationId xmlns:p14="http://schemas.microsoft.com/office/powerpoint/2010/main" val="280577453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105</a:t>
            </a:fld>
            <a:endParaRPr lang="en-US"/>
          </a:p>
        </p:txBody>
      </p:sp>
    </p:spTree>
    <p:extLst>
      <p:ext uri="{BB962C8B-B14F-4D97-AF65-F5344CB8AC3E}">
        <p14:creationId xmlns:p14="http://schemas.microsoft.com/office/powerpoint/2010/main" val="24579743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106</a:t>
            </a:fld>
            <a:endParaRPr lang="en-US"/>
          </a:p>
        </p:txBody>
      </p:sp>
    </p:spTree>
    <p:extLst>
      <p:ext uri="{BB962C8B-B14F-4D97-AF65-F5344CB8AC3E}">
        <p14:creationId xmlns:p14="http://schemas.microsoft.com/office/powerpoint/2010/main" val="22035178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74327D-7E57-4587-91EC-425CBC1DB777}" type="slidenum">
              <a:rPr lang="en-US" smtClean="0"/>
              <a:pPr/>
              <a:t>107</a:t>
            </a:fld>
            <a:endParaRPr lang="en-US"/>
          </a:p>
        </p:txBody>
      </p:sp>
    </p:spTree>
    <p:extLst>
      <p:ext uri="{BB962C8B-B14F-4D97-AF65-F5344CB8AC3E}">
        <p14:creationId xmlns:p14="http://schemas.microsoft.com/office/powerpoint/2010/main" val="321923090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108</a:t>
            </a:fld>
            <a:endParaRPr lang="en-US"/>
          </a:p>
        </p:txBody>
      </p:sp>
    </p:spTree>
    <p:extLst>
      <p:ext uri="{BB962C8B-B14F-4D97-AF65-F5344CB8AC3E}">
        <p14:creationId xmlns:p14="http://schemas.microsoft.com/office/powerpoint/2010/main" val="191429441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109</a:t>
            </a:fld>
            <a:endParaRPr lang="en-US"/>
          </a:p>
        </p:txBody>
      </p:sp>
    </p:spTree>
    <p:extLst>
      <p:ext uri="{BB962C8B-B14F-4D97-AF65-F5344CB8AC3E}">
        <p14:creationId xmlns:p14="http://schemas.microsoft.com/office/powerpoint/2010/main" val="41700074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Sodium retains fluids – fluid retention creates extra work for the kidneys, liver and heart. Raises blood pressure which in turn stresses the kidneys, heart works harder, lungs are full of fluid, extremities are swollen.  The goal is typically less than 2,000 mg of sodium a day.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112</a:t>
            </a:fld>
            <a:endParaRPr lang="en-US"/>
          </a:p>
        </p:txBody>
      </p:sp>
    </p:spTree>
    <p:extLst>
      <p:ext uri="{BB962C8B-B14F-4D97-AF65-F5344CB8AC3E}">
        <p14:creationId xmlns:p14="http://schemas.microsoft.com/office/powerpoint/2010/main" val="4837368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113</a:t>
            </a:fld>
            <a:endParaRPr lang="en-US"/>
          </a:p>
        </p:txBody>
      </p:sp>
    </p:spTree>
    <p:extLst>
      <p:ext uri="{BB962C8B-B14F-4D97-AF65-F5344CB8AC3E}">
        <p14:creationId xmlns:p14="http://schemas.microsoft.com/office/powerpoint/2010/main" val="18448904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74327D-7E57-4587-91EC-425CBC1DB777}" type="slidenum">
              <a:rPr lang="en-US" smtClean="0"/>
              <a:pPr/>
              <a:t>114</a:t>
            </a:fld>
            <a:endParaRPr lang="en-US"/>
          </a:p>
        </p:txBody>
      </p:sp>
    </p:spTree>
    <p:extLst>
      <p:ext uri="{BB962C8B-B14F-4D97-AF65-F5344CB8AC3E}">
        <p14:creationId xmlns:p14="http://schemas.microsoft.com/office/powerpoint/2010/main" val="16580472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Pg</a:t>
            </a:r>
            <a:r>
              <a:rPr lang="en-US" dirty="0"/>
              <a:t> 125 Older Client Care text</a:t>
            </a:r>
          </a:p>
          <a:p>
            <a:endParaRPr lang="en-US" dirty="0"/>
          </a:p>
          <a:p>
            <a:r>
              <a:rPr lang="en-US" dirty="0"/>
              <a:t>Clear-liquid diet: foods that are liquid at room temperature and can be seen through. Ex: strained juices, teas, carbonated drinks (Sprite or </a:t>
            </a:r>
            <a:r>
              <a:rPr lang="en-US" dirty="0" err="1"/>
              <a:t>GingerAle</a:t>
            </a:r>
            <a:r>
              <a:rPr lang="en-US" dirty="0"/>
              <a:t>), clear broths, and gelatins</a:t>
            </a:r>
          </a:p>
          <a:p>
            <a:endParaRPr lang="en-US" dirty="0"/>
          </a:p>
          <a:p>
            <a:r>
              <a:rPr lang="en-US" dirty="0"/>
              <a:t>Full-liquid diet: foods that are clear-liquid with addition of foods that are not necessarily clear. Ex: custards, ice cream, milk, blended fruits and vegetables</a:t>
            </a:r>
          </a:p>
          <a:p>
            <a:endParaRPr lang="en-US" dirty="0"/>
          </a:p>
          <a:p>
            <a:r>
              <a:rPr lang="en-US" dirty="0"/>
              <a:t>Soft-diet: Includes foods from regular diet that have been modified for people who have difficulty chewing foods. Ex: mashed, chopped, or ground</a:t>
            </a:r>
          </a:p>
          <a:p>
            <a:endParaRPr lang="en-US" dirty="0"/>
          </a:p>
          <a:p>
            <a:r>
              <a:rPr lang="en-US" dirty="0"/>
              <a:t>Regular-diet: No special nutritional needs</a:t>
            </a:r>
          </a:p>
          <a:p>
            <a:endParaRPr lang="en-US" dirty="0"/>
          </a:p>
          <a:p>
            <a:r>
              <a:rPr lang="en-US" dirty="0"/>
              <a:t>Who orders these diets?    So if a patient comes in through the ED and they are having abdominal pain.  Its pretty site specific, they are getting admitted.  The ED physician is lazy and just writes for diet as tolerated.  You as the floor nurse receive that patient and realize, hey it’s a strong possibility that this person may be going to surgery later today or tomorrow.  They might need to be made NPO.   The surgeon will give orders for that.  </a:t>
            </a:r>
          </a:p>
          <a:p>
            <a:endParaRPr lang="en-US" dirty="0"/>
          </a:p>
        </p:txBody>
      </p:sp>
      <p:sp>
        <p:nvSpPr>
          <p:cNvPr id="4" name="Slide Number Placeholder 3"/>
          <p:cNvSpPr>
            <a:spLocks noGrp="1"/>
          </p:cNvSpPr>
          <p:nvPr>
            <p:ph type="sldNum" sz="quarter" idx="10"/>
          </p:nvPr>
        </p:nvSpPr>
        <p:spPr/>
        <p:txBody>
          <a:bodyPr/>
          <a:lstStyle/>
          <a:p>
            <a:fld id="{AF74327D-7E57-4587-91EC-425CBC1DB777}" type="slidenum">
              <a:rPr lang="en-US" smtClean="0"/>
              <a:pPr/>
              <a:t>115</a:t>
            </a:fld>
            <a:endParaRPr lang="en-US"/>
          </a:p>
        </p:txBody>
      </p:sp>
    </p:spTree>
    <p:extLst>
      <p:ext uri="{BB962C8B-B14F-4D97-AF65-F5344CB8AC3E}">
        <p14:creationId xmlns:p14="http://schemas.microsoft.com/office/powerpoint/2010/main" val="408523497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116</a:t>
            </a:fld>
            <a:endParaRPr lang="en-US"/>
          </a:p>
        </p:txBody>
      </p:sp>
    </p:spTree>
    <p:extLst>
      <p:ext uri="{BB962C8B-B14F-4D97-AF65-F5344CB8AC3E}">
        <p14:creationId xmlns:p14="http://schemas.microsoft.com/office/powerpoint/2010/main" val="358322784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117</a:t>
            </a:fld>
            <a:endParaRPr lang="en-US"/>
          </a:p>
        </p:txBody>
      </p:sp>
    </p:spTree>
    <p:extLst>
      <p:ext uri="{BB962C8B-B14F-4D97-AF65-F5344CB8AC3E}">
        <p14:creationId xmlns:p14="http://schemas.microsoft.com/office/powerpoint/2010/main" val="338000625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Rounded MT Bold" pitchFamily="34" charset="0"/>
            </a:endParaRPr>
          </a:p>
        </p:txBody>
      </p:sp>
      <p:sp>
        <p:nvSpPr>
          <p:cNvPr id="4" name="Slide Number Placeholder 3"/>
          <p:cNvSpPr>
            <a:spLocks noGrp="1"/>
          </p:cNvSpPr>
          <p:nvPr>
            <p:ph type="sldNum" sz="quarter" idx="10"/>
          </p:nvPr>
        </p:nvSpPr>
        <p:spPr/>
        <p:txBody>
          <a:bodyPr/>
          <a:lstStyle/>
          <a:p>
            <a:fld id="{AF74327D-7E57-4587-91EC-425CBC1DB777}" type="slidenum">
              <a:rPr lang="en-US" smtClean="0"/>
              <a:pPr/>
              <a:t>118</a:t>
            </a:fld>
            <a:endParaRPr lang="en-US"/>
          </a:p>
        </p:txBody>
      </p:sp>
    </p:spTree>
    <p:extLst>
      <p:ext uri="{BB962C8B-B14F-4D97-AF65-F5344CB8AC3E}">
        <p14:creationId xmlns:p14="http://schemas.microsoft.com/office/powerpoint/2010/main" val="23697292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Rounded MT Bold" pitchFamily="34" charset="0"/>
              </a:rPr>
              <a:t>PEG stands for percutaneous endoscopic gastrostomy.    Use a scope to go in an place the tube in a very specific area.  </a:t>
            </a:r>
          </a:p>
        </p:txBody>
      </p:sp>
      <p:sp>
        <p:nvSpPr>
          <p:cNvPr id="4" name="Slide Number Placeholder 3"/>
          <p:cNvSpPr>
            <a:spLocks noGrp="1"/>
          </p:cNvSpPr>
          <p:nvPr>
            <p:ph type="sldNum" sz="quarter" idx="10"/>
          </p:nvPr>
        </p:nvSpPr>
        <p:spPr/>
        <p:txBody>
          <a:bodyPr/>
          <a:lstStyle/>
          <a:p>
            <a:fld id="{AF74327D-7E57-4587-91EC-425CBC1DB777}" type="slidenum">
              <a:rPr lang="en-US" smtClean="0"/>
              <a:pPr/>
              <a:t>119</a:t>
            </a:fld>
            <a:endParaRPr lang="en-US"/>
          </a:p>
        </p:txBody>
      </p:sp>
    </p:spTree>
    <p:extLst>
      <p:ext uri="{BB962C8B-B14F-4D97-AF65-F5344CB8AC3E}">
        <p14:creationId xmlns:p14="http://schemas.microsoft.com/office/powerpoint/2010/main" val="267479912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hlinkClick r:id="rId3"/>
              </a:rPr>
              <a:t>Nasogastric</a:t>
            </a:r>
            <a:r>
              <a:rPr lang="en-US" sz="1200" b="0" i="0" kern="1200" dirty="0">
                <a:solidFill>
                  <a:schemeClr val="tx1"/>
                </a:solidFill>
                <a:effectLst/>
                <a:latin typeface="+mn-lt"/>
                <a:ea typeface="+mn-ea"/>
                <a:cs typeface="+mn-cs"/>
              </a:rPr>
              <a:t> (NG) tubes or Orogastric (OG) </a:t>
            </a:r>
            <a:r>
              <a:rPr lang="en-US" sz="1200" b="1" i="0" kern="1200" dirty="0">
                <a:solidFill>
                  <a:schemeClr val="tx1"/>
                </a:solidFill>
                <a:effectLst/>
                <a:latin typeface="+mn-lt"/>
                <a:ea typeface="+mn-ea"/>
                <a:cs typeface="+mn-cs"/>
              </a:rPr>
              <a:t>tubes</a:t>
            </a:r>
            <a:r>
              <a:rPr lang="en-US" sz="1200" b="0" i="0" kern="1200" dirty="0">
                <a:solidFill>
                  <a:schemeClr val="tx1"/>
                </a:solidFill>
                <a:effectLst/>
                <a:latin typeface="+mn-lt"/>
                <a:ea typeface="+mn-ea"/>
                <a:cs typeface="+mn-cs"/>
              </a:rPr>
              <a:t> are small tubes placed either through the nose or the mouth and end with the tip in the stomach. NG/OG </a:t>
            </a:r>
            <a:r>
              <a:rPr lang="en-US" sz="1200" b="1" i="0" kern="1200" dirty="0">
                <a:solidFill>
                  <a:schemeClr val="tx1"/>
                </a:solidFill>
                <a:effectLst/>
                <a:latin typeface="+mn-lt"/>
                <a:ea typeface="+mn-ea"/>
                <a:cs typeface="+mn-cs"/>
              </a:rPr>
              <a:t>tubes</a:t>
            </a:r>
            <a:r>
              <a:rPr lang="en-US" sz="1200" b="0" i="0" kern="1200" dirty="0">
                <a:solidFill>
                  <a:schemeClr val="tx1"/>
                </a:solidFill>
                <a:effectLst/>
                <a:latin typeface="+mn-lt"/>
                <a:ea typeface="+mn-ea"/>
                <a:cs typeface="+mn-cs"/>
              </a:rPr>
              <a:t> may be used for feedings, medication administration, or removal of contents from the stomach via aspiration, suction, or gravity drainage.</a:t>
            </a:r>
          </a:p>
          <a:p>
            <a:endParaRPr lang="en-US" sz="1200" b="0" i="0" kern="1200" dirty="0">
              <a:solidFill>
                <a:schemeClr val="tx1"/>
              </a:solidFill>
              <a:effectLst/>
              <a:latin typeface="+mn-lt"/>
              <a:ea typeface="+mn-ea"/>
              <a:cs typeface="+mn-cs"/>
            </a:endParaRPr>
          </a:p>
          <a:p>
            <a:r>
              <a:rPr lang="en-US" sz="1400" dirty="0">
                <a:latin typeface="Arial Rounded MT Bold" pitchFamily="34" charset="0"/>
              </a:rPr>
              <a:t>PEG: Percutaneous endoscopic gastrostomy - </a:t>
            </a:r>
            <a:r>
              <a:rPr lang="en-US" sz="1200" b="0" i="0" kern="1200" dirty="0">
                <a:solidFill>
                  <a:schemeClr val="tx1"/>
                </a:solidFill>
                <a:effectLst/>
                <a:latin typeface="+mn-lt"/>
                <a:ea typeface="+mn-ea"/>
                <a:cs typeface="+mn-cs"/>
              </a:rPr>
              <a:t> Tube is passed into a patient's stomach through the abdominal wall, most commonly to provide a means of feeding when oral intake is not adequate. This provides enteral nutrition despite bypassing the mouth; enteral nutrition is generally preferable to parenteral nutrition.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PEG tubes may also be extended into the small intestine by passing a jejunal extension tube through the PEG tube and into the jejunum via the pylorus.</a:t>
            </a:r>
            <a:endParaRPr lang="en-US" sz="1400" dirty="0">
              <a:latin typeface="Arial Rounded MT Bold" pitchFamily="34" charset="0"/>
            </a:endParaRPr>
          </a:p>
          <a:p>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120</a:t>
            </a:fld>
            <a:endParaRPr lang="en-US"/>
          </a:p>
        </p:txBody>
      </p:sp>
    </p:spTree>
    <p:extLst>
      <p:ext uri="{BB962C8B-B14F-4D97-AF65-F5344CB8AC3E}">
        <p14:creationId xmlns:p14="http://schemas.microsoft.com/office/powerpoint/2010/main" val="14390290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74327D-7E57-4587-91EC-425CBC1DB777}" type="slidenum">
              <a:rPr lang="en-US" smtClean="0"/>
              <a:pPr/>
              <a:t>121</a:t>
            </a:fld>
            <a:endParaRPr lang="en-US"/>
          </a:p>
        </p:txBody>
      </p:sp>
    </p:spTree>
    <p:extLst>
      <p:ext uri="{BB962C8B-B14F-4D97-AF65-F5344CB8AC3E}">
        <p14:creationId xmlns:p14="http://schemas.microsoft.com/office/powerpoint/2010/main" val="2852827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3C3C3">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400" spc="-100" baseline="0">
                <a:solidFill>
                  <a:srgbClr val="FFFFFF"/>
                </a:solidFill>
              </a:defRPr>
            </a:lvl1pPr>
          </a:lstStyle>
          <a:p>
            <a:r>
              <a:rPr lang="en-US" dirty="0"/>
              <a:t>Click to edit Master title style</a:t>
            </a:r>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000" cap="none" spc="0" baseline="0">
                <a:solidFill>
                  <a:schemeClr val="accent1">
                    <a:lumMod val="20000"/>
                    <a:lumOff val="80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018024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676807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400" b="0" spc="-100" baseline="0">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0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757295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2900934"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63590"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58693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98544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775543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727388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baseline="0"/>
            </a:lvl1pPr>
          </a:lstStyle>
          <a:p>
            <a:r>
              <a:rPr lang="en-US" dirty="0"/>
              <a:t>Click to edit Master title style</a:t>
            </a:r>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92024" y="3337560"/>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43371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a:lvl1pPr>
          </a:lstStyle>
          <a:p>
            <a:r>
              <a:rPr lang="en-US" dirty="0"/>
              <a:t>Click to edit Master title style</a:t>
            </a:r>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2024" y="3340602"/>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9" name="Footer Placeholder 8"/>
          <p:cNvSpPr>
            <a:spLocks noGrp="1"/>
          </p:cNvSpPr>
          <p:nvPr>
            <p:ph type="ftr" sz="quarter" idx="11"/>
          </p:nvPr>
        </p:nvSpPr>
        <p:spPr>
          <a:xfrm>
            <a:off x="2624326" y="6356351"/>
            <a:ext cx="4433638"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956212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949942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159068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3" y="96838"/>
            <a:ext cx="7158037" cy="1412875"/>
          </a:xfrm>
        </p:spPr>
        <p:txBody>
          <a:bodyPr/>
          <a:lstStyle/>
          <a:p>
            <a:r>
              <a:rPr lang="en-US"/>
              <a:t>Click to edit Master title style</a:t>
            </a:r>
          </a:p>
        </p:txBody>
      </p:sp>
      <p:sp>
        <p:nvSpPr>
          <p:cNvPr id="3" name="Text Placeholder 2"/>
          <p:cNvSpPr>
            <a:spLocks noGrp="1"/>
          </p:cNvSpPr>
          <p:nvPr>
            <p:ph type="body" sz="half" idx="1"/>
          </p:nvPr>
        </p:nvSpPr>
        <p:spPr>
          <a:xfrm>
            <a:off x="950913" y="1981200"/>
            <a:ext cx="37528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56163" y="1981200"/>
            <a:ext cx="37544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pPr>
              <a:defRPr/>
            </a:pPr>
            <a:fld id="{969011FD-FFEC-47FC-9B15-CAF93091ADB0}" type="slidenum">
              <a:rPr lang="en-US"/>
              <a:pPr>
                <a:defRPr/>
              </a:pPr>
              <a:t>‹#›</a:t>
            </a:fld>
            <a:endParaRPr lang="en-US"/>
          </a:p>
        </p:txBody>
      </p:sp>
    </p:spTree>
    <p:extLst>
      <p:ext uri="{BB962C8B-B14F-4D97-AF65-F5344CB8AC3E}">
        <p14:creationId xmlns:p14="http://schemas.microsoft.com/office/powerpoint/2010/main" val="1440117210"/>
      </p:ext>
    </p:extLst>
  </p:cSld>
  <p:clrMapOvr>
    <a:masterClrMapping/>
  </p:clrMapOvr>
  <p:transition spd="slow">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31863" y="96838"/>
            <a:ext cx="7158037" cy="1412875"/>
          </a:xfrm>
        </p:spPr>
        <p:txBody>
          <a:bodyPr/>
          <a:lstStyle/>
          <a:p>
            <a:r>
              <a:rPr lang="en-US"/>
              <a:t>Click to edit Master title style</a:t>
            </a:r>
          </a:p>
        </p:txBody>
      </p:sp>
      <p:sp>
        <p:nvSpPr>
          <p:cNvPr id="3" name="Content Placeholder 2"/>
          <p:cNvSpPr>
            <a:spLocks noGrp="1"/>
          </p:cNvSpPr>
          <p:nvPr>
            <p:ph sz="quarter" idx="1"/>
          </p:nvPr>
        </p:nvSpPr>
        <p:spPr>
          <a:xfrm>
            <a:off x="950913" y="1981200"/>
            <a:ext cx="375285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56163" y="1981200"/>
            <a:ext cx="3754437"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50913" y="4114800"/>
            <a:ext cx="375285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856163" y="4114800"/>
            <a:ext cx="3754437"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pPr>
              <a:defRPr/>
            </a:pPr>
            <a:endParaRPr lang="en-US"/>
          </a:p>
        </p:txBody>
      </p:sp>
      <p:sp>
        <p:nvSpPr>
          <p:cNvPr id="8" name="Rectangle 7"/>
          <p:cNvSpPr>
            <a:spLocks noGrp="1" noChangeArrowheads="1"/>
          </p:cNvSpPr>
          <p:nvPr>
            <p:ph type="ftr" sz="quarter" idx="11"/>
          </p:nvPr>
        </p:nvSpPr>
        <p:spPr>
          <a:ln/>
        </p:spPr>
        <p:txBody>
          <a:bodyPr/>
          <a:lstStyle>
            <a:lvl1pPr>
              <a:defRPr/>
            </a:lvl1pPr>
          </a:lstStyle>
          <a:p>
            <a:pPr>
              <a:defRPr/>
            </a:pPr>
            <a:endParaRPr lang="en-US"/>
          </a:p>
        </p:txBody>
      </p:sp>
      <p:sp>
        <p:nvSpPr>
          <p:cNvPr id="9" name="Rectangle 8"/>
          <p:cNvSpPr>
            <a:spLocks noGrp="1" noChangeArrowheads="1"/>
          </p:cNvSpPr>
          <p:nvPr>
            <p:ph type="sldNum" sz="quarter" idx="12"/>
          </p:nvPr>
        </p:nvSpPr>
        <p:spPr>
          <a:ln/>
        </p:spPr>
        <p:txBody>
          <a:bodyPr/>
          <a:lstStyle>
            <a:lvl1pPr>
              <a:defRPr/>
            </a:lvl1pPr>
          </a:lstStyle>
          <a:p>
            <a:pPr>
              <a:defRPr/>
            </a:pPr>
            <a:fld id="{CF7EF453-AB55-4D2E-93D1-CB2226B97C41}" type="slidenum">
              <a:rPr lang="en-US"/>
              <a:pPr>
                <a:defRPr/>
              </a:pPr>
              <a:t>‹#›</a:t>
            </a:fld>
            <a:endParaRPr lang="en-US"/>
          </a:p>
        </p:txBody>
      </p:sp>
    </p:spTree>
    <p:extLst>
      <p:ext uri="{BB962C8B-B14F-4D97-AF65-F5344CB8AC3E}">
        <p14:creationId xmlns:p14="http://schemas.microsoft.com/office/powerpoint/2010/main" val="626552496"/>
      </p:ext>
    </p:extLst>
  </p:cSld>
  <p:clrMapOvr>
    <a:masterClrMapping/>
  </p:clrMapOvr>
  <p:transition spd="slow">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31863" y="96838"/>
            <a:ext cx="7158037" cy="1412875"/>
          </a:xfrm>
        </p:spPr>
        <p:txBody>
          <a:bodyPr/>
          <a:lstStyle/>
          <a:p>
            <a:r>
              <a:rPr lang="en-US"/>
              <a:t>Click to edit Master title style</a:t>
            </a:r>
          </a:p>
        </p:txBody>
      </p:sp>
      <p:sp>
        <p:nvSpPr>
          <p:cNvPr id="3" name="Table Placeholder 2"/>
          <p:cNvSpPr>
            <a:spLocks noGrp="1"/>
          </p:cNvSpPr>
          <p:nvPr>
            <p:ph type="tbl" idx="1"/>
          </p:nvPr>
        </p:nvSpPr>
        <p:spPr>
          <a:xfrm>
            <a:off x="950913" y="1981200"/>
            <a:ext cx="7659687" cy="4114800"/>
          </a:xfrm>
        </p:spPr>
        <p:txBody>
          <a:bodyPr/>
          <a:lstStyle/>
          <a:p>
            <a:pPr lvl="0"/>
            <a:endParaRPr lang="en-US"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pPr>
              <a:defRPr/>
            </a:pPr>
            <a:fld id="{89B12F59-EDDB-492A-9CC1-5D39854B53DA}" type="slidenum">
              <a:rPr lang="en-US"/>
              <a:pPr>
                <a:defRPr/>
              </a:pPr>
              <a:t>‹#›</a:t>
            </a:fld>
            <a:endParaRPr lang="en-US"/>
          </a:p>
        </p:txBody>
      </p:sp>
    </p:spTree>
    <p:extLst>
      <p:ext uri="{BB962C8B-B14F-4D97-AF65-F5344CB8AC3E}">
        <p14:creationId xmlns:p14="http://schemas.microsoft.com/office/powerpoint/2010/main" val="3438518113"/>
      </p:ext>
    </p:extLst>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5586B75A-687E-405C-8A0B-8D00578BA2C3}" type="datetimeFigureOut">
              <a:rPr lang="en-US" dirty="0"/>
              <a:pPr/>
              <a:t>1/29/2024</a:t>
            </a:fld>
            <a:endParaRPr lang="en-US" dirty="0"/>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100" b="1">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089874680"/>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Lst>
  <p:hf sldNum="0" hdr="0" ftr="0" dt="0"/>
  <p:txStyles>
    <p:title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19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7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jigsaw.vitalsource.com/books/9780803699007/epub/OEBPS/c32.xhtml?favre=brett#tab32-4" TargetMode="External"/><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image" Target="../media/image46.jpe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FDD9264-A478-4B82-A891-2BEA8BF9F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fresh spinach">
            <a:extLst>
              <a:ext uri="{FF2B5EF4-FFF2-40B4-BE49-F238E27FC236}">
                <a16:creationId xmlns:a16="http://schemas.microsoft.com/office/drawing/2014/main" id="{BD89D12B-01F7-4BD9-BF97-17D49560B90C}"/>
              </a:ext>
            </a:extLst>
          </p:cNvPr>
          <p:cNvPicPr>
            <a:picLocks noChangeAspect="1"/>
          </p:cNvPicPr>
          <p:nvPr/>
        </p:nvPicPr>
        <p:blipFill rotWithShape="1">
          <a:blip r:embed="rId3"/>
          <a:srcRect r="19112" b="9091"/>
          <a:stretch/>
        </p:blipFill>
        <p:spPr>
          <a:xfrm>
            <a:off x="20" y="-1"/>
            <a:ext cx="9141694" cy="6858000"/>
          </a:xfrm>
          <a:prstGeom prst="rect">
            <a:avLst/>
          </a:prstGeom>
        </p:spPr>
      </p:pic>
      <p:sp>
        <p:nvSpPr>
          <p:cNvPr id="19" name="Rectangle 18">
            <a:extLst>
              <a:ext uri="{FF2B5EF4-FFF2-40B4-BE49-F238E27FC236}">
                <a16:creationId xmlns:a16="http://schemas.microsoft.com/office/drawing/2014/main" id="{C4D755E9-CEF5-43A7-A514-4664F25F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3481671"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58482" y="2194919"/>
            <a:ext cx="2965507" cy="3255264"/>
          </a:xfrm>
        </p:spPr>
        <p:txBody>
          <a:bodyPr>
            <a:normAutofit/>
          </a:bodyPr>
          <a:lstStyle/>
          <a:p>
            <a:r>
              <a:rPr lang="en-US" sz="3200"/>
              <a:t>Nutrition</a:t>
            </a:r>
            <a:br>
              <a:rPr lang="en-US" sz="3200"/>
            </a:br>
            <a:r>
              <a:rPr lang="en-US" sz="3200"/>
              <a:t>Lecture 1</a:t>
            </a:r>
            <a:br>
              <a:rPr lang="en-US" sz="3200"/>
            </a:br>
            <a:r>
              <a:rPr lang="en-US" sz="3200"/>
              <a:t>VNSG 1577</a:t>
            </a:r>
            <a:br>
              <a:rPr lang="en-US" sz="3200"/>
            </a:br>
            <a:r>
              <a:rPr lang="en-US" sz="3200"/>
              <a:t>Concept Based Nursing Care I</a:t>
            </a:r>
            <a:br>
              <a:rPr lang="en-US" sz="3200"/>
            </a:br>
            <a:endParaRPr lang="en-US" sz="3200"/>
          </a:p>
        </p:txBody>
      </p:sp>
      <p:sp>
        <p:nvSpPr>
          <p:cNvPr id="21" name="Rectangle 20">
            <a:extLst>
              <a:ext uri="{FF2B5EF4-FFF2-40B4-BE49-F238E27FC236}">
                <a16:creationId xmlns:a16="http://schemas.microsoft.com/office/drawing/2014/main" id="{2BF879CD-ED15-450F-B829-699C694D2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6481B-C1DE-4896-91C8-D3DBB31D79A0}"/>
              </a:ext>
            </a:extLst>
          </p:cNvPr>
          <p:cNvSpPr>
            <a:spLocks noGrp="1"/>
          </p:cNvSpPr>
          <p:nvPr>
            <p:ph idx="4294967295"/>
          </p:nvPr>
        </p:nvSpPr>
        <p:spPr>
          <a:xfrm>
            <a:off x="192737" y="383230"/>
            <a:ext cx="4074464" cy="5121275"/>
          </a:xfrm>
        </p:spPr>
        <p:txBody>
          <a:bodyPr/>
          <a:lstStyle/>
          <a:p>
            <a:pPr marL="0" indent="0">
              <a:spcBef>
                <a:spcPts val="0"/>
              </a:spcBef>
              <a:buNone/>
            </a:pPr>
            <a:r>
              <a:rPr lang="en-US" dirty="0">
                <a:solidFill>
                  <a:schemeClr val="tx1"/>
                </a:solidFill>
              </a:rPr>
              <a:t>Maternal / Child Text:</a:t>
            </a:r>
          </a:p>
          <a:p>
            <a:pPr lvl="1">
              <a:spcBef>
                <a:spcPts val="0"/>
              </a:spcBef>
            </a:pPr>
            <a:r>
              <a:rPr lang="en-US" dirty="0">
                <a:solidFill>
                  <a:schemeClr val="tx1"/>
                </a:solidFill>
              </a:rPr>
              <a:t>Dietary needs of Pediatric</a:t>
            </a:r>
          </a:p>
          <a:p>
            <a:pPr lvl="1">
              <a:spcBef>
                <a:spcPts val="0"/>
              </a:spcBef>
            </a:pPr>
            <a:r>
              <a:rPr lang="en-US" dirty="0">
                <a:solidFill>
                  <a:schemeClr val="tx1"/>
                </a:solidFill>
              </a:rPr>
              <a:t>Breastfeeding / Bottle Feed</a:t>
            </a:r>
          </a:p>
          <a:p>
            <a:pPr marL="502920" lvl="1" indent="0">
              <a:spcBef>
                <a:spcPts val="0"/>
              </a:spcBef>
              <a:buNone/>
            </a:pPr>
            <a:endParaRPr lang="en-US" dirty="0">
              <a:solidFill>
                <a:schemeClr val="tx1"/>
              </a:solidFill>
            </a:endParaRPr>
          </a:p>
          <a:p>
            <a:pPr lvl="1">
              <a:spcBef>
                <a:spcPts val="0"/>
              </a:spcBef>
            </a:pPr>
            <a:r>
              <a:rPr lang="en-US" b="1" dirty="0">
                <a:solidFill>
                  <a:schemeClr val="tx1"/>
                </a:solidFill>
              </a:rPr>
              <a:t>Fundamentals Text </a:t>
            </a:r>
            <a:r>
              <a:rPr lang="en-US" b="1" dirty="0" err="1">
                <a:solidFill>
                  <a:schemeClr val="tx1"/>
                </a:solidFill>
              </a:rPr>
              <a:t>Chpt</a:t>
            </a:r>
            <a:r>
              <a:rPr lang="en-US" b="1" dirty="0">
                <a:solidFill>
                  <a:schemeClr val="tx1"/>
                </a:solidFill>
              </a:rPr>
              <a:t> 23/24: Dietary needs of Adult </a:t>
            </a:r>
          </a:p>
          <a:p>
            <a:pPr lvl="1">
              <a:spcBef>
                <a:spcPts val="0"/>
              </a:spcBef>
            </a:pPr>
            <a:r>
              <a:rPr lang="en-US" dirty="0">
                <a:solidFill>
                  <a:schemeClr val="tx1"/>
                </a:solidFill>
              </a:rPr>
              <a:t>Dietary categories</a:t>
            </a:r>
          </a:p>
          <a:p>
            <a:pPr lvl="1">
              <a:spcBef>
                <a:spcPts val="0"/>
              </a:spcBef>
            </a:pPr>
            <a:r>
              <a:rPr lang="en-US" dirty="0">
                <a:solidFill>
                  <a:schemeClr val="tx1"/>
                </a:solidFill>
              </a:rPr>
              <a:t>Dangers of PICA</a:t>
            </a:r>
          </a:p>
          <a:p>
            <a:pPr lvl="1">
              <a:spcBef>
                <a:spcPts val="0"/>
              </a:spcBef>
            </a:pPr>
            <a:r>
              <a:rPr lang="en-US" dirty="0">
                <a:solidFill>
                  <a:schemeClr val="tx1"/>
                </a:solidFill>
              </a:rPr>
              <a:t>Reading nutrition labels</a:t>
            </a:r>
          </a:p>
          <a:p>
            <a:pPr lvl="1">
              <a:spcBef>
                <a:spcPts val="0"/>
              </a:spcBef>
            </a:pPr>
            <a:r>
              <a:rPr lang="en-US" dirty="0">
                <a:solidFill>
                  <a:schemeClr val="tx1"/>
                </a:solidFill>
              </a:rPr>
              <a:t>Malnutrition</a:t>
            </a:r>
          </a:p>
          <a:p>
            <a:pPr lvl="1">
              <a:spcBef>
                <a:spcPts val="0"/>
              </a:spcBef>
            </a:pPr>
            <a:r>
              <a:rPr lang="en-US" dirty="0">
                <a:solidFill>
                  <a:schemeClr val="tx1"/>
                </a:solidFill>
              </a:rPr>
              <a:t>Obesity</a:t>
            </a:r>
          </a:p>
          <a:p>
            <a:pPr lvl="1">
              <a:spcBef>
                <a:spcPts val="0"/>
              </a:spcBef>
            </a:pPr>
            <a:r>
              <a:rPr lang="en-US" dirty="0">
                <a:solidFill>
                  <a:schemeClr val="tx1"/>
                </a:solidFill>
              </a:rPr>
              <a:t>Starvation</a:t>
            </a:r>
          </a:p>
          <a:p>
            <a:pPr lvl="1">
              <a:spcBef>
                <a:spcPts val="0"/>
              </a:spcBef>
            </a:pPr>
            <a:r>
              <a:rPr lang="en-US" dirty="0">
                <a:solidFill>
                  <a:schemeClr val="tx1"/>
                </a:solidFill>
              </a:rPr>
              <a:t>Dental Health</a:t>
            </a:r>
          </a:p>
          <a:p>
            <a:pPr lvl="1">
              <a:spcBef>
                <a:spcPts val="0"/>
              </a:spcBef>
            </a:pPr>
            <a:r>
              <a:rPr lang="en-US" dirty="0">
                <a:solidFill>
                  <a:schemeClr val="tx1"/>
                </a:solidFill>
              </a:rPr>
              <a:t>Dysphagia / Swallow test</a:t>
            </a:r>
          </a:p>
          <a:p>
            <a:pPr lvl="1">
              <a:spcBef>
                <a:spcPts val="0"/>
              </a:spcBef>
            </a:pPr>
            <a:r>
              <a:rPr lang="en-US" dirty="0">
                <a:solidFill>
                  <a:schemeClr val="tx1"/>
                </a:solidFill>
              </a:rPr>
              <a:t>Iron Deficiency Anemia</a:t>
            </a:r>
          </a:p>
          <a:p>
            <a:pPr lvl="1">
              <a:spcBef>
                <a:spcPts val="0"/>
              </a:spcBef>
            </a:pPr>
            <a:r>
              <a:rPr lang="en-US" dirty="0">
                <a:solidFill>
                  <a:schemeClr val="tx1"/>
                </a:solidFill>
              </a:rPr>
              <a:t>Scurvy</a:t>
            </a:r>
          </a:p>
          <a:p>
            <a:pPr lvl="1">
              <a:spcBef>
                <a:spcPts val="0"/>
              </a:spcBef>
            </a:pPr>
            <a:r>
              <a:rPr lang="en-US" dirty="0">
                <a:solidFill>
                  <a:schemeClr val="tx1"/>
                </a:solidFill>
              </a:rPr>
              <a:t>Rickets</a:t>
            </a:r>
          </a:p>
        </p:txBody>
      </p:sp>
      <p:sp>
        <p:nvSpPr>
          <p:cNvPr id="4" name="Rectangle 3">
            <a:extLst>
              <a:ext uri="{FF2B5EF4-FFF2-40B4-BE49-F238E27FC236}">
                <a16:creationId xmlns:a16="http://schemas.microsoft.com/office/drawing/2014/main" id="{816D39CC-16B7-459B-AC52-EA5F0819F2C0}"/>
              </a:ext>
            </a:extLst>
          </p:cNvPr>
          <p:cNvSpPr/>
          <p:nvPr/>
        </p:nvSpPr>
        <p:spPr>
          <a:xfrm>
            <a:off x="189689" y="152400"/>
            <a:ext cx="1680653" cy="461665"/>
          </a:xfrm>
          <a:prstGeom prst="rect">
            <a:avLst/>
          </a:prstGeom>
        </p:spPr>
        <p:txBody>
          <a:bodyPr wrap="none">
            <a:spAutoFit/>
          </a:bodyPr>
          <a:lstStyle/>
          <a:p>
            <a:r>
              <a:rPr lang="en-US" sz="2400" dirty="0"/>
              <a:t>References:</a:t>
            </a:r>
          </a:p>
        </p:txBody>
      </p:sp>
      <p:sp>
        <p:nvSpPr>
          <p:cNvPr id="5" name="Content Placeholder 2">
            <a:extLst>
              <a:ext uri="{FF2B5EF4-FFF2-40B4-BE49-F238E27FC236}">
                <a16:creationId xmlns:a16="http://schemas.microsoft.com/office/drawing/2014/main" id="{9FE91488-72E5-4B10-B002-6A5A8BE22781}"/>
              </a:ext>
            </a:extLst>
          </p:cNvPr>
          <p:cNvSpPr txBox="1">
            <a:spLocks/>
          </p:cNvSpPr>
          <p:nvPr/>
        </p:nvSpPr>
        <p:spPr>
          <a:xfrm>
            <a:off x="4267200" y="383231"/>
            <a:ext cx="4495800" cy="5121275"/>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19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7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9pPr>
          </a:lstStyle>
          <a:p>
            <a:pPr marL="0" indent="0">
              <a:spcBef>
                <a:spcPts val="0"/>
              </a:spcBef>
              <a:buFont typeface="Wingdings 2" pitchFamily="18" charset="2"/>
              <a:buNone/>
            </a:pPr>
            <a:r>
              <a:rPr lang="en-US" dirty="0">
                <a:solidFill>
                  <a:schemeClr val="tx1"/>
                </a:solidFill>
              </a:rPr>
              <a:t>Maternal / Child Text:</a:t>
            </a:r>
          </a:p>
          <a:p>
            <a:pPr lvl="1">
              <a:spcBef>
                <a:spcPts val="0"/>
              </a:spcBef>
            </a:pPr>
            <a:r>
              <a:rPr lang="en-US" dirty="0">
                <a:solidFill>
                  <a:schemeClr val="tx1"/>
                </a:solidFill>
              </a:rPr>
              <a:t>Dietary needs of Pediatric</a:t>
            </a:r>
          </a:p>
          <a:p>
            <a:pPr lvl="1">
              <a:spcBef>
                <a:spcPts val="0"/>
              </a:spcBef>
            </a:pPr>
            <a:r>
              <a:rPr lang="en-US" dirty="0" err="1">
                <a:solidFill>
                  <a:schemeClr val="tx1"/>
                </a:solidFill>
              </a:rPr>
              <a:t>Pg</a:t>
            </a:r>
            <a:r>
              <a:rPr lang="en-US" dirty="0">
                <a:solidFill>
                  <a:schemeClr val="tx1"/>
                </a:solidFill>
              </a:rPr>
              <a:t> 270-276 / </a:t>
            </a:r>
            <a:r>
              <a:rPr lang="en-US" dirty="0" err="1">
                <a:solidFill>
                  <a:schemeClr val="tx1"/>
                </a:solidFill>
              </a:rPr>
              <a:t>Pg</a:t>
            </a:r>
            <a:r>
              <a:rPr lang="en-US" dirty="0">
                <a:solidFill>
                  <a:schemeClr val="tx1"/>
                </a:solidFill>
              </a:rPr>
              <a:t> 276-280</a:t>
            </a:r>
          </a:p>
          <a:p>
            <a:pPr marL="502920" lvl="1" indent="0">
              <a:spcBef>
                <a:spcPts val="0"/>
              </a:spcBef>
              <a:buNone/>
            </a:pPr>
            <a:endParaRPr lang="en-US" dirty="0">
              <a:solidFill>
                <a:schemeClr val="tx1"/>
              </a:solidFill>
            </a:endParaRPr>
          </a:p>
          <a:p>
            <a:pPr marL="502920" lvl="1" indent="0">
              <a:spcBef>
                <a:spcPts val="0"/>
              </a:spcBef>
              <a:buNone/>
            </a:pPr>
            <a:r>
              <a:rPr lang="en-US" b="1" dirty="0">
                <a:solidFill>
                  <a:schemeClr val="tx1"/>
                </a:solidFill>
              </a:rPr>
              <a:t>Care of Older Client Text: </a:t>
            </a:r>
          </a:p>
          <a:p>
            <a:pPr lvl="1">
              <a:spcBef>
                <a:spcPts val="0"/>
              </a:spcBef>
            </a:pPr>
            <a:r>
              <a:rPr lang="en-US" b="1" dirty="0" err="1">
                <a:solidFill>
                  <a:schemeClr val="tx1"/>
                </a:solidFill>
              </a:rPr>
              <a:t>Pg</a:t>
            </a:r>
            <a:r>
              <a:rPr lang="en-US" b="1" dirty="0">
                <a:solidFill>
                  <a:schemeClr val="tx1"/>
                </a:solidFill>
              </a:rPr>
              <a:t> 114-127 Older Client</a:t>
            </a:r>
          </a:p>
          <a:p>
            <a:pPr lvl="1">
              <a:spcBef>
                <a:spcPts val="0"/>
              </a:spcBef>
            </a:pPr>
            <a:r>
              <a:rPr lang="en-US" dirty="0">
                <a:solidFill>
                  <a:schemeClr val="tx1"/>
                </a:solidFill>
              </a:rPr>
              <a:t>Dietary categories</a:t>
            </a:r>
          </a:p>
          <a:p>
            <a:pPr lvl="1">
              <a:spcBef>
                <a:spcPts val="0"/>
              </a:spcBef>
            </a:pPr>
            <a:r>
              <a:rPr lang="en-US" dirty="0">
                <a:solidFill>
                  <a:schemeClr val="tx1"/>
                </a:solidFill>
              </a:rPr>
              <a:t>Reading nutrition labels</a:t>
            </a:r>
          </a:p>
          <a:p>
            <a:pPr lvl="1">
              <a:spcBef>
                <a:spcPts val="0"/>
              </a:spcBef>
            </a:pPr>
            <a:r>
              <a:rPr lang="en-US" dirty="0">
                <a:solidFill>
                  <a:schemeClr val="tx1"/>
                </a:solidFill>
              </a:rPr>
              <a:t>Malnutrition</a:t>
            </a:r>
          </a:p>
          <a:p>
            <a:pPr lvl="1">
              <a:spcBef>
                <a:spcPts val="0"/>
              </a:spcBef>
            </a:pPr>
            <a:r>
              <a:rPr lang="en-US" dirty="0">
                <a:solidFill>
                  <a:schemeClr val="tx1"/>
                </a:solidFill>
              </a:rPr>
              <a:t>Obesity</a:t>
            </a:r>
          </a:p>
          <a:p>
            <a:pPr lvl="1">
              <a:spcBef>
                <a:spcPts val="0"/>
              </a:spcBef>
            </a:pPr>
            <a:r>
              <a:rPr lang="en-US" dirty="0">
                <a:solidFill>
                  <a:schemeClr val="tx1"/>
                </a:solidFill>
              </a:rPr>
              <a:t>Starvation</a:t>
            </a:r>
          </a:p>
          <a:p>
            <a:pPr lvl="1">
              <a:spcBef>
                <a:spcPts val="0"/>
              </a:spcBef>
            </a:pPr>
            <a:r>
              <a:rPr lang="en-US" dirty="0">
                <a:solidFill>
                  <a:schemeClr val="tx1"/>
                </a:solidFill>
              </a:rPr>
              <a:t>Dental Health</a:t>
            </a:r>
          </a:p>
          <a:p>
            <a:pPr lvl="1">
              <a:spcBef>
                <a:spcPts val="0"/>
              </a:spcBef>
            </a:pPr>
            <a:r>
              <a:rPr lang="en-US" dirty="0">
                <a:solidFill>
                  <a:schemeClr val="tx1"/>
                </a:solidFill>
              </a:rPr>
              <a:t>Dysphagia / Swallow test</a:t>
            </a:r>
          </a:p>
          <a:p>
            <a:pPr lvl="1">
              <a:spcBef>
                <a:spcPts val="0"/>
              </a:spcBef>
            </a:pPr>
            <a:r>
              <a:rPr lang="en-US" dirty="0">
                <a:solidFill>
                  <a:schemeClr val="tx1"/>
                </a:solidFill>
              </a:rPr>
              <a:t>Iron Deficiency Anemia</a:t>
            </a:r>
          </a:p>
          <a:p>
            <a:pPr lvl="1">
              <a:spcBef>
                <a:spcPts val="0"/>
              </a:spcBef>
            </a:pPr>
            <a:r>
              <a:rPr lang="en-US" dirty="0">
                <a:solidFill>
                  <a:schemeClr val="tx1"/>
                </a:solidFill>
              </a:rPr>
              <a:t>Scurvy</a:t>
            </a:r>
          </a:p>
          <a:p>
            <a:pPr lvl="1">
              <a:spcBef>
                <a:spcPts val="0"/>
              </a:spcBef>
            </a:pPr>
            <a:r>
              <a:rPr lang="en-US" dirty="0">
                <a:solidFill>
                  <a:schemeClr val="tx1"/>
                </a:solidFill>
              </a:rPr>
              <a:t>Rickets</a:t>
            </a:r>
          </a:p>
        </p:txBody>
      </p:sp>
      <p:sp>
        <p:nvSpPr>
          <p:cNvPr id="2" name="TextBox 1">
            <a:extLst>
              <a:ext uri="{FF2B5EF4-FFF2-40B4-BE49-F238E27FC236}">
                <a16:creationId xmlns:a16="http://schemas.microsoft.com/office/drawing/2014/main" id="{57C74902-9B08-4650-A60D-24136888E60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013152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074" name="Rectangle 3"/>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NUTRITION Overview</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75" name="Rectangle 4"/>
          <p:cNvSpPr>
            <a:spLocks noGrp="1" noChangeArrowheads="1"/>
          </p:cNvSpPr>
          <p:nvPr>
            <p:ph idx="1"/>
          </p:nvPr>
        </p:nvSpPr>
        <p:spPr>
          <a:xfrm>
            <a:off x="3966921" y="864108"/>
            <a:ext cx="4433008" cy="5120640"/>
          </a:xfrm>
        </p:spPr>
        <p:txBody>
          <a:bodyPr>
            <a:normAutofit/>
          </a:bodyPr>
          <a:lstStyle/>
          <a:p>
            <a:pPr eaLnBrk="1" hangingPunct="1"/>
            <a:r>
              <a:rPr lang="en-US" sz="2000" dirty="0">
                <a:latin typeface="Calibri" pitchFamily="34" charset="0"/>
              </a:rPr>
              <a:t>The study of nutrients and how they are utilized in the human body</a:t>
            </a:r>
          </a:p>
          <a:p>
            <a:pPr eaLnBrk="1" hangingPunct="1">
              <a:buNone/>
            </a:pPr>
            <a:endParaRPr lang="en-US" sz="2000" dirty="0">
              <a:latin typeface="Calibri" pitchFamily="34" charset="0"/>
            </a:endParaRPr>
          </a:p>
          <a:p>
            <a:pPr eaLnBrk="1" hangingPunct="1"/>
            <a:r>
              <a:rPr lang="en-US" sz="2000" dirty="0">
                <a:latin typeface="Calibri" pitchFamily="34" charset="0"/>
              </a:rPr>
              <a:t>Nutrients are specific biochemical substances used by the body for:</a:t>
            </a:r>
          </a:p>
          <a:p>
            <a:pPr lvl="1"/>
            <a:r>
              <a:rPr lang="en-US" sz="2000" dirty="0">
                <a:latin typeface="Calibri" pitchFamily="34" charset="0"/>
              </a:rPr>
              <a:t> growth and  development</a:t>
            </a:r>
          </a:p>
          <a:p>
            <a:pPr lvl="1"/>
            <a:r>
              <a:rPr lang="en-US" sz="2000" dirty="0">
                <a:latin typeface="Calibri" pitchFamily="34" charset="0"/>
              </a:rPr>
              <a:t> activity</a:t>
            </a:r>
          </a:p>
          <a:p>
            <a:pPr lvl="1"/>
            <a:r>
              <a:rPr lang="en-US" sz="2000" dirty="0">
                <a:latin typeface="Calibri" pitchFamily="34" charset="0"/>
              </a:rPr>
              <a:t> reproduction</a:t>
            </a:r>
          </a:p>
          <a:p>
            <a:pPr lvl="1"/>
            <a:r>
              <a:rPr lang="en-US" sz="2000" dirty="0">
                <a:latin typeface="Calibri" pitchFamily="34" charset="0"/>
              </a:rPr>
              <a:t> lactation</a:t>
            </a:r>
          </a:p>
          <a:p>
            <a:pPr lvl="1"/>
            <a:r>
              <a:rPr lang="en-US" sz="2000" dirty="0">
                <a:latin typeface="Calibri" pitchFamily="34" charset="0"/>
              </a:rPr>
              <a:t> health maintenance</a:t>
            </a:r>
          </a:p>
          <a:p>
            <a:pPr lvl="1"/>
            <a:r>
              <a:rPr lang="en-US" sz="2000" dirty="0">
                <a:latin typeface="Calibri" pitchFamily="34" charset="0"/>
              </a:rPr>
              <a:t>recovery from illness</a:t>
            </a:r>
          </a:p>
          <a:p>
            <a:pPr lvl="1"/>
            <a:r>
              <a:rPr lang="en-US" sz="2000" dirty="0">
                <a:latin typeface="Calibri" pitchFamily="34" charset="0"/>
              </a:rPr>
              <a:t>repair of injury</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0C59F01-A9CE-47A5-AD32-20D7E935BE65}"/>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Basal Metabolic Rate (BMR)</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966921" y="864108"/>
            <a:ext cx="4433008" cy="5120640"/>
          </a:xfrm>
        </p:spPr>
        <p:txBody>
          <a:bodyPr>
            <a:noAutofit/>
          </a:bodyPr>
          <a:lstStyle/>
          <a:p>
            <a:r>
              <a:rPr lang="en-US" sz="2400" dirty="0"/>
              <a:t>Energy required to carry on the involuntary activities of the body at rest such as:</a:t>
            </a:r>
          </a:p>
          <a:p>
            <a:pPr lvl="1"/>
            <a:r>
              <a:rPr lang="en-US" sz="2400" dirty="0"/>
              <a:t>Maintaining body temperature/muscle tone</a:t>
            </a:r>
          </a:p>
          <a:p>
            <a:pPr lvl="1"/>
            <a:r>
              <a:rPr lang="en-US" sz="2400" dirty="0"/>
              <a:t>Producing and releasing secretions</a:t>
            </a:r>
          </a:p>
          <a:p>
            <a:pPr lvl="1"/>
            <a:r>
              <a:rPr lang="en-US" sz="2400" dirty="0"/>
              <a:t>Moving food through GI tract</a:t>
            </a:r>
          </a:p>
          <a:p>
            <a:pPr lvl="1"/>
            <a:r>
              <a:rPr lang="en-US" sz="2400" dirty="0"/>
              <a:t>Inflating lungs</a:t>
            </a:r>
          </a:p>
          <a:p>
            <a:pPr lvl="1"/>
            <a:r>
              <a:rPr lang="en-US" sz="2400" dirty="0"/>
              <a:t>Contracting heart muscle</a:t>
            </a:r>
          </a:p>
          <a:p>
            <a:pPr lvl="0">
              <a:buClr>
                <a:srgbClr val="B83D68"/>
              </a:buClr>
            </a:pPr>
            <a:r>
              <a:rPr lang="en-US" sz="2400" dirty="0"/>
              <a:t>Measures the body’s consumption of O2 &amp;  therefore the rate of calories burned when the body maintains basic metabolic activities</a:t>
            </a:r>
          </a:p>
          <a:p>
            <a:pPr>
              <a:buNone/>
            </a:pPr>
            <a:endParaRPr lang="en-US" sz="2400" dirty="0"/>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BDD6020-6694-4D59-A6B0-A6D3CD9F0264}"/>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Basal Metabolic Rate (BMR)</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941372" y="1379330"/>
            <a:ext cx="4433008" cy="5120640"/>
          </a:xfrm>
        </p:spPr>
        <p:txBody>
          <a:bodyPr>
            <a:noAutofit/>
          </a:bodyPr>
          <a:lstStyle/>
          <a:p>
            <a:pPr lvl="0">
              <a:buClr>
                <a:srgbClr val="B83D68"/>
              </a:buClr>
              <a:buFont typeface="Wingdings" pitchFamily="2" charset="2"/>
              <a:buChar char="Ø"/>
            </a:pPr>
            <a:r>
              <a:rPr lang="en-US" sz="2400" dirty="0"/>
              <a:t>Growth, infections, fever, emotional tension, extreme environmental temperatures and elevations of certain hormones can increase BMR</a:t>
            </a:r>
          </a:p>
          <a:p>
            <a:pPr lvl="0">
              <a:buClr>
                <a:srgbClr val="B83D68"/>
              </a:buClr>
              <a:buFont typeface="Wingdings" pitchFamily="2" charset="2"/>
              <a:buChar char="Ø"/>
            </a:pPr>
            <a:r>
              <a:rPr lang="en-US" sz="2400" dirty="0"/>
              <a:t>Aging, prolonged fasting and sleep decrease BMR</a:t>
            </a:r>
          </a:p>
          <a:p>
            <a:pPr lvl="1">
              <a:buClr>
                <a:srgbClr val="B83D68"/>
              </a:buClr>
            </a:pPr>
            <a:r>
              <a:rPr lang="en-US" sz="2400" dirty="0"/>
              <a:t>Higher BMR- the more calories the client can take in without weight gain</a:t>
            </a:r>
          </a:p>
          <a:p>
            <a:pPr lvl="1">
              <a:buClr>
                <a:srgbClr val="B83D68"/>
              </a:buClr>
            </a:pPr>
            <a:r>
              <a:rPr lang="en-US" sz="2400" dirty="0"/>
              <a:t>Men have higher BMR than women due to larger muscle mass</a:t>
            </a:r>
          </a:p>
          <a:p>
            <a:pPr lvl="1">
              <a:buClr>
                <a:srgbClr val="B83D68"/>
              </a:buClr>
            </a:pPr>
            <a:r>
              <a:rPr lang="en-US" sz="2400" dirty="0"/>
              <a:t>BMR decreases 2% during each decade after age 30</a:t>
            </a:r>
          </a:p>
          <a:p>
            <a:pPr>
              <a:buNone/>
            </a:pPr>
            <a:endParaRPr lang="en-US" sz="2400" dirty="0"/>
          </a:p>
          <a:p>
            <a:endParaRPr lang="en-US" sz="2400" dirty="0"/>
          </a:p>
          <a:p>
            <a:pPr>
              <a:buNone/>
            </a:pPr>
            <a:endParaRPr lang="en-US" sz="2400" dirty="0"/>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C3BEDFC-832F-428F-8069-1D2A0CC8C94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831997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AAD8036-96D8-496C-8006-37ACA5AD86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4A4CBA9-3463-4C65-BF46-6B6C50E7F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2142" y="757325"/>
            <a:ext cx="2661858"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671831" y="1123837"/>
            <a:ext cx="2210611" cy="4601183"/>
          </a:xfrm>
        </p:spPr>
        <p:txBody>
          <a:bodyPr>
            <a:normAutofit/>
          </a:bodyPr>
          <a:lstStyle/>
          <a:p>
            <a:r>
              <a:rPr lang="en-US" dirty="0"/>
              <a:t>Body Mass Index</a:t>
            </a:r>
            <a:br>
              <a:rPr lang="en-US" dirty="0"/>
            </a:br>
            <a:br>
              <a:rPr lang="en-US" dirty="0"/>
            </a:br>
            <a:r>
              <a:rPr lang="en-US" sz="2000" dirty="0">
                <a:solidFill>
                  <a:schemeClr val="tx1"/>
                </a:solidFill>
              </a:rPr>
              <a:t>Body mass index</a:t>
            </a:r>
            <a:br>
              <a:rPr lang="en-US" sz="2000" dirty="0">
                <a:solidFill>
                  <a:schemeClr val="tx1"/>
                </a:solidFill>
              </a:rPr>
            </a:br>
            <a:r>
              <a:rPr lang="en-US" sz="2000" dirty="0">
                <a:solidFill>
                  <a:schemeClr val="tx1"/>
                </a:solidFill>
              </a:rPr>
              <a:t>(BMI) is calculated to measure body fat and used along with waist-to-hip ratio measurements to determine the patient’s health risk factors (</a:t>
            </a:r>
            <a:r>
              <a:rPr lang="en-US" sz="2000" dirty="0">
                <a:solidFill>
                  <a:schemeClr val="bg1"/>
                </a:solidFill>
                <a:hlinkClick r:id="rId3">
                  <a:extLst>
                    <a:ext uri="{A12FA001-AC4F-418D-AE19-62706E023703}">
                      <ahyp:hlinkClr xmlns:ahyp="http://schemas.microsoft.com/office/drawing/2018/hyperlinkcolor" val="tx"/>
                    </a:ext>
                  </a:extLst>
                </a:hlinkClick>
              </a:rPr>
              <a:t>Table 32.4</a:t>
            </a:r>
            <a:r>
              <a:rPr lang="en-US" sz="2000" dirty="0">
                <a:solidFill>
                  <a:schemeClr val="tx1"/>
                </a:solidFill>
              </a:rPr>
              <a:t>).</a:t>
            </a:r>
            <a:endParaRPr lang="en-US" sz="2000" dirty="0"/>
          </a:p>
        </p:txBody>
      </p:sp>
      <p:sp>
        <p:nvSpPr>
          <p:cNvPr id="24" name="Rectangle 23">
            <a:extLst>
              <a:ext uri="{FF2B5EF4-FFF2-40B4-BE49-F238E27FC236}">
                <a16:creationId xmlns:a16="http://schemas.microsoft.com/office/drawing/2014/main" id="{2DCEED6C-D39C-40AA-B89E-52C3FA5A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16" name="Content Placeholder 1">
            <a:extLst>
              <a:ext uri="{FF2B5EF4-FFF2-40B4-BE49-F238E27FC236}">
                <a16:creationId xmlns:a16="http://schemas.microsoft.com/office/drawing/2014/main" id="{130322FE-1B18-43E4-B721-588FE5C8FADC}"/>
              </a:ext>
            </a:extLst>
          </p:cNvPr>
          <p:cNvGraphicFramePr>
            <a:graphicFrameLocks noGrp="1"/>
          </p:cNvGraphicFramePr>
          <p:nvPr>
            <p:ph idx="1"/>
            <p:extLst>
              <p:ext uri="{D42A27DB-BD31-4B8C-83A1-F6EECF244321}">
                <p14:modId xmlns:p14="http://schemas.microsoft.com/office/powerpoint/2010/main" val="468467723"/>
              </p:ext>
            </p:extLst>
          </p:nvPr>
        </p:nvGraphicFramePr>
        <p:xfrm>
          <a:off x="649985" y="933854"/>
          <a:ext cx="5470207" cy="50418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41FCE69D-2DB1-49A0-BF6C-AB4B37803B5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F9E67C41-6BD2-4B44-B1AB-539819837B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857250"/>
            <a:ext cx="81915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FC46AF-165B-46F4-9F8E-7951CD3AA9D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428503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2D689655-FB47-4EF6-93B3-B2528C175E35}"/>
              </a:ext>
            </a:extLst>
          </p:cNvPr>
          <p:cNvSpPr>
            <a:spLocks noGrp="1"/>
          </p:cNvSpPr>
          <p:nvPr>
            <p:ph type="title"/>
          </p:nvPr>
        </p:nvSpPr>
        <p:spPr>
          <a:xfrm>
            <a:off x="1200565" y="1087374"/>
            <a:ext cx="6737617" cy="1000978"/>
          </a:xfrm>
        </p:spPr>
        <p:txBody>
          <a:bodyPr>
            <a:normAutofit/>
          </a:bodyPr>
          <a:lstStyle/>
          <a:p>
            <a:r>
              <a:rPr lang="en-US" dirty="0"/>
              <a:t>Essential Nutrients</a:t>
            </a:r>
            <a:br>
              <a:rPr lang="en-US" dirty="0"/>
            </a:br>
            <a:r>
              <a:rPr lang="en-US" dirty="0"/>
              <a:t>Macronutrients</a:t>
            </a: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45082732-EBE2-479C-B186-5364A6325C03}"/>
              </a:ext>
            </a:extLst>
          </p:cNvPr>
          <p:cNvSpPr>
            <a:spLocks noGrp="1"/>
          </p:cNvSpPr>
          <p:nvPr>
            <p:ph idx="1"/>
          </p:nvPr>
        </p:nvSpPr>
        <p:spPr>
          <a:xfrm>
            <a:off x="1200564" y="2535446"/>
            <a:ext cx="6737617" cy="3554457"/>
          </a:xfrm>
        </p:spPr>
        <p:txBody>
          <a:bodyPr>
            <a:normAutofit/>
          </a:bodyPr>
          <a:lstStyle/>
          <a:p>
            <a:r>
              <a:rPr lang="en-US" sz="2800" dirty="0">
                <a:solidFill>
                  <a:schemeClr val="tx1"/>
                </a:solidFill>
                <a:ea typeface="+mn-lt"/>
                <a:cs typeface="+mn-lt"/>
              </a:rPr>
              <a:t>Nutrients that aide in supplying energy &amp; build tissue</a:t>
            </a:r>
          </a:p>
          <a:p>
            <a:pPr lvl="1"/>
            <a:r>
              <a:rPr lang="en-US" sz="2800" dirty="0">
                <a:solidFill>
                  <a:schemeClr val="tx1"/>
                </a:solidFill>
                <a:ea typeface="+mn-lt"/>
                <a:cs typeface="+mn-lt"/>
              </a:rPr>
              <a:t>Carbohydrates </a:t>
            </a:r>
          </a:p>
          <a:p>
            <a:pPr lvl="1"/>
            <a:r>
              <a:rPr lang="en-US" sz="2800" dirty="0">
                <a:solidFill>
                  <a:schemeClr val="tx1"/>
                </a:solidFill>
                <a:ea typeface="+mn-lt"/>
                <a:cs typeface="+mn-lt"/>
              </a:rPr>
              <a:t>Protein </a:t>
            </a:r>
          </a:p>
          <a:p>
            <a:pPr lvl="1"/>
            <a:r>
              <a:rPr lang="en-US" sz="2800" dirty="0">
                <a:solidFill>
                  <a:schemeClr val="tx1"/>
                </a:solidFill>
                <a:ea typeface="+mn-lt"/>
                <a:cs typeface="+mn-lt"/>
              </a:rPr>
              <a:t>Fats (Lipids)</a:t>
            </a:r>
          </a:p>
          <a:p>
            <a:pPr lvl="1"/>
            <a:r>
              <a:rPr lang="en-US" sz="2800" dirty="0">
                <a:solidFill>
                  <a:schemeClr val="tx1"/>
                </a:solidFill>
              </a:rPr>
              <a:t>Water</a:t>
            </a:r>
          </a:p>
        </p:txBody>
      </p:sp>
      <p:sp>
        <p:nvSpPr>
          <p:cNvPr id="9" name="TextBox 8">
            <a:extLst>
              <a:ext uri="{FF2B5EF4-FFF2-40B4-BE49-F238E27FC236}">
                <a16:creationId xmlns:a16="http://schemas.microsoft.com/office/drawing/2014/main" id="{EF6FD3B6-112D-43BC-81F8-F11D05C1320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45085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les of various wholegrain foods">
            <a:extLst>
              <a:ext uri="{FF2B5EF4-FFF2-40B4-BE49-F238E27FC236}">
                <a16:creationId xmlns:a16="http://schemas.microsoft.com/office/drawing/2014/main" id="{28CE4B01-9F61-4655-B9B7-A91AF107EBF0}"/>
              </a:ext>
            </a:extLst>
          </p:cNvPr>
          <p:cNvPicPr>
            <a:picLocks noChangeAspect="1"/>
          </p:cNvPicPr>
          <p:nvPr/>
        </p:nvPicPr>
        <p:blipFill rotWithShape="1">
          <a:blip r:embed="rId3">
            <a:duotone>
              <a:schemeClr val="bg2">
                <a:shade val="45000"/>
                <a:satMod val="135000"/>
              </a:schemeClr>
              <a:prstClr val="white"/>
            </a:duotone>
            <a:alphaModFix amt="25000"/>
          </a:blip>
          <a:srcRect t="92" r="19238" b="9006"/>
          <a:stretch/>
        </p:blipFill>
        <p:spPr>
          <a:xfrm>
            <a:off x="20" y="1"/>
            <a:ext cx="9141694" cy="6858000"/>
          </a:xfrm>
          <a:prstGeom prst="rect">
            <a:avLst/>
          </a:prstGeom>
        </p:spPr>
      </p:pic>
      <p:sp>
        <p:nvSpPr>
          <p:cNvPr id="11" name="Rectangle 10">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89689" y="1123837"/>
            <a:ext cx="2210611" cy="4601183"/>
          </a:xfrm>
        </p:spPr>
        <p:txBody>
          <a:bodyPr>
            <a:normAutofit/>
          </a:bodyPr>
          <a:lstStyle/>
          <a:p>
            <a:r>
              <a:rPr lang="en-US" sz="2600"/>
              <a:t>Carbohydrates (CHOs)</a:t>
            </a:r>
          </a:p>
        </p:txBody>
      </p:sp>
      <p:sp>
        <p:nvSpPr>
          <p:cNvPr id="2" name="Content Placeholder 1"/>
          <p:cNvSpPr>
            <a:spLocks noGrp="1"/>
          </p:cNvSpPr>
          <p:nvPr>
            <p:ph idx="1"/>
          </p:nvPr>
        </p:nvSpPr>
        <p:spPr>
          <a:xfrm>
            <a:off x="2901951" y="864108"/>
            <a:ext cx="5486400" cy="5120640"/>
          </a:xfrm>
        </p:spPr>
        <p:txBody>
          <a:bodyPr>
            <a:noAutofit/>
          </a:bodyPr>
          <a:lstStyle/>
          <a:p>
            <a:r>
              <a:rPr lang="en-US" sz="2000" dirty="0"/>
              <a:t>Plays role in the following:</a:t>
            </a:r>
          </a:p>
          <a:p>
            <a:pPr>
              <a:buNone/>
            </a:pPr>
            <a:endParaRPr lang="en-US" sz="2000" dirty="0"/>
          </a:p>
          <a:p>
            <a:pPr lvl="1"/>
            <a:r>
              <a:rPr lang="en-US" sz="2000" dirty="0"/>
              <a:t>Structural role</a:t>
            </a:r>
          </a:p>
          <a:p>
            <a:pPr lvl="1"/>
            <a:r>
              <a:rPr lang="en-US" sz="2000" dirty="0"/>
              <a:t>Energy role</a:t>
            </a:r>
          </a:p>
          <a:p>
            <a:pPr lvl="1"/>
            <a:r>
              <a:rPr lang="en-US" sz="2000" dirty="0"/>
              <a:t>Cellular role</a:t>
            </a:r>
          </a:p>
          <a:p>
            <a:pPr lvl="1">
              <a:buNone/>
            </a:pPr>
            <a:endParaRPr lang="en-US" sz="2000" dirty="0"/>
          </a:p>
          <a:p>
            <a:r>
              <a:rPr lang="en-US" sz="2000" dirty="0"/>
              <a:t>Building blocks-monosaccharide</a:t>
            </a:r>
          </a:p>
          <a:p>
            <a:pPr lvl="1"/>
            <a:r>
              <a:rPr lang="en-US" sz="2000" dirty="0"/>
              <a:t>Disaccharides</a:t>
            </a:r>
          </a:p>
          <a:p>
            <a:pPr lvl="1"/>
            <a:r>
              <a:rPr lang="en-US" sz="2000" dirty="0"/>
              <a:t>Complex polysaccharides</a:t>
            </a:r>
          </a:p>
          <a:p>
            <a:pPr lvl="1"/>
            <a:r>
              <a:rPr lang="en-US" sz="2000" dirty="0"/>
              <a:t>Starches</a:t>
            </a:r>
          </a:p>
          <a:p>
            <a:pPr lvl="1">
              <a:buNone/>
            </a:pPr>
            <a:endParaRPr lang="en-US" sz="2000" dirty="0"/>
          </a:p>
          <a:p>
            <a:r>
              <a:rPr lang="en-US" sz="2000" dirty="0"/>
              <a:t>Food sources- Natural sugars, Refined sugars, added carbohydrates (modified starch thickeners, HFCS, sugar substitutes), vegetables and grains</a:t>
            </a:r>
          </a:p>
          <a:p>
            <a:pPr lvl="1">
              <a:buNone/>
            </a:pPr>
            <a:endParaRPr lang="en-US" sz="2000" dirty="0"/>
          </a:p>
        </p:txBody>
      </p:sp>
      <p:sp>
        <p:nvSpPr>
          <p:cNvPr id="13" name="Rectangle 12">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extBox 7">
            <a:extLst>
              <a:ext uri="{FF2B5EF4-FFF2-40B4-BE49-F238E27FC236}">
                <a16:creationId xmlns:a16="http://schemas.microsoft.com/office/drawing/2014/main" id="{7153EB16-4106-417C-BE50-66E0B568F110}"/>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BBB681-F4D2-40F2-ACC3-DE0B4B48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624D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388ED0-1FEF-4E11-B488-BD661D1A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58470"/>
            <a:ext cx="8428482"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picture containing graphical user interface&#10;&#10;Description automatically generated">
            <a:extLst>
              <a:ext uri="{FF2B5EF4-FFF2-40B4-BE49-F238E27FC236}">
                <a16:creationId xmlns:a16="http://schemas.microsoft.com/office/drawing/2014/main" id="{2FD3F117-2927-417D-94CD-77D2C27E8911}"/>
              </a:ext>
            </a:extLst>
          </p:cNvPr>
          <p:cNvPicPr>
            <a:picLocks noGrp="1" noChangeAspect="1"/>
          </p:cNvPicPr>
          <p:nvPr>
            <p:ph idx="1"/>
          </p:nvPr>
        </p:nvPicPr>
        <p:blipFill>
          <a:blip r:embed="rId3"/>
          <a:stretch>
            <a:fillRect/>
          </a:stretch>
        </p:blipFill>
        <p:spPr>
          <a:xfrm>
            <a:off x="1936023" y="771434"/>
            <a:ext cx="5271953" cy="5271953"/>
          </a:xfrm>
          <a:prstGeom prst="rect">
            <a:avLst/>
          </a:prstGeom>
        </p:spPr>
      </p:pic>
      <p:sp>
        <p:nvSpPr>
          <p:cNvPr id="5" name="TextBox 4">
            <a:extLst>
              <a:ext uri="{FF2B5EF4-FFF2-40B4-BE49-F238E27FC236}">
                <a16:creationId xmlns:a16="http://schemas.microsoft.com/office/drawing/2014/main" id="{79B238AC-F122-4884-BE2C-0AA9B8E88B16}"/>
              </a:ext>
            </a:extLst>
          </p:cNvPr>
          <p:cNvSpPr txBox="1"/>
          <p:nvPr/>
        </p:nvSpPr>
        <p:spPr>
          <a:xfrm>
            <a:off x="7315200" y="6499970"/>
            <a:ext cx="1763624" cy="246221"/>
          </a:xfrm>
          <a:prstGeom prst="rect">
            <a:avLst/>
          </a:prstGeom>
          <a:noFill/>
        </p:spPr>
        <p:txBody>
          <a:bodyPr wrap="none" rtlCol="0">
            <a:spAutoFit/>
          </a:bodyPr>
          <a:lstStyle/>
          <a:p>
            <a:r>
              <a:rPr lang="en-US" sz="1000" dirty="0">
                <a:solidFill>
                  <a:schemeClr val="bg1"/>
                </a:solidFill>
              </a:rPr>
              <a:t>VNSG 1577 NURG Care 1 </a:t>
            </a:r>
            <a:r>
              <a:rPr lang="en-US" sz="1000" dirty="0" err="1">
                <a:solidFill>
                  <a:schemeClr val="bg1"/>
                </a:solidFill>
              </a:rPr>
              <a:t>Wk</a:t>
            </a:r>
            <a:r>
              <a:rPr lang="en-US" sz="1000" dirty="0">
                <a:solidFill>
                  <a:schemeClr val="bg1"/>
                </a:solidFill>
              </a:rPr>
              <a:t> 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6" name="Picture 2" descr="http://www.nlm.nih.gov/medlineplus/ency/images/ency/fullsize/19823.jpg"/>
          <p:cNvPicPr>
            <a:picLocks noChangeAspect="1" noChangeArrowheads="1"/>
          </p:cNvPicPr>
          <p:nvPr/>
        </p:nvPicPr>
        <p:blipFill rotWithShape="1">
          <a:blip r:embed="rId3">
            <a:duotone>
              <a:schemeClr val="bg2">
                <a:shade val="45000"/>
                <a:satMod val="135000"/>
              </a:schemeClr>
              <a:prstClr val="white"/>
            </a:duotone>
            <a:alphaModFix amt="25000"/>
          </a:blip>
          <a:srcRect t="6226" r="-1" b="-1"/>
          <a:stretch/>
        </p:blipFill>
        <p:spPr bwMode="auto">
          <a:xfrm>
            <a:off x="20" y="1"/>
            <a:ext cx="9141694" cy="6858000"/>
          </a:xfrm>
          <a:prstGeom prst="rect">
            <a:avLst/>
          </a:prstGeom>
          <a:noFill/>
        </p:spPr>
      </p:pic>
      <p:sp>
        <p:nvSpPr>
          <p:cNvPr id="73" name="Rectangle 72">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89689" y="1123837"/>
            <a:ext cx="2210611" cy="4601183"/>
          </a:xfrm>
        </p:spPr>
        <p:txBody>
          <a:bodyPr>
            <a:normAutofit/>
          </a:bodyPr>
          <a:lstStyle/>
          <a:p>
            <a:r>
              <a:rPr lang="en-US" dirty="0"/>
              <a:t>Proteins</a:t>
            </a:r>
          </a:p>
        </p:txBody>
      </p:sp>
      <p:sp>
        <p:nvSpPr>
          <p:cNvPr id="2" name="Content Placeholder 1"/>
          <p:cNvSpPr>
            <a:spLocks noGrp="1"/>
          </p:cNvSpPr>
          <p:nvPr>
            <p:ph idx="1"/>
          </p:nvPr>
        </p:nvSpPr>
        <p:spPr>
          <a:xfrm>
            <a:off x="2901951" y="864108"/>
            <a:ext cx="5486400" cy="5120640"/>
          </a:xfrm>
        </p:spPr>
        <p:txBody>
          <a:bodyPr>
            <a:normAutofit/>
          </a:bodyPr>
          <a:lstStyle/>
          <a:p>
            <a:r>
              <a:rPr lang="en-US" sz="2000" dirty="0"/>
              <a:t>Plays role in the following:</a:t>
            </a:r>
          </a:p>
          <a:p>
            <a:pPr lvl="2"/>
            <a:r>
              <a:rPr lang="en-US" sz="2000" dirty="0"/>
              <a:t>Structural role</a:t>
            </a:r>
          </a:p>
          <a:p>
            <a:pPr lvl="2"/>
            <a:r>
              <a:rPr lang="en-US" sz="2000" dirty="0"/>
              <a:t>Enzyme role</a:t>
            </a:r>
          </a:p>
          <a:p>
            <a:pPr lvl="2"/>
            <a:r>
              <a:rPr lang="en-US" sz="2000" dirty="0"/>
              <a:t>Transport role</a:t>
            </a:r>
          </a:p>
          <a:p>
            <a:pPr lvl="2"/>
            <a:r>
              <a:rPr lang="en-US" sz="2000" dirty="0"/>
              <a:t>Defense role</a:t>
            </a:r>
          </a:p>
          <a:p>
            <a:pPr lvl="2"/>
            <a:r>
              <a:rPr lang="en-US" sz="2000" dirty="0"/>
              <a:t>Fluid and acid-base balance</a:t>
            </a:r>
          </a:p>
          <a:p>
            <a:endParaRPr lang="en-US" sz="2000" dirty="0"/>
          </a:p>
          <a:p>
            <a:r>
              <a:rPr lang="en-US" sz="2000" dirty="0"/>
              <a:t>Building block-amino acid</a:t>
            </a:r>
          </a:p>
          <a:p>
            <a:pPr>
              <a:buNone/>
            </a:pPr>
            <a:endParaRPr lang="en-US" sz="2000" dirty="0"/>
          </a:p>
          <a:p>
            <a:r>
              <a:rPr lang="en-US" sz="2000" dirty="0"/>
              <a:t>Food sources- animal sources &amp; eggs, soy proteins (vegetarian diets)</a:t>
            </a:r>
          </a:p>
          <a:p>
            <a:pPr lvl="2"/>
            <a:endParaRPr lang="en-US" sz="2000" dirty="0"/>
          </a:p>
        </p:txBody>
      </p:sp>
      <p:sp>
        <p:nvSpPr>
          <p:cNvPr id="75" name="Rectangle 74">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extBox 7">
            <a:extLst>
              <a:ext uri="{FF2B5EF4-FFF2-40B4-BE49-F238E27FC236}">
                <a16:creationId xmlns:a16="http://schemas.microsoft.com/office/drawing/2014/main" id="{F3392582-1D35-4782-AD00-4C9747501C6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Lipids (fats)</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966921" y="864108"/>
            <a:ext cx="4433008" cy="5120640"/>
          </a:xfrm>
        </p:spPr>
        <p:txBody>
          <a:bodyPr>
            <a:normAutofit/>
          </a:bodyPr>
          <a:lstStyle/>
          <a:p>
            <a:r>
              <a:rPr lang="en-US" sz="2000" dirty="0"/>
              <a:t>Plays role in the following:</a:t>
            </a:r>
          </a:p>
          <a:p>
            <a:pPr>
              <a:buNone/>
            </a:pPr>
            <a:endParaRPr lang="en-US" sz="2000" dirty="0"/>
          </a:p>
          <a:p>
            <a:pPr lvl="1"/>
            <a:r>
              <a:rPr lang="en-US" sz="2000" dirty="0"/>
              <a:t>Structural role</a:t>
            </a:r>
          </a:p>
          <a:p>
            <a:pPr lvl="1"/>
            <a:r>
              <a:rPr lang="en-US" sz="2000" dirty="0"/>
              <a:t>Transport role (</a:t>
            </a:r>
            <a:r>
              <a:rPr lang="en-US" sz="2000" dirty="0" err="1"/>
              <a:t>Lipo</a:t>
            </a:r>
            <a:r>
              <a:rPr lang="en-US" sz="2000" dirty="0"/>
              <a:t> proteins)</a:t>
            </a:r>
          </a:p>
          <a:p>
            <a:pPr>
              <a:buNone/>
            </a:pPr>
            <a:r>
              <a:rPr lang="en-US" sz="2000" b="1" i="0" dirty="0">
                <a:solidFill>
                  <a:srgbClr val="202124"/>
                </a:solidFill>
                <a:effectLst/>
                <a:latin typeface="Google Sans"/>
              </a:rPr>
              <a:t>The four main groups of lipids include:</a:t>
            </a:r>
            <a:endParaRPr lang="en-US" sz="2000" dirty="0"/>
          </a:p>
          <a:p>
            <a:r>
              <a:rPr lang="en-US" sz="2000" dirty="0"/>
              <a:t>Building block- Fatty acids and Glycerides</a:t>
            </a:r>
          </a:p>
          <a:p>
            <a:r>
              <a:rPr lang="en-US" sz="2000" dirty="0"/>
              <a:t>Saturated/Unsaturated fats</a:t>
            </a:r>
          </a:p>
          <a:p>
            <a:r>
              <a:rPr lang="en-US" sz="2000" dirty="0"/>
              <a:t>Cholesterol</a:t>
            </a:r>
          </a:p>
          <a:p>
            <a:r>
              <a:rPr lang="en-US" sz="2000" dirty="0"/>
              <a:t>Triglycerides</a:t>
            </a:r>
          </a:p>
          <a:p>
            <a:r>
              <a:rPr lang="en-US" sz="2000" dirty="0"/>
              <a:t>Food sources- many plant &amp; animal sources, hydrogenated fats, artificial fat products</a:t>
            </a:r>
          </a:p>
          <a:p>
            <a:pPr lvl="1">
              <a:buNone/>
            </a:pPr>
            <a:endParaRPr lang="en-US" sz="2000" dirty="0"/>
          </a:p>
          <a:p>
            <a:pPr lvl="1">
              <a:buNone/>
            </a:pPr>
            <a:endParaRPr lang="en-US" sz="2000" dirty="0"/>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4312A23-2AE5-448F-A6F7-54B66520DEBE}"/>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2D689655-FB47-4EF6-93B3-B2528C175E35}"/>
              </a:ext>
            </a:extLst>
          </p:cNvPr>
          <p:cNvSpPr>
            <a:spLocks noGrp="1"/>
          </p:cNvSpPr>
          <p:nvPr>
            <p:ph type="title"/>
          </p:nvPr>
        </p:nvSpPr>
        <p:spPr>
          <a:xfrm>
            <a:off x="1200565" y="1087374"/>
            <a:ext cx="6737617" cy="1000978"/>
          </a:xfrm>
        </p:spPr>
        <p:txBody>
          <a:bodyPr>
            <a:normAutofit/>
          </a:bodyPr>
          <a:lstStyle/>
          <a:p>
            <a:r>
              <a:rPr lang="en-US" dirty="0"/>
              <a:t>Essential Nutrients</a:t>
            </a:r>
            <a:br>
              <a:rPr lang="en-US" dirty="0"/>
            </a:br>
            <a:r>
              <a:rPr lang="en-US" dirty="0"/>
              <a:t>Micronutrients</a:t>
            </a: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45082732-EBE2-479C-B186-5364A6325C03}"/>
              </a:ext>
            </a:extLst>
          </p:cNvPr>
          <p:cNvSpPr>
            <a:spLocks noGrp="1"/>
          </p:cNvSpPr>
          <p:nvPr>
            <p:ph idx="1"/>
          </p:nvPr>
        </p:nvSpPr>
        <p:spPr>
          <a:xfrm>
            <a:off x="1200564" y="2535446"/>
            <a:ext cx="6737617" cy="3554457"/>
          </a:xfrm>
        </p:spPr>
        <p:txBody>
          <a:bodyPr>
            <a:normAutofit/>
          </a:bodyPr>
          <a:lstStyle/>
          <a:p>
            <a:pPr lvl="1"/>
            <a:r>
              <a:rPr lang="en-US" sz="2400" dirty="0"/>
              <a:t>Micronutrients are not produced in the body and must be derived from the diet. Six essential micronutrients:</a:t>
            </a:r>
          </a:p>
          <a:p>
            <a:pPr lvl="2"/>
            <a:r>
              <a:rPr lang="en-US" sz="2400" dirty="0">
                <a:solidFill>
                  <a:schemeClr val="tx1"/>
                </a:solidFill>
                <a:ea typeface="+mn-lt"/>
                <a:cs typeface="+mn-lt"/>
              </a:rPr>
              <a:t>Iron </a:t>
            </a:r>
          </a:p>
          <a:p>
            <a:pPr lvl="2"/>
            <a:r>
              <a:rPr lang="en-US" sz="2400" dirty="0">
                <a:solidFill>
                  <a:schemeClr val="tx1"/>
                </a:solidFill>
                <a:ea typeface="+mn-lt"/>
                <a:cs typeface="+mn-lt"/>
              </a:rPr>
              <a:t>Vitamin A</a:t>
            </a:r>
          </a:p>
          <a:p>
            <a:pPr lvl="2"/>
            <a:r>
              <a:rPr lang="en-US" sz="2400" dirty="0">
                <a:solidFill>
                  <a:schemeClr val="tx1"/>
                </a:solidFill>
                <a:ea typeface="+mn-lt"/>
                <a:cs typeface="+mn-lt"/>
              </a:rPr>
              <a:t>Vitamin D</a:t>
            </a:r>
          </a:p>
          <a:p>
            <a:pPr lvl="2"/>
            <a:r>
              <a:rPr lang="en-US" sz="2400" dirty="0">
                <a:solidFill>
                  <a:schemeClr val="tx1"/>
                </a:solidFill>
              </a:rPr>
              <a:t>Iodine</a:t>
            </a:r>
          </a:p>
          <a:p>
            <a:pPr lvl="2"/>
            <a:r>
              <a:rPr lang="en-US" sz="2400" dirty="0">
                <a:solidFill>
                  <a:schemeClr val="tx1"/>
                </a:solidFill>
              </a:rPr>
              <a:t>Folate</a:t>
            </a:r>
          </a:p>
          <a:p>
            <a:pPr lvl="2"/>
            <a:r>
              <a:rPr lang="en-US" sz="2400" dirty="0">
                <a:solidFill>
                  <a:schemeClr val="tx1"/>
                </a:solidFill>
              </a:rPr>
              <a:t>Zinc</a:t>
            </a:r>
          </a:p>
        </p:txBody>
      </p:sp>
      <p:sp>
        <p:nvSpPr>
          <p:cNvPr id="9" name="TextBox 8">
            <a:extLst>
              <a:ext uri="{FF2B5EF4-FFF2-40B4-BE49-F238E27FC236}">
                <a16:creationId xmlns:a16="http://schemas.microsoft.com/office/drawing/2014/main" id="{0BBA45CA-AC94-495E-95B6-62588051C4C5}"/>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39041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5" name="Title 4">
            <a:extLst>
              <a:ext uri="{FF2B5EF4-FFF2-40B4-BE49-F238E27FC236}">
                <a16:creationId xmlns:a16="http://schemas.microsoft.com/office/drawing/2014/main" id="{62BBA86A-43EA-4DF6-A368-33D9E45E2669}"/>
              </a:ext>
            </a:extLst>
          </p:cNvPr>
          <p:cNvSpPr>
            <a:spLocks noGrp="1"/>
          </p:cNvSpPr>
          <p:nvPr>
            <p:ph type="title"/>
          </p:nvPr>
        </p:nvSpPr>
        <p:spPr>
          <a:xfrm>
            <a:off x="1200565" y="1087374"/>
            <a:ext cx="6737617" cy="1000978"/>
          </a:xfrm>
        </p:spPr>
        <p:txBody>
          <a:bodyPr>
            <a:normAutofit/>
          </a:bodyPr>
          <a:lstStyle/>
          <a:p>
            <a:r>
              <a:rPr lang="en-US" dirty="0"/>
              <a:t>Minerals</a:t>
            </a:r>
            <a:br>
              <a:rPr lang="en-US"/>
            </a:br>
            <a:r>
              <a:rPr lang="en-US" dirty="0"/>
              <a:t>Micronutrients</a:t>
            </a:r>
          </a:p>
        </p:txBody>
      </p:sp>
      <p:sp>
        <p:nvSpPr>
          <p:cNvPr id="34" name="Rectangle 33">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35">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Content Placeholder 1"/>
          <p:cNvSpPr>
            <a:spLocks noGrp="1"/>
          </p:cNvSpPr>
          <p:nvPr>
            <p:ph idx="1"/>
          </p:nvPr>
        </p:nvSpPr>
        <p:spPr>
          <a:xfrm>
            <a:off x="1200564" y="2535446"/>
            <a:ext cx="6737617" cy="3554457"/>
          </a:xfrm>
        </p:spPr>
        <p:txBody>
          <a:bodyPr>
            <a:normAutofit/>
          </a:bodyPr>
          <a:lstStyle/>
          <a:p>
            <a:pPr lvl="1"/>
            <a:r>
              <a:rPr lang="en-US" sz="2000" dirty="0">
                <a:solidFill>
                  <a:schemeClr val="tx1"/>
                </a:solidFill>
              </a:rPr>
              <a:t>Small molecule groups that are needed by the body to maintain normal physiologic functioning</a:t>
            </a:r>
          </a:p>
          <a:p>
            <a:pPr lvl="1"/>
            <a:endParaRPr lang="en-US" sz="2000" dirty="0">
              <a:solidFill>
                <a:schemeClr val="tx1"/>
              </a:solidFill>
            </a:endParaRPr>
          </a:p>
          <a:p>
            <a:pPr lvl="1"/>
            <a:r>
              <a:rPr lang="en-US" sz="2000" dirty="0">
                <a:solidFill>
                  <a:schemeClr val="tx1"/>
                </a:solidFill>
              </a:rPr>
              <a:t>Nutrients that aide in regulation of body processes and are required in smaller amounts</a:t>
            </a:r>
          </a:p>
          <a:p>
            <a:pPr lvl="1"/>
            <a:endParaRPr lang="en-US" sz="2000" dirty="0">
              <a:solidFill>
                <a:schemeClr val="tx1"/>
              </a:solidFill>
            </a:endParaRPr>
          </a:p>
          <a:p>
            <a:pPr lvl="2"/>
            <a:r>
              <a:rPr lang="en-US" sz="2000" dirty="0">
                <a:solidFill>
                  <a:schemeClr val="tx1"/>
                </a:solidFill>
              </a:rPr>
              <a:t>Vitamins, minerals and water</a:t>
            </a:r>
          </a:p>
          <a:p>
            <a:pPr lvl="2"/>
            <a:r>
              <a:rPr lang="en-US" sz="2000" dirty="0">
                <a:solidFill>
                  <a:schemeClr val="tx1"/>
                </a:solidFill>
              </a:rPr>
              <a:t>Micronutrients can further be subdivided into</a:t>
            </a:r>
          </a:p>
          <a:p>
            <a:pPr lvl="3"/>
            <a:r>
              <a:rPr lang="en-US" sz="2000" dirty="0">
                <a:solidFill>
                  <a:schemeClr val="tx1"/>
                </a:solidFill>
              </a:rPr>
              <a:t>Major Minerals</a:t>
            </a:r>
          </a:p>
          <a:p>
            <a:pPr lvl="3"/>
            <a:r>
              <a:rPr lang="en-US" sz="2000" dirty="0">
                <a:solidFill>
                  <a:schemeClr val="tx1"/>
                </a:solidFill>
              </a:rPr>
              <a:t>Minor Minerals (Trace elements)</a:t>
            </a:r>
          </a:p>
          <a:p>
            <a:pPr>
              <a:buNone/>
            </a:pPr>
            <a:endParaRPr lang="en-US" sz="2000" dirty="0">
              <a:solidFill>
                <a:schemeClr val="tx1"/>
              </a:solidFill>
            </a:endParaRPr>
          </a:p>
        </p:txBody>
      </p:sp>
      <p:sp>
        <p:nvSpPr>
          <p:cNvPr id="9" name="TextBox 8">
            <a:extLst>
              <a:ext uri="{FF2B5EF4-FFF2-40B4-BE49-F238E27FC236}">
                <a16:creationId xmlns:a16="http://schemas.microsoft.com/office/drawing/2014/main" id="{CE2194E0-294F-47D6-8B5E-4E0C99B60A9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3" descr="Table&#10;&#10;Description automatically generated">
            <a:extLst>
              <a:ext uri="{FF2B5EF4-FFF2-40B4-BE49-F238E27FC236}">
                <a16:creationId xmlns:a16="http://schemas.microsoft.com/office/drawing/2014/main" id="{2128F424-CC78-4677-AE19-3A503E1DBAE1}"/>
              </a:ext>
            </a:extLst>
          </p:cNvPr>
          <p:cNvPicPr>
            <a:picLocks noChangeAspect="1"/>
          </p:cNvPicPr>
          <p:nvPr/>
        </p:nvPicPr>
        <p:blipFill>
          <a:blip r:embed="rId3"/>
          <a:stretch>
            <a:fillRect/>
          </a:stretch>
        </p:blipFill>
        <p:spPr>
          <a:xfrm>
            <a:off x="857955" y="643467"/>
            <a:ext cx="7428088" cy="5571066"/>
          </a:xfrm>
          <a:prstGeom prst="rect">
            <a:avLst/>
          </a:prstGeom>
        </p:spPr>
      </p:pic>
      <p:sp>
        <p:nvSpPr>
          <p:cNvPr id="4" name="TextBox 3">
            <a:extLst>
              <a:ext uri="{FF2B5EF4-FFF2-40B4-BE49-F238E27FC236}">
                <a16:creationId xmlns:a16="http://schemas.microsoft.com/office/drawing/2014/main" id="{442236F1-6741-45AE-A2AB-A67728CDA646}"/>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4173050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descr="A screenshot of a cell phone screen with text&#10;&#10;Description automatically generated">
            <a:extLst>
              <a:ext uri="{FF2B5EF4-FFF2-40B4-BE49-F238E27FC236}">
                <a16:creationId xmlns:a16="http://schemas.microsoft.com/office/drawing/2014/main" id="{142F1B67-E7B3-40E9-B7EF-962D97A4CEDC}"/>
              </a:ext>
            </a:extLst>
          </p:cNvPr>
          <p:cNvPicPr>
            <a:picLocks noChangeAspect="1"/>
          </p:cNvPicPr>
          <p:nvPr/>
        </p:nvPicPr>
        <p:blipFill>
          <a:blip r:embed="rId3"/>
          <a:stretch>
            <a:fillRect/>
          </a:stretch>
        </p:blipFill>
        <p:spPr>
          <a:xfrm>
            <a:off x="1245989" y="643467"/>
            <a:ext cx="6652020" cy="5571066"/>
          </a:xfrm>
          <a:prstGeom prst="rect">
            <a:avLst/>
          </a:prstGeom>
        </p:spPr>
      </p:pic>
      <p:sp>
        <p:nvSpPr>
          <p:cNvPr id="3" name="TextBox 2">
            <a:extLst>
              <a:ext uri="{FF2B5EF4-FFF2-40B4-BE49-F238E27FC236}">
                <a16:creationId xmlns:a16="http://schemas.microsoft.com/office/drawing/2014/main" id="{A51B6D16-C164-4E69-92E4-131A0EFA99CE}"/>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535671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2F667E3B-FD13-4C58-9249-AC0985C139B2}"/>
              </a:ext>
            </a:extLst>
          </p:cNvPr>
          <p:cNvSpPr>
            <a:spLocks noGrp="1"/>
          </p:cNvSpPr>
          <p:nvPr>
            <p:ph type="title"/>
          </p:nvPr>
        </p:nvSpPr>
        <p:spPr>
          <a:xfrm>
            <a:off x="1200565" y="1087374"/>
            <a:ext cx="6737617" cy="1000978"/>
          </a:xfrm>
        </p:spPr>
        <p:txBody>
          <a:bodyPr>
            <a:normAutofit/>
          </a:bodyPr>
          <a:lstStyle/>
          <a:p>
            <a:r>
              <a:rPr lang="en-US"/>
              <a:t>Water</a:t>
            </a:r>
            <a:br>
              <a:rPr lang="en-US" dirty="0"/>
            </a:br>
            <a:r>
              <a:rPr lang="en-US"/>
              <a:t>Box 23.6</a:t>
            </a:r>
            <a:endParaRPr lang="en-US" dirty="0"/>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0B2284E0-5BC0-4530-9F01-7984E45AECA9}"/>
              </a:ext>
            </a:extLst>
          </p:cNvPr>
          <p:cNvSpPr>
            <a:spLocks noGrp="1"/>
          </p:cNvSpPr>
          <p:nvPr>
            <p:ph idx="1"/>
          </p:nvPr>
        </p:nvSpPr>
        <p:spPr>
          <a:xfrm>
            <a:off x="1200564" y="2535446"/>
            <a:ext cx="6737617" cy="3554457"/>
          </a:xfrm>
        </p:spPr>
        <p:txBody>
          <a:bodyPr>
            <a:normAutofit/>
          </a:bodyPr>
          <a:lstStyle/>
          <a:p>
            <a:r>
              <a:rPr lang="en-US" sz="2400" dirty="0">
                <a:solidFill>
                  <a:schemeClr val="tx1"/>
                </a:solidFill>
              </a:rPr>
              <a:t>Critical to sustain life</a:t>
            </a:r>
          </a:p>
          <a:p>
            <a:r>
              <a:rPr lang="en-US" sz="2400" dirty="0">
                <a:solidFill>
                  <a:schemeClr val="tx1"/>
                </a:solidFill>
              </a:rPr>
              <a:t>Every cell, tissue, organ, and body system depend on adequate water intake to function properly.</a:t>
            </a:r>
          </a:p>
          <a:p>
            <a:r>
              <a:rPr lang="en-US" sz="2400" dirty="0">
                <a:solidFill>
                  <a:schemeClr val="tx1"/>
                </a:solidFill>
              </a:rPr>
              <a:t>Adults 55-65%</a:t>
            </a:r>
          </a:p>
          <a:p>
            <a:r>
              <a:rPr lang="en-US" sz="2400" dirty="0">
                <a:solidFill>
                  <a:schemeClr val="tx1"/>
                </a:solidFill>
              </a:rPr>
              <a:t>Infants 65-70%</a:t>
            </a:r>
          </a:p>
          <a:p>
            <a:r>
              <a:rPr lang="en-US" sz="2400" dirty="0">
                <a:solidFill>
                  <a:schemeClr val="tx1"/>
                </a:solidFill>
              </a:rPr>
              <a:t>Need 6-8. 8 oz servings a day(more if sick or exercising)</a:t>
            </a:r>
          </a:p>
        </p:txBody>
      </p:sp>
      <p:sp>
        <p:nvSpPr>
          <p:cNvPr id="9" name="TextBox 8">
            <a:extLst>
              <a:ext uri="{FF2B5EF4-FFF2-40B4-BE49-F238E27FC236}">
                <a16:creationId xmlns:a16="http://schemas.microsoft.com/office/drawing/2014/main" id="{07FBA0D9-78A5-48C1-A326-5E044E75799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325103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Population Guidelines</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966921" y="864108"/>
            <a:ext cx="4433008" cy="5120640"/>
          </a:xfrm>
        </p:spPr>
        <p:txBody>
          <a:bodyPr>
            <a:noAutofit/>
          </a:bodyPr>
          <a:lstStyle/>
          <a:p>
            <a:r>
              <a:rPr lang="en-US" sz="2400" dirty="0"/>
              <a:t>Dietary Reference intakes (DRIs)</a:t>
            </a:r>
          </a:p>
          <a:p>
            <a:endParaRPr lang="en-US" sz="2400" dirty="0"/>
          </a:p>
          <a:p>
            <a:pPr lvl="1"/>
            <a:r>
              <a:rPr lang="en-US" sz="2400" dirty="0"/>
              <a:t>Estimated Average Requirement (EAR)</a:t>
            </a:r>
          </a:p>
          <a:p>
            <a:pPr lvl="1"/>
            <a:r>
              <a:rPr lang="en-US" sz="2400" dirty="0"/>
              <a:t>Recommended Dietary Allowances (RDAs)</a:t>
            </a:r>
          </a:p>
          <a:p>
            <a:pPr lvl="1"/>
            <a:r>
              <a:rPr lang="en-US" sz="2400" dirty="0"/>
              <a:t>Adequate Intake (AI)</a:t>
            </a:r>
          </a:p>
          <a:p>
            <a:pPr lvl="1"/>
            <a:r>
              <a:rPr lang="en-US" sz="2400" dirty="0"/>
              <a:t>Tolerable upper limits (UL)</a:t>
            </a:r>
          </a:p>
          <a:p>
            <a:pPr lvl="1"/>
            <a:endParaRPr lang="en-US" sz="2400" dirty="0"/>
          </a:p>
          <a:p>
            <a:r>
              <a:rPr lang="en-US" sz="2400" dirty="0"/>
              <a:t>Healthy People 2020 Initiative</a:t>
            </a:r>
          </a:p>
          <a:p>
            <a:r>
              <a:rPr lang="en-US" sz="2400" dirty="0"/>
              <a:t>Eating a well-balanced diet  is the best way to meet all daily vitamin and nutrient needs</a:t>
            </a:r>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6432292-9216-4F52-8202-8BC8311C682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944922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4B5CC49-6FAE-42FA-99B6-A3FDA8C68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277471" y="1083732"/>
            <a:ext cx="4132221" cy="4690534"/>
          </a:xfrm>
        </p:spPr>
        <p:txBody>
          <a:bodyPr anchor="ctr">
            <a:normAutofit/>
          </a:bodyPr>
          <a:lstStyle/>
          <a:p>
            <a:pPr algn="r"/>
            <a:r>
              <a:rPr lang="en-US" sz="6300">
                <a:solidFill>
                  <a:schemeClr val="tx1">
                    <a:lumMod val="75000"/>
                    <a:lumOff val="25000"/>
                  </a:schemeClr>
                </a:solidFill>
              </a:rPr>
              <a:t>Nutrition</a:t>
            </a:r>
          </a:p>
        </p:txBody>
      </p:sp>
      <p:sp>
        <p:nvSpPr>
          <p:cNvPr id="3" name="Subtitle 2"/>
          <p:cNvSpPr>
            <a:spLocks noGrp="1"/>
          </p:cNvSpPr>
          <p:nvPr>
            <p:ph type="subTitle" idx="1"/>
          </p:nvPr>
        </p:nvSpPr>
        <p:spPr>
          <a:xfrm>
            <a:off x="5892291" y="1083732"/>
            <a:ext cx="2630741" cy="4690534"/>
          </a:xfrm>
        </p:spPr>
        <p:txBody>
          <a:bodyPr anchor="ctr">
            <a:normAutofit/>
          </a:bodyPr>
          <a:lstStyle/>
          <a:p>
            <a:r>
              <a:rPr lang="en-US" sz="2400">
                <a:solidFill>
                  <a:schemeClr val="tx1">
                    <a:lumMod val="75000"/>
                    <a:lumOff val="25000"/>
                  </a:schemeClr>
                </a:solidFill>
              </a:rPr>
              <a:t>LIFESPAN AND DEVELOPMENTAL CONSIDERATIONS</a:t>
            </a:r>
          </a:p>
        </p:txBody>
      </p:sp>
      <p:sp>
        <p:nvSpPr>
          <p:cNvPr id="10" name="Rectangle 9">
            <a:extLst>
              <a:ext uri="{FF2B5EF4-FFF2-40B4-BE49-F238E27FC236}">
                <a16:creationId xmlns:a16="http://schemas.microsoft.com/office/drawing/2014/main" id="{E6BC9B4A-2119-4645-B4CA-7817D5FAF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158D888F-D87A-4C3C-BD82-273E4C8C5E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9A2CD81-3BB6-4ED6-A50F-DC14F37A9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4333"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F03EE6A-D051-482F-BBA1-ED9FB3B2FFD3}"/>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48486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2546" y="757325"/>
            <a:ext cx="2661858"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92236" y="1123837"/>
            <a:ext cx="2210611" cy="4601183"/>
          </a:xfrm>
        </p:spPr>
        <p:txBody>
          <a:bodyPr>
            <a:normAutofit/>
          </a:bodyPr>
          <a:lstStyle/>
          <a:p>
            <a:r>
              <a:rPr lang="en-US" sz="2800" err="1"/>
              <a:t>Preconceptual</a:t>
            </a:r>
            <a:r>
              <a:rPr lang="en-US" sz="2800"/>
              <a:t> Nutrition</a:t>
            </a:r>
          </a:p>
        </p:txBody>
      </p:sp>
      <p:sp>
        <p:nvSpPr>
          <p:cNvPr id="2" name="Content Placeholder 1"/>
          <p:cNvSpPr>
            <a:spLocks noGrp="1"/>
          </p:cNvSpPr>
          <p:nvPr>
            <p:ph idx="1"/>
          </p:nvPr>
        </p:nvSpPr>
        <p:spPr>
          <a:xfrm>
            <a:off x="482599" y="864108"/>
            <a:ext cx="5240351" cy="5120640"/>
          </a:xfrm>
        </p:spPr>
        <p:txBody>
          <a:bodyPr>
            <a:normAutofit/>
          </a:bodyPr>
          <a:lstStyle/>
          <a:p>
            <a:r>
              <a:rPr lang="en-US" sz="2400" dirty="0">
                <a:solidFill>
                  <a:schemeClr val="tx1"/>
                </a:solidFill>
              </a:rPr>
              <a:t>Nutrition status before conception &amp; pregnancy</a:t>
            </a:r>
          </a:p>
          <a:p>
            <a:r>
              <a:rPr lang="en-US" sz="2400" dirty="0">
                <a:solidFill>
                  <a:schemeClr val="tx1"/>
                </a:solidFill>
              </a:rPr>
              <a:t>Course of pregnancy profoundly affected by nutritional status</a:t>
            </a:r>
          </a:p>
          <a:p>
            <a:r>
              <a:rPr lang="en-US" sz="2400" dirty="0">
                <a:solidFill>
                  <a:schemeClr val="tx1"/>
                </a:solidFill>
              </a:rPr>
              <a:t>Completely assess nutritional status and identify any alterations that may impact developing embryo/fetus</a:t>
            </a:r>
          </a:p>
          <a:p>
            <a:r>
              <a:rPr lang="en-US" sz="2400" dirty="0">
                <a:solidFill>
                  <a:schemeClr val="tx1"/>
                </a:solidFill>
              </a:rPr>
              <a:t>Monitor weight, adequate nutrition intake, deficiencies, vitamin intake.</a:t>
            </a:r>
          </a:p>
        </p:txBody>
      </p:sp>
      <p:sp>
        <p:nvSpPr>
          <p:cNvPr id="12" name="Rectangle 11">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0545"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TextBox 6">
            <a:extLst>
              <a:ext uri="{FF2B5EF4-FFF2-40B4-BE49-F238E27FC236}">
                <a16:creationId xmlns:a16="http://schemas.microsoft.com/office/drawing/2014/main" id="{A564391E-64C9-4326-B074-C7FF4E898DE8}"/>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836418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Nutrition &amp; Pregnancy</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966921" y="864108"/>
            <a:ext cx="4433008" cy="5120640"/>
          </a:xfrm>
        </p:spPr>
        <p:txBody>
          <a:bodyPr>
            <a:noAutofit/>
          </a:bodyPr>
          <a:lstStyle/>
          <a:p>
            <a:r>
              <a:rPr lang="en-US" sz="2400" dirty="0"/>
              <a:t>Increased metabolic needs</a:t>
            </a:r>
          </a:p>
          <a:p>
            <a:r>
              <a:rPr lang="en-US" sz="2400" dirty="0"/>
              <a:t>Nutrition &amp; pregnancy related concerns:</a:t>
            </a:r>
          </a:p>
          <a:p>
            <a:pPr lvl="1"/>
            <a:r>
              <a:rPr lang="en-US" sz="2400" dirty="0"/>
              <a:t>Nausea/vomiting</a:t>
            </a:r>
          </a:p>
          <a:p>
            <a:pPr lvl="1"/>
            <a:r>
              <a:rPr lang="en-US" sz="2400" dirty="0"/>
              <a:t>Heartburn</a:t>
            </a:r>
          </a:p>
          <a:p>
            <a:pPr lvl="1"/>
            <a:r>
              <a:rPr lang="en-US" sz="2400" dirty="0"/>
              <a:t>Physiological anemia of pregnancy</a:t>
            </a:r>
          </a:p>
          <a:p>
            <a:pPr lvl="1"/>
            <a:r>
              <a:rPr lang="en-US" sz="2400" dirty="0"/>
              <a:t>Cravings and aversions</a:t>
            </a:r>
          </a:p>
          <a:p>
            <a:pPr lvl="1"/>
            <a:r>
              <a:rPr lang="en-US" sz="2400" dirty="0"/>
              <a:t>Altered bowel patterns</a:t>
            </a:r>
          </a:p>
          <a:p>
            <a:pPr lvl="1"/>
            <a:r>
              <a:rPr lang="en-US" sz="2400" dirty="0"/>
              <a:t>Fluid retention</a:t>
            </a:r>
          </a:p>
          <a:p>
            <a:pPr lvl="1"/>
            <a:r>
              <a:rPr lang="en-US" sz="2400" dirty="0"/>
              <a:t>High risk pregnancies due to gestational diabetes, hyperemesis gravidarum, other preexisting maternal diseases</a:t>
            </a:r>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99F9B9C-64AB-4682-B0BB-D891C28FBDB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550866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5" name="Rectangle 14">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3"/>
          <p:cNvSpPr>
            <a:spLocks noGrp="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Nutrition &amp; Pregnancy</a:t>
            </a:r>
          </a:p>
        </p:txBody>
      </p:sp>
      <p:sp>
        <p:nvSpPr>
          <p:cNvPr id="17" name="Rectangle 16">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9" name="Straight Connector 18">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p:cNvSpPr>
            <a:spLocks noGrp="1"/>
          </p:cNvSpPr>
          <p:nvPr>
            <p:ph sz="half" idx="2"/>
          </p:nvPr>
        </p:nvSpPr>
        <p:spPr>
          <a:xfrm>
            <a:off x="3966921" y="864108"/>
            <a:ext cx="4433008" cy="5120640"/>
          </a:xfrm>
        </p:spPr>
        <p:txBody>
          <a:bodyPr vert="horz" lIns="91440" tIns="45720" rIns="91440" bIns="45720" rtlCol="0" anchor="ctr">
            <a:normAutofit/>
          </a:bodyPr>
          <a:lstStyle/>
          <a:p>
            <a:pPr marL="0" indent="0">
              <a:buNone/>
            </a:pPr>
            <a:r>
              <a:rPr lang="en-US" sz="2400" dirty="0"/>
              <a:t>Pregnancy: </a:t>
            </a:r>
          </a:p>
          <a:p>
            <a:r>
              <a:rPr lang="en-US" sz="2400" dirty="0"/>
              <a:t>Increased fluid intake</a:t>
            </a:r>
          </a:p>
          <a:p>
            <a:r>
              <a:rPr lang="en-US" sz="2400" dirty="0"/>
              <a:t>Nutritional state before pregnancy important</a:t>
            </a:r>
          </a:p>
          <a:p>
            <a:r>
              <a:rPr lang="en-US" sz="2400" dirty="0"/>
              <a:t>75 – 100 grams/day protein</a:t>
            </a:r>
          </a:p>
          <a:p>
            <a:r>
              <a:rPr lang="en-US" sz="2400" dirty="0"/>
              <a:t>Calcium 1200 mg/day</a:t>
            </a:r>
          </a:p>
          <a:p>
            <a:r>
              <a:rPr lang="en-US" sz="2400" dirty="0"/>
              <a:t>Increase iron-prenatal vitamins</a:t>
            </a:r>
          </a:p>
          <a:p>
            <a:r>
              <a:rPr lang="en-US" sz="2400" dirty="0"/>
              <a:t>Folic acid - prevent neural tube defects (600mcg/day)</a:t>
            </a:r>
          </a:p>
          <a:p>
            <a:endParaRPr lang="en-US" sz="2400" dirty="0"/>
          </a:p>
        </p:txBody>
      </p:sp>
      <p:sp>
        <p:nvSpPr>
          <p:cNvPr id="21" name="Rectangle 20">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09F134F-773C-4AF9-B5FE-8D4FCFF0BB9F}"/>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960397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6" name="Rectangle 15">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3"/>
          <p:cNvSpPr>
            <a:spLocks noGrp="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Nutrition &amp; Pregnancy</a:t>
            </a:r>
          </a:p>
        </p:txBody>
      </p:sp>
      <p:sp>
        <p:nvSpPr>
          <p:cNvPr id="18" name="Rectangle 17">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2279C68-5AB6-4DB0-A0D6-1468865EB318}"/>
              </a:ext>
            </a:extLst>
          </p:cNvPr>
          <p:cNvSpPr>
            <a:spLocks noGrp="1"/>
          </p:cNvSpPr>
          <p:nvPr>
            <p:ph sz="quarter" idx="4"/>
          </p:nvPr>
        </p:nvSpPr>
        <p:spPr>
          <a:xfrm>
            <a:off x="3966921" y="228600"/>
            <a:ext cx="4433008" cy="6400800"/>
          </a:xfrm>
        </p:spPr>
        <p:txBody>
          <a:bodyPr vert="horz" lIns="91440" tIns="45720" rIns="91440" bIns="45720" rtlCol="0" anchor="ctr">
            <a:normAutofit/>
          </a:bodyPr>
          <a:lstStyle/>
          <a:p>
            <a:pPr marL="342900" lvl="1"/>
            <a:r>
              <a:rPr lang="en-US" sz="2000" dirty="0"/>
              <a:t>Lactation:</a:t>
            </a:r>
          </a:p>
          <a:p>
            <a:pPr lvl="1"/>
            <a:r>
              <a:rPr lang="en-US" sz="2000" dirty="0"/>
              <a:t>500 kcal above pre-pregnant needs</a:t>
            </a:r>
          </a:p>
          <a:p>
            <a:pPr lvl="1"/>
            <a:r>
              <a:rPr lang="en-US" sz="2000" dirty="0"/>
              <a:t>Infant diet consists: protein, fat, and carbohydrates via breastmilk</a:t>
            </a:r>
          </a:p>
          <a:p>
            <a:pPr lvl="2"/>
            <a:r>
              <a:rPr lang="en-US" sz="2000" dirty="0"/>
              <a:t>50% protein </a:t>
            </a:r>
          </a:p>
          <a:p>
            <a:pPr lvl="2"/>
            <a:r>
              <a:rPr lang="en-US" sz="2000" dirty="0"/>
              <a:t>40-50% fat</a:t>
            </a:r>
          </a:p>
          <a:p>
            <a:pPr lvl="2"/>
            <a:r>
              <a:rPr lang="en-US" sz="2000" dirty="0"/>
              <a:t>Carbohydrates (lactose) principal source of dietary energy</a:t>
            </a:r>
          </a:p>
          <a:p>
            <a:pPr lvl="1"/>
            <a:r>
              <a:rPr lang="en-US" sz="2000" dirty="0"/>
              <a:t>3 quarts of fluid/day (mother’s intake)</a:t>
            </a:r>
          </a:p>
          <a:p>
            <a:pPr lvl="1"/>
            <a:r>
              <a:rPr lang="en-US" sz="2000" dirty="0"/>
              <a:t>Prenatal vitamins</a:t>
            </a:r>
          </a:p>
          <a:p>
            <a:pPr lvl="1"/>
            <a:r>
              <a:rPr lang="en-US" sz="2000" dirty="0"/>
              <a:t>Drugs and ETOH are excreted in breast milk</a:t>
            </a:r>
          </a:p>
          <a:p>
            <a:endParaRPr lang="en-US" dirty="0"/>
          </a:p>
        </p:txBody>
      </p:sp>
      <p:sp>
        <p:nvSpPr>
          <p:cNvPr id="22" name="Rectangle 21">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AFC190B-EEDC-43C4-AE54-1A7F5B24E95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840062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79D401-AA9C-409D-9F90-498DC632E10D}"/>
              </a:ext>
            </a:extLst>
          </p:cNvPr>
          <p:cNvSpPr/>
          <p:nvPr/>
        </p:nvSpPr>
        <p:spPr>
          <a:xfrm>
            <a:off x="228600" y="304800"/>
            <a:ext cx="8686800" cy="6309420"/>
          </a:xfrm>
          <a:prstGeom prst="rect">
            <a:avLst/>
          </a:prstGeom>
        </p:spPr>
        <p:txBody>
          <a:bodyPr wrap="square">
            <a:spAutoFit/>
          </a:bodyPr>
          <a:lstStyle/>
          <a:p>
            <a:r>
              <a:rPr lang="en-US" sz="2400" b="1" i="1" dirty="0">
                <a:solidFill>
                  <a:srgbClr val="996699"/>
                </a:solidFill>
                <a:latin typeface="Arial" panose="020B0604020202020204" pitchFamily="34" charset="0"/>
              </a:rPr>
              <a:t>Components of Breast Milk</a:t>
            </a:r>
            <a:endParaRPr lang="en-US" sz="2400" b="1" dirty="0">
              <a:solidFill>
                <a:srgbClr val="996699"/>
              </a:solidFill>
              <a:latin typeface="Arial" panose="020B0604020202020204" pitchFamily="34" charset="0"/>
            </a:endParaRPr>
          </a:p>
          <a:p>
            <a:pPr algn="just"/>
            <a:r>
              <a:rPr lang="en-US" sz="2000" dirty="0">
                <a:solidFill>
                  <a:srgbClr val="000000"/>
                </a:solidFill>
                <a:latin typeface="Times New Roman" panose="02020603050405020304" pitchFamily="18" charset="0"/>
              </a:rPr>
              <a:t>The following list provides an overview of the components and nutrients in breast milk:</a:t>
            </a:r>
          </a:p>
          <a:p>
            <a:r>
              <a:rPr lang="en-US" sz="2000" b="1" dirty="0">
                <a:solidFill>
                  <a:srgbClr val="000000"/>
                </a:solidFill>
                <a:latin typeface="Times New Roman" panose="02020603050405020304" pitchFamily="18" charset="0"/>
              </a:rPr>
              <a:t>Proteins:</a:t>
            </a:r>
            <a:r>
              <a:rPr lang="en-US" sz="2000" dirty="0">
                <a:solidFill>
                  <a:srgbClr val="000000"/>
                </a:solidFill>
                <a:latin typeface="Times New Roman" panose="02020603050405020304" pitchFamily="18" charset="0"/>
              </a:rPr>
              <a:t> The balance of the proteins, approximately 60% whey and 40% casein, allows the infant to digest breast milk easily. Other specific proteins in breast milk are:</a:t>
            </a:r>
          </a:p>
          <a:p>
            <a:r>
              <a:rPr lang="en-US" sz="2000" dirty="0">
                <a:solidFill>
                  <a:srgbClr val="000000"/>
                </a:solidFill>
                <a:latin typeface="Times New Roman" panose="02020603050405020304" pitchFamily="18" charset="0"/>
              </a:rPr>
              <a:t>• </a:t>
            </a:r>
            <a:r>
              <a:rPr lang="en-US" sz="2000" b="1" dirty="0">
                <a:solidFill>
                  <a:srgbClr val="000000"/>
                </a:solidFill>
                <a:latin typeface="Times New Roman" panose="02020603050405020304" pitchFamily="18" charset="0"/>
              </a:rPr>
              <a:t>Lactoferrin,</a:t>
            </a:r>
            <a:r>
              <a:rPr lang="en-US" sz="2000" dirty="0">
                <a:solidFill>
                  <a:srgbClr val="000000"/>
                </a:solidFill>
                <a:latin typeface="Times New Roman" panose="02020603050405020304" pitchFamily="18" charset="0"/>
              </a:rPr>
              <a:t> which has bactericidal and iron-binding properties</a:t>
            </a:r>
          </a:p>
          <a:p>
            <a:r>
              <a:rPr lang="en-US" sz="2000" dirty="0">
                <a:solidFill>
                  <a:srgbClr val="000000"/>
                </a:solidFill>
                <a:latin typeface="Times New Roman" panose="02020603050405020304" pitchFamily="18" charset="0"/>
              </a:rPr>
              <a:t>• Secretory IgA, which protects the infant from viruses and bacteria</a:t>
            </a:r>
          </a:p>
          <a:p>
            <a:r>
              <a:rPr lang="en-US" sz="2000" dirty="0">
                <a:solidFill>
                  <a:srgbClr val="000000"/>
                </a:solidFill>
                <a:latin typeface="Times New Roman" panose="02020603050405020304" pitchFamily="18" charset="0"/>
              </a:rPr>
              <a:t>• Lysozyme, an enzyme that promotes the growth of healthy intestinal flora and has anti-inflammatory functions</a:t>
            </a:r>
          </a:p>
          <a:p>
            <a:r>
              <a:rPr lang="en-US" sz="2000" b="1" dirty="0" err="1">
                <a:solidFill>
                  <a:srgbClr val="000000"/>
                </a:solidFill>
                <a:latin typeface="Times New Roman" panose="02020603050405020304" pitchFamily="18" charset="0"/>
              </a:rPr>
              <a:t>Bifidus</a:t>
            </a:r>
            <a:r>
              <a:rPr lang="en-US" sz="2000" b="1" dirty="0">
                <a:solidFill>
                  <a:srgbClr val="000000"/>
                </a:solidFill>
                <a:latin typeface="Times New Roman" panose="02020603050405020304" pitchFamily="18" charset="0"/>
              </a:rPr>
              <a:t> factor</a:t>
            </a:r>
            <a:r>
              <a:rPr lang="en-US" sz="2000" dirty="0">
                <a:solidFill>
                  <a:srgbClr val="000000"/>
                </a:solidFill>
                <a:latin typeface="Times New Roman" panose="02020603050405020304" pitchFamily="18" charset="0"/>
              </a:rPr>
              <a:t> supports the growth of lactobacillus, which creates an acidic environment in the intestines.</a:t>
            </a:r>
          </a:p>
          <a:p>
            <a:r>
              <a:rPr lang="en-US" sz="2000" b="1" dirty="0">
                <a:solidFill>
                  <a:srgbClr val="000000"/>
                </a:solidFill>
                <a:latin typeface="Times New Roman" panose="02020603050405020304" pitchFamily="18" charset="0"/>
              </a:rPr>
              <a:t>Cholesterol and fats</a:t>
            </a:r>
            <a:r>
              <a:rPr lang="en-US" sz="2000" dirty="0">
                <a:solidFill>
                  <a:srgbClr val="000000"/>
                </a:solidFill>
                <a:latin typeface="Times New Roman" panose="02020603050405020304" pitchFamily="18" charset="0"/>
              </a:rPr>
              <a:t> are essential for brain development and the absorption of fat-soluble vitamins and are a primary calorie source.</a:t>
            </a:r>
          </a:p>
          <a:p>
            <a:r>
              <a:rPr lang="en-US" sz="2000" b="1" dirty="0">
                <a:solidFill>
                  <a:srgbClr val="000000"/>
                </a:solidFill>
                <a:latin typeface="Times New Roman" panose="02020603050405020304" pitchFamily="18" charset="0"/>
              </a:rPr>
              <a:t>Vitamin</a:t>
            </a:r>
            <a:r>
              <a:rPr lang="en-US" sz="2000" dirty="0">
                <a:solidFill>
                  <a:srgbClr val="000000"/>
                </a:solidFill>
                <a:latin typeface="Times New Roman" panose="02020603050405020304" pitchFamily="18" charset="0"/>
              </a:rPr>
              <a:t> amounts and types in breast milk are directly related to the mother’s dietary intake.</a:t>
            </a:r>
          </a:p>
          <a:p>
            <a:r>
              <a:rPr lang="en-US" sz="2000" b="1" dirty="0">
                <a:solidFill>
                  <a:srgbClr val="000000"/>
                </a:solidFill>
                <a:latin typeface="Times New Roman" panose="02020603050405020304" pitchFamily="18" charset="0"/>
              </a:rPr>
              <a:t>Carbohydrates, especially lactose:</a:t>
            </a:r>
            <a:r>
              <a:rPr lang="en-US" sz="2000" dirty="0">
                <a:solidFill>
                  <a:srgbClr val="000000"/>
                </a:solidFill>
                <a:latin typeface="Times New Roman" panose="02020603050405020304" pitchFamily="18" charset="0"/>
              </a:rPr>
              <a:t> Lactose is the primary carbohydrate found in human milk, accounting for approximately 40% of the total calories provided by breast milk.</a:t>
            </a:r>
          </a:p>
          <a:p>
            <a:r>
              <a:rPr lang="en-US" sz="2000" b="1" dirty="0">
                <a:solidFill>
                  <a:srgbClr val="000000"/>
                </a:solidFill>
                <a:latin typeface="Times New Roman" panose="02020603050405020304" pitchFamily="18" charset="0"/>
              </a:rPr>
              <a:t>Antibodies</a:t>
            </a:r>
            <a:r>
              <a:rPr lang="en-US" sz="2000" dirty="0">
                <a:solidFill>
                  <a:srgbClr val="000000"/>
                </a:solidFill>
                <a:latin typeface="Times New Roman" panose="02020603050405020304" pitchFamily="18" charset="0"/>
              </a:rPr>
              <a:t> from the mother reduce the risk of neonatal infections (Davis, 2017).</a:t>
            </a:r>
          </a:p>
        </p:txBody>
      </p:sp>
      <p:sp>
        <p:nvSpPr>
          <p:cNvPr id="3" name="TextBox 2">
            <a:extLst>
              <a:ext uri="{FF2B5EF4-FFF2-40B4-BE49-F238E27FC236}">
                <a16:creationId xmlns:a16="http://schemas.microsoft.com/office/drawing/2014/main" id="{1E6400E3-01AD-4925-BD48-ACB3827102E1}"/>
              </a:ext>
            </a:extLst>
          </p:cNvPr>
          <p:cNvSpPr txBox="1"/>
          <p:nvPr/>
        </p:nvSpPr>
        <p:spPr>
          <a:xfrm>
            <a:off x="7151776" y="655320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360287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4DAF3-F27E-48CE-8E3E-5EA57165B54D}"/>
              </a:ext>
            </a:extLst>
          </p:cNvPr>
          <p:cNvSpPr/>
          <p:nvPr/>
        </p:nvSpPr>
        <p:spPr>
          <a:xfrm>
            <a:off x="152400" y="228600"/>
            <a:ext cx="8610600" cy="5940088"/>
          </a:xfrm>
          <a:prstGeom prst="rect">
            <a:avLst/>
          </a:prstGeom>
        </p:spPr>
        <p:txBody>
          <a:bodyPr wrap="square">
            <a:spAutoFit/>
          </a:bodyPr>
          <a:lstStyle/>
          <a:p>
            <a:r>
              <a:rPr lang="en-US" sz="2000" b="1" i="1" dirty="0">
                <a:solidFill>
                  <a:srgbClr val="996699"/>
                </a:solidFill>
                <a:latin typeface="Arial" panose="020B0604020202020204" pitchFamily="34" charset="0"/>
              </a:rPr>
              <a:t>Stages of Human Milk</a:t>
            </a:r>
            <a:endParaRPr lang="en-US" sz="2000" b="1" dirty="0">
              <a:solidFill>
                <a:srgbClr val="996699"/>
              </a:solidFill>
              <a:latin typeface="Arial" panose="020B0604020202020204" pitchFamily="34" charset="0"/>
            </a:endParaRPr>
          </a:p>
          <a:p>
            <a:pPr algn="just"/>
            <a:r>
              <a:rPr lang="en-US" sz="2000" dirty="0">
                <a:solidFill>
                  <a:srgbClr val="000000"/>
                </a:solidFill>
                <a:latin typeface="Times New Roman" panose="02020603050405020304" pitchFamily="18" charset="0"/>
              </a:rPr>
              <a:t>During the establishment of lactation, there are three stages of milk production: colostrum, transitional milk, and mature milk.</a:t>
            </a:r>
          </a:p>
          <a:p>
            <a:r>
              <a:rPr lang="en-US" sz="2000" b="1" dirty="0">
                <a:solidFill>
                  <a:srgbClr val="000000"/>
                </a:solidFill>
                <a:latin typeface="Times New Roman" panose="02020603050405020304" pitchFamily="18" charset="0"/>
              </a:rPr>
              <a:t>Stage 1: Colostrum</a:t>
            </a:r>
            <a:endParaRPr lang="en-US" sz="2000" dirty="0">
              <a:solidFill>
                <a:srgbClr val="000000"/>
              </a:solidFill>
              <a:latin typeface="Times New Roman" panose="02020603050405020304" pitchFamily="18" charset="0"/>
            </a:endParaRPr>
          </a:p>
          <a:p>
            <a:r>
              <a:rPr lang="en-US" sz="2000" dirty="0">
                <a:solidFill>
                  <a:srgbClr val="000000"/>
                </a:solidFill>
                <a:latin typeface="Times New Roman" panose="02020603050405020304" pitchFamily="18" charset="0"/>
              </a:rPr>
              <a:t>• Yellowish fluid that is present for 2 to 3 days.</a:t>
            </a:r>
          </a:p>
          <a:p>
            <a:r>
              <a:rPr lang="en-US" sz="2000" dirty="0">
                <a:solidFill>
                  <a:srgbClr val="000000"/>
                </a:solidFill>
                <a:latin typeface="Times New Roman" panose="02020603050405020304" pitchFamily="18" charset="0"/>
              </a:rPr>
              <a:t>• Contains high levels of protein and lower levels of carbohydrates, fats, and calories than mature milk</a:t>
            </a:r>
          </a:p>
          <a:p>
            <a:r>
              <a:rPr lang="en-US" sz="2000" dirty="0">
                <a:solidFill>
                  <a:srgbClr val="000000"/>
                </a:solidFill>
                <a:latin typeface="Times New Roman" panose="02020603050405020304" pitchFamily="18" charset="0"/>
              </a:rPr>
              <a:t>• High in immunoglobulins G and A, which protect the infant from infections</a:t>
            </a:r>
          </a:p>
          <a:p>
            <a:r>
              <a:rPr lang="en-US" sz="2000" dirty="0">
                <a:solidFill>
                  <a:srgbClr val="000000"/>
                </a:solidFill>
                <a:latin typeface="Times New Roman" panose="02020603050405020304" pitchFamily="18" charset="0"/>
              </a:rPr>
              <a:t>• Has a laxative effect to promote passage of the meconium stool</a:t>
            </a:r>
          </a:p>
          <a:p>
            <a:r>
              <a:rPr lang="en-US" sz="2000" b="1" dirty="0">
                <a:solidFill>
                  <a:srgbClr val="000000"/>
                </a:solidFill>
                <a:latin typeface="Times New Roman" panose="02020603050405020304" pitchFamily="18" charset="0"/>
              </a:rPr>
              <a:t>Stage 2: Transitional Milk</a:t>
            </a:r>
            <a:endParaRPr lang="en-US" sz="2000" dirty="0">
              <a:solidFill>
                <a:srgbClr val="000000"/>
              </a:solidFill>
              <a:latin typeface="Times New Roman" panose="02020603050405020304" pitchFamily="18" charset="0"/>
            </a:endParaRPr>
          </a:p>
          <a:p>
            <a:r>
              <a:rPr lang="en-US" sz="2000" dirty="0">
                <a:solidFill>
                  <a:srgbClr val="000000"/>
                </a:solidFill>
                <a:latin typeface="Times New Roman" panose="02020603050405020304" pitchFamily="18" charset="0"/>
              </a:rPr>
              <a:t>• This stage is from day 3 to day 10.</a:t>
            </a:r>
          </a:p>
          <a:p>
            <a:r>
              <a:rPr lang="en-US" sz="2000" dirty="0">
                <a:solidFill>
                  <a:srgbClr val="000000"/>
                </a:solidFill>
                <a:latin typeface="Times New Roman" panose="02020603050405020304" pitchFamily="18" charset="0"/>
              </a:rPr>
              <a:t>• Contains increasing levels of carbohydrates and fat with decreasing levels of protein</a:t>
            </a:r>
          </a:p>
          <a:p>
            <a:r>
              <a:rPr lang="en-US" sz="2000" b="1" dirty="0">
                <a:solidFill>
                  <a:srgbClr val="000000"/>
                </a:solidFill>
                <a:latin typeface="Times New Roman" panose="02020603050405020304" pitchFamily="18" charset="0"/>
              </a:rPr>
              <a:t>Stage 3: Mature Milk</a:t>
            </a:r>
            <a:endParaRPr lang="en-US" sz="2000" dirty="0">
              <a:solidFill>
                <a:srgbClr val="000000"/>
              </a:solidFill>
              <a:latin typeface="Times New Roman" panose="02020603050405020304" pitchFamily="18" charset="0"/>
            </a:endParaRPr>
          </a:p>
          <a:p>
            <a:r>
              <a:rPr lang="en-US" sz="2000" dirty="0">
                <a:solidFill>
                  <a:srgbClr val="000000"/>
                </a:solidFill>
                <a:latin typeface="Times New Roman" panose="02020603050405020304" pitchFamily="18" charset="0"/>
              </a:rPr>
              <a:t>• </a:t>
            </a:r>
            <a:r>
              <a:rPr lang="en-US" sz="2000" b="1" i="1" dirty="0">
                <a:solidFill>
                  <a:srgbClr val="000000"/>
                </a:solidFill>
                <a:latin typeface="Times New Roman" panose="02020603050405020304" pitchFamily="18" charset="0"/>
              </a:rPr>
              <a:t>Fore milk</a:t>
            </a:r>
            <a:r>
              <a:rPr lang="en-US" sz="2000" dirty="0">
                <a:solidFill>
                  <a:srgbClr val="000000"/>
                </a:solidFill>
                <a:latin typeface="Times New Roman" panose="02020603050405020304" pitchFamily="18" charset="0"/>
              </a:rPr>
              <a:t> is the milk produced and stored in the breast between feedings. It has higher water content than hind milk.</a:t>
            </a:r>
          </a:p>
          <a:p>
            <a:r>
              <a:rPr lang="en-US" sz="2000" dirty="0">
                <a:solidFill>
                  <a:srgbClr val="000000"/>
                </a:solidFill>
                <a:latin typeface="Times New Roman" panose="02020603050405020304" pitchFamily="18" charset="0"/>
              </a:rPr>
              <a:t>• </a:t>
            </a:r>
            <a:r>
              <a:rPr lang="en-US" sz="2000" b="1" i="1" dirty="0">
                <a:solidFill>
                  <a:srgbClr val="000000"/>
                </a:solidFill>
                <a:latin typeface="Times New Roman" panose="02020603050405020304" pitchFamily="18" charset="0"/>
              </a:rPr>
              <a:t>Hind milk</a:t>
            </a:r>
            <a:r>
              <a:rPr lang="en-US" sz="2000" dirty="0">
                <a:solidFill>
                  <a:srgbClr val="000000"/>
                </a:solidFill>
                <a:latin typeface="Times New Roman" panose="02020603050405020304" pitchFamily="18" charset="0"/>
              </a:rPr>
              <a:t> is produced after several minutes of feeding and has a higher fat content and contributes to the feeling of fullness and satisfaction for the infant (Davis, 2017).</a:t>
            </a:r>
          </a:p>
        </p:txBody>
      </p:sp>
      <p:sp>
        <p:nvSpPr>
          <p:cNvPr id="3" name="TextBox 2">
            <a:extLst>
              <a:ext uri="{FF2B5EF4-FFF2-40B4-BE49-F238E27FC236}">
                <a16:creationId xmlns:a16="http://schemas.microsoft.com/office/drawing/2014/main" id="{53AC677E-619D-4340-AD60-8B01C72BDE6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57426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FD1D27-1585-4C09-B125-C2CC89492B6C}"/>
              </a:ext>
            </a:extLst>
          </p:cNvPr>
          <p:cNvSpPr/>
          <p:nvPr/>
        </p:nvSpPr>
        <p:spPr>
          <a:xfrm>
            <a:off x="228600" y="228600"/>
            <a:ext cx="8458200" cy="5940088"/>
          </a:xfrm>
          <a:prstGeom prst="rect">
            <a:avLst/>
          </a:prstGeom>
        </p:spPr>
        <p:txBody>
          <a:bodyPr wrap="square">
            <a:spAutoFit/>
          </a:bodyPr>
          <a:lstStyle/>
          <a:p>
            <a:r>
              <a:rPr lang="en-US" sz="2000" b="1" dirty="0">
                <a:solidFill>
                  <a:srgbClr val="FF6633"/>
                </a:solidFill>
                <a:latin typeface="Arial" panose="020B0604020202020204" pitchFamily="34" charset="0"/>
              </a:rPr>
              <a:t>Contraindications for Breastfeeding</a:t>
            </a:r>
          </a:p>
          <a:p>
            <a:pPr algn="just"/>
            <a:r>
              <a:rPr lang="en-US" sz="2000" dirty="0">
                <a:solidFill>
                  <a:srgbClr val="000000"/>
                </a:solidFill>
                <a:latin typeface="Times New Roman" panose="02020603050405020304" pitchFamily="18" charset="0"/>
              </a:rPr>
              <a:t>There are some contraindications for breastfeeding. The health-care provider and nurses should be aware of the following contraindications:</a:t>
            </a:r>
          </a:p>
          <a:p>
            <a:pPr marL="342900" indent="-342900">
              <a:buFont typeface="Arial" panose="020B0604020202020204" pitchFamily="34" charset="0"/>
              <a:buChar char="•"/>
            </a:pPr>
            <a:r>
              <a:rPr lang="en-US" sz="2000" dirty="0">
                <a:solidFill>
                  <a:srgbClr val="000000"/>
                </a:solidFill>
                <a:latin typeface="Times New Roman" panose="02020603050405020304" pitchFamily="18" charset="0"/>
              </a:rPr>
              <a:t>An infant diagnosed with </a:t>
            </a:r>
            <a:r>
              <a:rPr lang="en-US" sz="2000" b="1" dirty="0">
                <a:solidFill>
                  <a:srgbClr val="000000"/>
                </a:solidFill>
                <a:latin typeface="Times New Roman" panose="02020603050405020304" pitchFamily="18" charset="0"/>
              </a:rPr>
              <a:t>galactosemia,</a:t>
            </a:r>
            <a:r>
              <a:rPr lang="en-US" sz="2000" dirty="0">
                <a:solidFill>
                  <a:srgbClr val="000000"/>
                </a:solidFill>
                <a:latin typeface="Times New Roman" panose="02020603050405020304" pitchFamily="18" charset="0"/>
              </a:rPr>
              <a:t> a rare genetic metabolic disorder that makes it difficult for the infant to metabolize milk sugar; breastfeeding an infant with galactosemia can damage the liver, kidneys, and brain.</a:t>
            </a:r>
          </a:p>
          <a:p>
            <a:endParaRPr lang="en-US" sz="2000" dirty="0">
              <a:solidFill>
                <a:srgbClr val="000000"/>
              </a:solidFill>
              <a:latin typeface="Times New Roman" panose="02020603050405020304" pitchFamily="18" charset="0"/>
            </a:endParaRPr>
          </a:p>
          <a:p>
            <a:r>
              <a:rPr lang="en-US" sz="2000" dirty="0">
                <a:solidFill>
                  <a:srgbClr val="000000"/>
                </a:solidFill>
                <a:latin typeface="Times New Roman" panose="02020603050405020304" pitchFamily="18" charset="0"/>
              </a:rPr>
              <a:t>The infant whose mother:</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Is HIV+</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Is taking antiretroviral medications</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Has untreated, active tuberculosis (TB)</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Is infected with human T-cell lymphotropic virus type I or type II, which is the virus that causes some leukemias and lymphomas</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Is using or is dependent upon an illicit drug</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Has a herpes lesion on her breast</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Is taking prescribed cancer chemotherapy agents, such as antimetabolites that interfere with DNA replication and cell division</a:t>
            </a:r>
          </a:p>
          <a:p>
            <a:r>
              <a:rPr lang="en-US" sz="2000" dirty="0">
                <a:solidFill>
                  <a:srgbClr val="993333"/>
                </a:solidFill>
                <a:latin typeface="Times New Roman" panose="02020603050405020304" pitchFamily="18" charset="0"/>
              </a:rPr>
              <a:t>•</a:t>
            </a:r>
            <a:r>
              <a:rPr lang="en-US" sz="2000" dirty="0">
                <a:solidFill>
                  <a:srgbClr val="000000"/>
                </a:solidFill>
                <a:latin typeface="Times New Roman" panose="02020603050405020304" pitchFamily="18" charset="0"/>
              </a:rPr>
              <a:t> Is undergoing radiation therapies; however, such nuclear medicine therapies require only a temporary interruption in breastfeeding (CDC, 2017)</a:t>
            </a:r>
          </a:p>
        </p:txBody>
      </p:sp>
      <p:sp>
        <p:nvSpPr>
          <p:cNvPr id="3" name="TextBox 2">
            <a:extLst>
              <a:ext uri="{FF2B5EF4-FFF2-40B4-BE49-F238E27FC236}">
                <a16:creationId xmlns:a16="http://schemas.microsoft.com/office/drawing/2014/main" id="{7746043E-DFA3-4A3F-8133-7BDA36E80E3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65603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25E731-C890-4BFD-AD9A-6FF5D06A7A65}"/>
              </a:ext>
            </a:extLst>
          </p:cNvPr>
          <p:cNvSpPr/>
          <p:nvPr/>
        </p:nvSpPr>
        <p:spPr>
          <a:xfrm>
            <a:off x="228600" y="304800"/>
            <a:ext cx="8763000" cy="2031325"/>
          </a:xfrm>
          <a:prstGeom prst="rect">
            <a:avLst/>
          </a:prstGeom>
        </p:spPr>
        <p:txBody>
          <a:bodyPr wrap="square">
            <a:spAutoFit/>
          </a:bodyPr>
          <a:lstStyle/>
          <a:p>
            <a:r>
              <a:rPr lang="en-US" b="1" dirty="0">
                <a:solidFill>
                  <a:srgbClr val="FF6633"/>
                </a:solidFill>
                <a:latin typeface="Arial" panose="020B0604020202020204" pitchFamily="34" charset="0"/>
              </a:rPr>
              <a:t>Warning Signs of Breastfeeding Problems</a:t>
            </a:r>
          </a:p>
          <a:p>
            <a:pPr algn="just"/>
            <a:r>
              <a:rPr lang="en-US" dirty="0">
                <a:solidFill>
                  <a:srgbClr val="000000"/>
                </a:solidFill>
                <a:latin typeface="Times New Roman" panose="02020603050405020304" pitchFamily="18" charset="0"/>
              </a:rPr>
              <a:t>Warning signs in the healthy term breastfed newborn include:</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Losing more than the normal 5% to 7% of birth weight (Stanford Medicine, 2019)</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Not gaining back birth weight by 10 days of age</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Not having at least two to three bowel movements per day after day two</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Not having four or five wet diapers per day by day four with clear or pale-yellow urine, which indicates adequate hydration (Campbell &amp; Dolby, 2018)</a:t>
            </a:r>
          </a:p>
        </p:txBody>
      </p:sp>
      <p:pic>
        <p:nvPicPr>
          <p:cNvPr id="1026" name="Picture 2" descr="See the source image">
            <a:extLst>
              <a:ext uri="{FF2B5EF4-FFF2-40B4-BE49-F238E27FC236}">
                <a16:creationId xmlns:a16="http://schemas.microsoft.com/office/drawing/2014/main" id="{1D95C888-FEA2-4FA7-9FB8-656E72D68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451439"/>
            <a:ext cx="4191000" cy="414087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68A8EB-F30F-4EF6-9974-A06886AE18F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4231977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1864" name="Rectangle 74">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65" name="Rectangle 76">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2546" y="757325"/>
            <a:ext cx="2661858"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58" name="Rectangle 2"/>
          <p:cNvSpPr>
            <a:spLocks noGrp="1" noChangeArrowheads="1"/>
          </p:cNvSpPr>
          <p:nvPr>
            <p:ph type="title"/>
          </p:nvPr>
        </p:nvSpPr>
        <p:spPr>
          <a:xfrm>
            <a:off x="6292236" y="1123837"/>
            <a:ext cx="2210611" cy="4601183"/>
          </a:xfrm>
        </p:spPr>
        <p:txBody>
          <a:bodyPr>
            <a:normAutofit/>
          </a:bodyPr>
          <a:lstStyle/>
          <a:p>
            <a:r>
              <a:rPr lang="en-US" b="1" dirty="0"/>
              <a:t>FORMULA-FEEDING </a:t>
            </a:r>
            <a:br>
              <a:rPr lang="en-US" b="1" dirty="0"/>
            </a:br>
            <a:endParaRPr lang="en-US" dirty="0">
              <a:latin typeface="Comic Sans MS" pitchFamily="66" charset="0"/>
            </a:endParaRPr>
          </a:p>
        </p:txBody>
      </p:sp>
      <p:sp>
        <p:nvSpPr>
          <p:cNvPr id="7" name="Content Placeholder 6"/>
          <p:cNvSpPr>
            <a:spLocks noGrp="1"/>
          </p:cNvSpPr>
          <p:nvPr>
            <p:ph idx="1"/>
          </p:nvPr>
        </p:nvSpPr>
        <p:spPr>
          <a:xfrm>
            <a:off x="473890" y="322516"/>
            <a:ext cx="5240351" cy="3639884"/>
          </a:xfrm>
        </p:spPr>
        <p:txBody>
          <a:bodyPr>
            <a:normAutofit/>
          </a:bodyPr>
          <a:lstStyle/>
          <a:p>
            <a:r>
              <a:rPr lang="en-US" dirty="0"/>
              <a:t> </a:t>
            </a:r>
            <a:r>
              <a:rPr lang="en-US" sz="2000" dirty="0"/>
              <a:t>Cow’s milk is not suitable for infants under 1 year of age. </a:t>
            </a:r>
          </a:p>
          <a:p>
            <a:r>
              <a:rPr lang="en-US" sz="2000" dirty="0"/>
              <a:t>Cow’s milk contains a higher level of protein than the infant requires; </a:t>
            </a:r>
          </a:p>
          <a:p>
            <a:pPr lvl="1"/>
            <a:r>
              <a:rPr lang="en-US" sz="2000" dirty="0"/>
              <a:t>The fat is difficult for the infant to digest;</a:t>
            </a:r>
          </a:p>
          <a:p>
            <a:pPr lvl="1"/>
            <a:r>
              <a:rPr lang="en-US" sz="2000" dirty="0"/>
              <a:t> It is a poor source of iron; it contains only a small amount of vitamins C, E, and copper;</a:t>
            </a:r>
          </a:p>
          <a:p>
            <a:pPr lvl="1"/>
            <a:r>
              <a:rPr lang="en-US" sz="2000" dirty="0"/>
              <a:t> Sodium level is too high for an infant.</a:t>
            </a:r>
            <a:endParaRPr lang="en-US" sz="2000" dirty="0">
              <a:solidFill>
                <a:schemeClr val="tx1"/>
              </a:solidFill>
            </a:endParaRPr>
          </a:p>
        </p:txBody>
      </p:sp>
      <p:sp>
        <p:nvSpPr>
          <p:cNvPr id="79" name="Rectangle 78">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0545"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098" name="Picture 2" descr="See the source image">
            <a:extLst>
              <a:ext uri="{FF2B5EF4-FFF2-40B4-BE49-F238E27FC236}">
                <a16:creationId xmlns:a16="http://schemas.microsoft.com/office/drawing/2014/main" id="{F2527939-8471-4BBD-90A8-C9CF6E51B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4577" y="4114800"/>
            <a:ext cx="2524125" cy="242068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BE9E12C-96D3-4997-AA46-4BA4595CD10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93412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F0650E-79C1-4CC2-883E-0ACA0F0CEE1F}"/>
              </a:ext>
            </a:extLst>
          </p:cNvPr>
          <p:cNvSpPr>
            <a:spLocks noGrp="1"/>
          </p:cNvSpPr>
          <p:nvPr>
            <p:ph sz="half" idx="4294967295"/>
          </p:nvPr>
        </p:nvSpPr>
        <p:spPr>
          <a:xfrm>
            <a:off x="5181600" y="723900"/>
            <a:ext cx="3754437" cy="5410200"/>
          </a:xfrm>
        </p:spPr>
        <p:txBody>
          <a:bodyPr/>
          <a:lstStyle/>
          <a:p>
            <a:r>
              <a:rPr lang="en-US" sz="2000" dirty="0"/>
              <a:t>Infant formulas have 20 calories in each ounce</a:t>
            </a:r>
          </a:p>
          <a:p>
            <a:r>
              <a:rPr lang="en-US" sz="2000" dirty="0"/>
              <a:t>Three types of formula;</a:t>
            </a:r>
          </a:p>
          <a:p>
            <a:pPr lvl="1"/>
            <a:r>
              <a:rPr lang="en-US" sz="2000" b="1" dirty="0"/>
              <a:t>Ready-to-feed formula</a:t>
            </a:r>
            <a:r>
              <a:rPr lang="en-US" sz="2000" dirty="0"/>
              <a:t> is available in a can or carton and should </a:t>
            </a:r>
            <a:r>
              <a:rPr lang="en-US" sz="2000" i="1" dirty="0"/>
              <a:t>not</a:t>
            </a:r>
            <a:r>
              <a:rPr lang="en-US" sz="2000" dirty="0"/>
              <a:t> be diluted.</a:t>
            </a:r>
          </a:p>
          <a:p>
            <a:pPr lvl="1"/>
            <a:r>
              <a:rPr lang="en-US" sz="2000" b="1" dirty="0"/>
              <a:t>Liquid concentrated formula</a:t>
            </a:r>
            <a:r>
              <a:rPr lang="en-US" sz="2000" dirty="0"/>
              <a:t> is formulated 	to be diluted with equal amounts of water.</a:t>
            </a:r>
          </a:p>
          <a:p>
            <a:pPr lvl="1"/>
            <a:r>
              <a:rPr lang="en-US" sz="2000" b="1" dirty="0"/>
              <a:t>Powder formula</a:t>
            </a:r>
            <a:r>
              <a:rPr lang="en-US" sz="2000" dirty="0"/>
              <a:t> should be dissolved in water.</a:t>
            </a:r>
          </a:p>
          <a:p>
            <a:endParaRPr lang="en-US" dirty="0"/>
          </a:p>
        </p:txBody>
      </p:sp>
      <p:pic>
        <p:nvPicPr>
          <p:cNvPr id="3076" name="Picture 4" descr="See the source image">
            <a:extLst>
              <a:ext uri="{FF2B5EF4-FFF2-40B4-BE49-F238E27FC236}">
                <a16:creationId xmlns:a16="http://schemas.microsoft.com/office/drawing/2014/main" id="{28A7F3E8-84DD-4A74-9450-38634DE350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667" b="14445"/>
          <a:stretch/>
        </p:blipFill>
        <p:spPr bwMode="auto">
          <a:xfrm>
            <a:off x="457200" y="723900"/>
            <a:ext cx="4573587" cy="5410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F514545-1EA8-407D-A8F4-1596739C4840}"/>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767590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3860685-A1F4-4096-A7C3-8E7C992B16C0}"/>
              </a:ext>
            </a:extLst>
          </p:cNvPr>
          <p:cNvSpPr/>
          <p:nvPr/>
        </p:nvSpPr>
        <p:spPr>
          <a:xfrm>
            <a:off x="228600" y="228600"/>
            <a:ext cx="8610600" cy="2862322"/>
          </a:xfrm>
          <a:prstGeom prst="rect">
            <a:avLst/>
          </a:prstGeom>
        </p:spPr>
        <p:txBody>
          <a:bodyPr wrap="square">
            <a:spAutoFit/>
          </a:bodyPr>
          <a:lstStyle/>
          <a:p>
            <a:r>
              <a:rPr lang="en-US" b="1" dirty="0">
                <a:solidFill>
                  <a:srgbClr val="FF6633"/>
                </a:solidFill>
                <a:latin typeface="Arial" panose="020B0604020202020204" pitchFamily="34" charset="0"/>
              </a:rPr>
              <a:t>Bottle-Feeding Problems</a:t>
            </a:r>
          </a:p>
          <a:p>
            <a:pPr algn="just"/>
            <a:r>
              <a:rPr lang="en-US" dirty="0">
                <a:solidFill>
                  <a:srgbClr val="000000"/>
                </a:solidFill>
                <a:latin typeface="Times New Roman" panose="02020603050405020304" pitchFamily="18" charset="0"/>
              </a:rPr>
              <a:t>Parents should be warned about the following practices that are not healthy or safe for the infant:</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Infant cereal fed through a bottle increases the risk of choking.</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Water or fruit juice given before 6 months of age does not meet the calorie and nutritional needs of the infant.</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Overdiluting the formula to reduce expense decreases the calorie content and reduces the nutritional value of the formula.</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Formula mixed with private well water that has not been tested for safety</a:t>
            </a:r>
          </a:p>
          <a:p>
            <a:r>
              <a:rPr lang="en-US" dirty="0">
                <a:solidFill>
                  <a:srgbClr val="993333"/>
                </a:solidFill>
                <a:latin typeface="Times New Roman" panose="02020603050405020304" pitchFamily="18" charset="0"/>
              </a:rPr>
              <a:t>•</a:t>
            </a:r>
            <a:r>
              <a:rPr lang="en-US" dirty="0">
                <a:solidFill>
                  <a:srgbClr val="000000"/>
                </a:solidFill>
                <a:latin typeface="Times New Roman" panose="02020603050405020304" pitchFamily="18" charset="0"/>
              </a:rPr>
              <a:t> Allowing a baby to sleep with a bottle in the crib</a:t>
            </a:r>
          </a:p>
        </p:txBody>
      </p:sp>
      <p:pic>
        <p:nvPicPr>
          <p:cNvPr id="2050" name="Picture 2" descr="See the source image">
            <a:extLst>
              <a:ext uri="{FF2B5EF4-FFF2-40B4-BE49-F238E27FC236}">
                <a16:creationId xmlns:a16="http://schemas.microsoft.com/office/drawing/2014/main" id="{F2350AA5-AFF6-4787-8E98-6EA7C1020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241734"/>
            <a:ext cx="4953000" cy="33876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82E152-4738-4CB3-8798-E214E30DAEE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517416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1864" name="Rectangle 74">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65" name="Rectangle 76">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2546" y="757325"/>
            <a:ext cx="2661858"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58" name="Rectangle 2"/>
          <p:cNvSpPr>
            <a:spLocks noGrp="1" noChangeArrowheads="1"/>
          </p:cNvSpPr>
          <p:nvPr>
            <p:ph type="title"/>
          </p:nvPr>
        </p:nvSpPr>
        <p:spPr>
          <a:xfrm>
            <a:off x="6292236" y="1123837"/>
            <a:ext cx="2210611" cy="4601183"/>
          </a:xfrm>
        </p:spPr>
        <p:txBody>
          <a:bodyPr>
            <a:normAutofit/>
          </a:bodyPr>
          <a:lstStyle/>
          <a:p>
            <a:r>
              <a:rPr lang="en-US"/>
              <a:t>Infant Nutrition </a:t>
            </a:r>
            <a:br>
              <a:rPr lang="en-US"/>
            </a:br>
            <a:r>
              <a:rPr lang="en-US"/>
              <a:t>0-12 months</a:t>
            </a:r>
            <a:endParaRPr lang="en-US">
              <a:latin typeface="Comic Sans MS" pitchFamily="66" charset="0"/>
            </a:endParaRPr>
          </a:p>
        </p:txBody>
      </p:sp>
      <p:sp>
        <p:nvSpPr>
          <p:cNvPr id="7" name="Content Placeholder 6"/>
          <p:cNvSpPr>
            <a:spLocks noGrp="1"/>
          </p:cNvSpPr>
          <p:nvPr>
            <p:ph idx="1"/>
          </p:nvPr>
        </p:nvSpPr>
        <p:spPr>
          <a:xfrm>
            <a:off x="482599" y="864108"/>
            <a:ext cx="5240351" cy="5120640"/>
          </a:xfrm>
        </p:spPr>
        <p:txBody>
          <a:bodyPr>
            <a:normAutofit/>
          </a:bodyPr>
          <a:lstStyle/>
          <a:p>
            <a:r>
              <a:rPr lang="en-US" sz="2000" dirty="0">
                <a:solidFill>
                  <a:schemeClr val="tx1"/>
                </a:solidFill>
              </a:rPr>
              <a:t>Rapid growth </a:t>
            </a:r>
          </a:p>
          <a:p>
            <a:r>
              <a:rPr lang="en-US" sz="2000" dirty="0">
                <a:solidFill>
                  <a:schemeClr val="tx1"/>
                </a:solidFill>
              </a:rPr>
              <a:t>birth </a:t>
            </a:r>
            <a:r>
              <a:rPr lang="en-US" sz="2000" dirty="0" err="1">
                <a:solidFill>
                  <a:schemeClr val="tx1"/>
                </a:solidFill>
              </a:rPr>
              <a:t>wt</a:t>
            </a:r>
            <a:r>
              <a:rPr lang="en-US" sz="2000" dirty="0">
                <a:solidFill>
                  <a:schemeClr val="tx1"/>
                </a:solidFill>
              </a:rPr>
              <a:t> doubles in 4-6 months and triples by I year of age.</a:t>
            </a:r>
          </a:p>
          <a:p>
            <a:r>
              <a:rPr lang="en-US" sz="2000" dirty="0">
                <a:solidFill>
                  <a:schemeClr val="tx1"/>
                </a:solidFill>
              </a:rPr>
              <a:t>Breastfeeding is recommended as a major source of nutrition</a:t>
            </a:r>
          </a:p>
          <a:p>
            <a:r>
              <a:rPr lang="en-US" sz="2000" dirty="0">
                <a:solidFill>
                  <a:schemeClr val="tx1"/>
                </a:solidFill>
              </a:rPr>
              <a:t>Infant formula, if not breastfed (NO COW’S MILK)</a:t>
            </a:r>
          </a:p>
          <a:p>
            <a:pPr lvl="1">
              <a:buFontTx/>
              <a:buChar char="•"/>
            </a:pPr>
            <a:r>
              <a:rPr lang="en-US" sz="2000" dirty="0">
                <a:solidFill>
                  <a:schemeClr val="tx1"/>
                </a:solidFill>
                <a:latin typeface="Comic Sans MS" pitchFamily="66" charset="0"/>
              </a:rPr>
              <a:t>Need generous supply of all nutrients:</a:t>
            </a:r>
          </a:p>
          <a:p>
            <a:pPr lvl="2">
              <a:buBlip>
                <a:blip r:embed="rId3"/>
              </a:buBlip>
            </a:pPr>
            <a:r>
              <a:rPr lang="en-US" sz="2000" dirty="0">
                <a:solidFill>
                  <a:schemeClr val="tx1"/>
                </a:solidFill>
                <a:latin typeface="Comic Sans MS" pitchFamily="66" charset="0"/>
              </a:rPr>
              <a:t>Kcal, protein, calcium, iron</a:t>
            </a:r>
          </a:p>
          <a:p>
            <a:endParaRPr lang="en-US" sz="2000" dirty="0">
              <a:solidFill>
                <a:schemeClr val="tx1"/>
              </a:solidFill>
            </a:endParaRPr>
          </a:p>
        </p:txBody>
      </p:sp>
      <p:sp>
        <p:nvSpPr>
          <p:cNvPr id="79" name="Rectangle 78">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0545"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extBox 7">
            <a:extLst>
              <a:ext uri="{FF2B5EF4-FFF2-40B4-BE49-F238E27FC236}">
                <a16:creationId xmlns:a16="http://schemas.microsoft.com/office/drawing/2014/main" id="{B2BC128C-36E7-47A2-8EDD-66577D15BC5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427881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2546" y="757325"/>
            <a:ext cx="2661858"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58" name="Rectangle 2"/>
          <p:cNvSpPr>
            <a:spLocks noGrp="1" noChangeArrowheads="1"/>
          </p:cNvSpPr>
          <p:nvPr>
            <p:ph type="title"/>
          </p:nvPr>
        </p:nvSpPr>
        <p:spPr>
          <a:xfrm>
            <a:off x="6292236" y="1123837"/>
            <a:ext cx="2210611" cy="4601183"/>
          </a:xfrm>
        </p:spPr>
        <p:txBody>
          <a:bodyPr>
            <a:normAutofit/>
          </a:bodyPr>
          <a:lstStyle/>
          <a:p>
            <a:r>
              <a:rPr lang="en-US" dirty="0"/>
              <a:t>Infant Nutrition (0-12 months)</a:t>
            </a:r>
            <a:endParaRPr lang="en-US" dirty="0">
              <a:latin typeface="Comic Sans MS" pitchFamily="66" charset="0"/>
            </a:endParaRPr>
          </a:p>
        </p:txBody>
      </p:sp>
      <p:sp>
        <p:nvSpPr>
          <p:cNvPr id="121859" name="Rectangle 5"/>
          <p:cNvSpPr>
            <a:spLocks noGrp="1" noChangeArrowheads="1"/>
          </p:cNvSpPr>
          <p:nvPr>
            <p:ph idx="1"/>
          </p:nvPr>
        </p:nvSpPr>
        <p:spPr>
          <a:xfrm>
            <a:off x="482599" y="864108"/>
            <a:ext cx="5240351" cy="5120640"/>
          </a:xfrm>
        </p:spPr>
        <p:txBody>
          <a:bodyPr>
            <a:normAutofit/>
          </a:bodyPr>
          <a:lstStyle/>
          <a:p>
            <a:pPr eaLnBrk="1" hangingPunct="1"/>
            <a:r>
              <a:rPr lang="en-US" sz="2400" dirty="0">
                <a:solidFill>
                  <a:schemeClr val="tx1"/>
                </a:solidFill>
                <a:latin typeface="+mj-lt"/>
              </a:rPr>
              <a:t>Solid food introduced at 4-6 months</a:t>
            </a:r>
          </a:p>
          <a:p>
            <a:pPr eaLnBrk="1" hangingPunct="1"/>
            <a:r>
              <a:rPr lang="en-US" sz="2400" dirty="0">
                <a:solidFill>
                  <a:schemeClr val="tx1"/>
                </a:solidFill>
                <a:latin typeface="+mj-lt"/>
              </a:rPr>
              <a:t>Started on cereal (iron fortified)</a:t>
            </a:r>
          </a:p>
          <a:p>
            <a:pPr eaLnBrk="1" hangingPunct="1"/>
            <a:r>
              <a:rPr lang="en-US" sz="2400" dirty="0">
                <a:solidFill>
                  <a:schemeClr val="tx1"/>
                </a:solidFill>
                <a:latin typeface="+mj-lt"/>
              </a:rPr>
              <a:t>Introduce new foods one at a time</a:t>
            </a:r>
          </a:p>
          <a:p>
            <a:pPr eaLnBrk="1" hangingPunct="1"/>
            <a:r>
              <a:rPr lang="en-US" sz="2400" dirty="0">
                <a:solidFill>
                  <a:schemeClr val="tx1"/>
                </a:solidFill>
                <a:latin typeface="+mj-lt"/>
              </a:rPr>
              <a:t>May start eating vegetables, fruits, meats, eggs</a:t>
            </a:r>
          </a:p>
          <a:p>
            <a:pPr eaLnBrk="1" hangingPunct="1"/>
            <a:r>
              <a:rPr lang="en-US" sz="2400" dirty="0">
                <a:solidFill>
                  <a:schemeClr val="tx1"/>
                </a:solidFill>
                <a:latin typeface="+mj-lt"/>
              </a:rPr>
              <a:t>Watch food consistency– choking!!</a:t>
            </a:r>
          </a:p>
          <a:p>
            <a:pPr eaLnBrk="1" hangingPunct="1"/>
            <a:r>
              <a:rPr lang="en-US" sz="2400" b="1" dirty="0">
                <a:solidFill>
                  <a:schemeClr val="tx1"/>
                </a:solidFill>
                <a:latin typeface="+mj-lt"/>
              </a:rPr>
              <a:t>NO HONEY</a:t>
            </a:r>
            <a:r>
              <a:rPr lang="en-US" sz="2400" dirty="0">
                <a:solidFill>
                  <a:schemeClr val="tx1"/>
                </a:solidFill>
                <a:latin typeface="+mj-lt"/>
              </a:rPr>
              <a:t>!!: infantile botulism</a:t>
            </a:r>
          </a:p>
          <a:p>
            <a:pPr eaLnBrk="1" hangingPunct="1"/>
            <a:r>
              <a:rPr lang="en-US" sz="2400" dirty="0">
                <a:solidFill>
                  <a:schemeClr val="tx1"/>
                </a:solidFill>
                <a:latin typeface="+mj-lt"/>
              </a:rPr>
              <a:t>IRON, IRON, IRON, IRON---lose fetal supply at 5-6 months</a:t>
            </a:r>
          </a:p>
        </p:txBody>
      </p:sp>
      <p:sp>
        <p:nvSpPr>
          <p:cNvPr id="76" name="Rectangle 75">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0545"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TextBox 6">
            <a:extLst>
              <a:ext uri="{FF2B5EF4-FFF2-40B4-BE49-F238E27FC236}">
                <a16:creationId xmlns:a16="http://schemas.microsoft.com/office/drawing/2014/main" id="{B17AD151-7740-4FB3-9F1A-AEC727900C8E}"/>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978404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2A9D8-B729-4DEA-A6EF-C17A3F292FC7}"/>
              </a:ext>
            </a:extLst>
          </p:cNvPr>
          <p:cNvSpPr>
            <a:spLocks noGrp="1"/>
          </p:cNvSpPr>
          <p:nvPr>
            <p:ph type="title"/>
          </p:nvPr>
        </p:nvSpPr>
        <p:spPr/>
        <p:txBody>
          <a:bodyPr/>
          <a:lstStyle/>
          <a:p>
            <a:r>
              <a:rPr lang="en-US" dirty="0"/>
              <a:t>Cleft Lip/ Cleft Palate</a:t>
            </a:r>
          </a:p>
        </p:txBody>
      </p:sp>
      <p:pic>
        <p:nvPicPr>
          <p:cNvPr id="4" name="Content Placeholder 3">
            <a:extLst>
              <a:ext uri="{FF2B5EF4-FFF2-40B4-BE49-F238E27FC236}">
                <a16:creationId xmlns:a16="http://schemas.microsoft.com/office/drawing/2014/main" id="{1D1DED25-E81E-4C94-927F-0F9E09C6B38E}"/>
              </a:ext>
            </a:extLst>
          </p:cNvPr>
          <p:cNvPicPr>
            <a:picLocks noGrp="1" noChangeAspect="1"/>
          </p:cNvPicPr>
          <p:nvPr>
            <p:ph idx="1"/>
          </p:nvPr>
        </p:nvPicPr>
        <p:blipFill>
          <a:blip r:embed="rId2"/>
          <a:stretch>
            <a:fillRect/>
          </a:stretch>
        </p:blipFill>
        <p:spPr>
          <a:xfrm>
            <a:off x="2895600" y="0"/>
            <a:ext cx="5486400" cy="2286000"/>
          </a:xfrm>
          <a:prstGeom prst="rect">
            <a:avLst/>
          </a:prstGeom>
        </p:spPr>
      </p:pic>
      <p:sp>
        <p:nvSpPr>
          <p:cNvPr id="5" name="TextBox 4">
            <a:extLst>
              <a:ext uri="{FF2B5EF4-FFF2-40B4-BE49-F238E27FC236}">
                <a16:creationId xmlns:a16="http://schemas.microsoft.com/office/drawing/2014/main" id="{60956C5B-80DB-4DBB-BF74-C113CD0DB4B5}"/>
              </a:ext>
            </a:extLst>
          </p:cNvPr>
          <p:cNvSpPr txBox="1"/>
          <p:nvPr/>
        </p:nvSpPr>
        <p:spPr>
          <a:xfrm>
            <a:off x="2590800" y="2438400"/>
            <a:ext cx="5991386" cy="3970318"/>
          </a:xfrm>
          <a:prstGeom prst="rect">
            <a:avLst/>
          </a:prstGeom>
          <a:noFill/>
        </p:spPr>
        <p:txBody>
          <a:bodyPr wrap="square" rtlCol="0">
            <a:spAutoFit/>
          </a:bodyPr>
          <a:lstStyle/>
          <a:p>
            <a:r>
              <a:rPr lang="en-US" b="1" dirty="0"/>
              <a:t>Cleft palate is a common birth condition. It can occur alone or as part of a genetic condition or syndrome.</a:t>
            </a:r>
          </a:p>
          <a:p>
            <a:r>
              <a:rPr lang="en-US" b="1" dirty="0"/>
              <a:t>Symptoms arise from the opening in the mouth. They include difficulty speaking and feeding.</a:t>
            </a:r>
          </a:p>
          <a:p>
            <a:r>
              <a:rPr lang="en-US" b="1" dirty="0"/>
              <a:t>Surgery restores normal function with minimal scarring. If needed, speech therapy helps correct speaking difficulties.</a:t>
            </a:r>
          </a:p>
          <a:p>
            <a:endParaRPr lang="en-US" b="1" dirty="0"/>
          </a:p>
          <a:p>
            <a:r>
              <a:rPr lang="en-US" b="1" dirty="0"/>
              <a:t>Surgery typically not performed until between 9 months and 1 year.  Allows to palate to expand and change as the baby grows. suck weakly and need a special bottle to feed. </a:t>
            </a:r>
          </a:p>
          <a:p>
            <a:endParaRPr lang="en-US" b="1" dirty="0"/>
          </a:p>
          <a:p>
            <a:r>
              <a:rPr lang="en-US" b="1" dirty="0"/>
              <a:t>Support from a feeding therapist, certified lactation consultant, and/or nurse experienced in feeding children with cleft palate is recommended for parents.</a:t>
            </a:r>
          </a:p>
        </p:txBody>
      </p:sp>
    </p:spTree>
    <p:extLst>
      <p:ext uri="{BB962C8B-B14F-4D97-AF65-F5344CB8AC3E}">
        <p14:creationId xmlns:p14="http://schemas.microsoft.com/office/powerpoint/2010/main" val="34283585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 name="Rectangle 72">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5" name="Rectangle 74">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22882"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100">
                <a:solidFill>
                  <a:schemeClr val="tx1">
                    <a:lumMod val="85000"/>
                    <a:lumOff val="15000"/>
                  </a:schemeClr>
                </a:solidFill>
              </a:rPr>
              <a:t>Childhood Nutrition (1-5 years)</a:t>
            </a:r>
            <a:br>
              <a:rPr lang="en-US" sz="3100">
                <a:solidFill>
                  <a:schemeClr val="tx1">
                    <a:lumMod val="85000"/>
                    <a:lumOff val="15000"/>
                  </a:schemeClr>
                </a:solidFill>
              </a:rPr>
            </a:br>
            <a:r>
              <a:rPr lang="en-US" sz="3100">
                <a:solidFill>
                  <a:schemeClr val="tx1">
                    <a:lumMod val="85000"/>
                    <a:lumOff val="15000"/>
                  </a:schemeClr>
                </a:solidFill>
              </a:rPr>
              <a:t>Preschoolers</a:t>
            </a:r>
          </a:p>
        </p:txBody>
      </p:sp>
      <p:sp>
        <p:nvSpPr>
          <p:cNvPr id="77" name="Rectangle 76">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p:cNvSpPr>
            <a:spLocks noGrp="1"/>
          </p:cNvSpPr>
          <p:nvPr>
            <p:ph sz="quarter" idx="4"/>
          </p:nvPr>
        </p:nvSpPr>
        <p:spPr>
          <a:xfrm>
            <a:off x="3966921" y="864108"/>
            <a:ext cx="4433008" cy="5120640"/>
          </a:xfrm>
        </p:spPr>
        <p:txBody>
          <a:bodyPr vert="horz" lIns="91440" tIns="45720" rIns="91440" bIns="45720" rtlCol="0" anchor="ctr">
            <a:normAutofit/>
          </a:bodyPr>
          <a:lstStyle/>
          <a:p>
            <a:r>
              <a:rPr lang="en-US" sz="2400" dirty="0"/>
              <a:t>Finger foods = independence</a:t>
            </a:r>
          </a:p>
          <a:p>
            <a:r>
              <a:rPr lang="en-US" sz="2400" dirty="0"/>
              <a:t>Avoid rewarding or comforting with foods</a:t>
            </a:r>
          </a:p>
          <a:p>
            <a:r>
              <a:rPr lang="en-US" sz="2400" dirty="0"/>
              <a:t>Don’t make mealtime a struggle</a:t>
            </a:r>
          </a:p>
          <a:p>
            <a:r>
              <a:rPr lang="en-US" sz="2400" dirty="0"/>
              <a:t>Snacks should be planned to augment nutritional intake</a:t>
            </a:r>
          </a:p>
          <a:p>
            <a:r>
              <a:rPr lang="en-US" sz="2400" dirty="0"/>
              <a:t>Provide nutrient rich foods</a:t>
            </a:r>
          </a:p>
          <a:p>
            <a:endParaRPr lang="en-US" sz="2400" dirty="0"/>
          </a:p>
        </p:txBody>
      </p:sp>
      <p:sp>
        <p:nvSpPr>
          <p:cNvPr id="81" name="Rectangle 80">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5EC407-6A3B-4DB2-88AF-A1EBA360AF7E}"/>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987462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 name="Rectangle 72">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5" name="Rectangle 74">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22882"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100">
                <a:solidFill>
                  <a:schemeClr val="tx1">
                    <a:lumMod val="85000"/>
                    <a:lumOff val="15000"/>
                  </a:schemeClr>
                </a:solidFill>
              </a:rPr>
              <a:t>Childhood Nutrition (1-5 years)</a:t>
            </a:r>
            <a:br>
              <a:rPr lang="en-US" sz="3100">
                <a:solidFill>
                  <a:schemeClr val="tx1">
                    <a:lumMod val="85000"/>
                    <a:lumOff val="15000"/>
                  </a:schemeClr>
                </a:solidFill>
              </a:rPr>
            </a:br>
            <a:r>
              <a:rPr lang="en-US" sz="3100">
                <a:solidFill>
                  <a:schemeClr val="tx1">
                    <a:lumMod val="85000"/>
                    <a:lumOff val="15000"/>
                  </a:schemeClr>
                </a:solidFill>
              </a:rPr>
              <a:t>Preschoolers</a:t>
            </a:r>
          </a:p>
        </p:txBody>
      </p:sp>
      <p:sp>
        <p:nvSpPr>
          <p:cNvPr id="77" name="Rectangle 76">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p:cNvSpPr>
            <a:spLocks noGrp="1"/>
          </p:cNvSpPr>
          <p:nvPr>
            <p:ph sz="quarter" idx="4"/>
          </p:nvPr>
        </p:nvSpPr>
        <p:spPr>
          <a:xfrm>
            <a:off x="3966921" y="864108"/>
            <a:ext cx="4433008" cy="5120640"/>
          </a:xfrm>
        </p:spPr>
        <p:txBody>
          <a:bodyPr vert="horz" lIns="91440" tIns="45720" rIns="91440" bIns="45720" rtlCol="0" anchor="ctr">
            <a:normAutofit/>
          </a:bodyPr>
          <a:lstStyle/>
          <a:p>
            <a:endParaRPr lang="en-US" dirty="0"/>
          </a:p>
          <a:p>
            <a:endParaRPr lang="en-US"/>
          </a:p>
        </p:txBody>
      </p:sp>
      <p:sp>
        <p:nvSpPr>
          <p:cNvPr id="81" name="Rectangle 80">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A093F0-6E2B-40F5-BD4E-73D3B662F948}"/>
              </a:ext>
            </a:extLst>
          </p:cNvPr>
          <p:cNvSpPr>
            <a:spLocks noGrp="1" noChangeArrowheads="1"/>
          </p:cNvSpPr>
          <p:nvPr/>
        </p:nvSpPr>
        <p:spPr>
          <a:xfrm>
            <a:off x="3504802" y="1136750"/>
            <a:ext cx="4497388" cy="4575506"/>
          </a:xfrm>
          <a:prstGeom prst="rect">
            <a:avLst/>
          </a:prstGeom>
        </p:spPr>
        <p:txBody>
          <a:bodyPr vert="horz" lIns="91440" tIns="45720" rIns="91440" bIns="45720" rtlCol="0" anchor="ctr">
            <a:norm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19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7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9pPr>
          </a:lstStyle>
          <a:p>
            <a:pPr lvl="1">
              <a:buFont typeface="Arial" panose="02070309020205020404" pitchFamily="49" charset="0"/>
              <a:buChar char="•"/>
            </a:pPr>
            <a:r>
              <a:rPr lang="en-US" sz="2400" dirty="0">
                <a:latin typeface="+mj-lt"/>
              </a:rPr>
              <a:t>Slower growth rate </a:t>
            </a:r>
            <a:endParaRPr lang="en-US" sz="2400" dirty="0"/>
          </a:p>
          <a:p>
            <a:pPr lvl="1" eaLnBrk="1" hangingPunct="1">
              <a:buFont typeface="Arial" panose="02070309020205020404" pitchFamily="49" charset="0"/>
              <a:buChar char="•"/>
            </a:pPr>
            <a:r>
              <a:rPr lang="en-US" sz="2400" dirty="0">
                <a:latin typeface="+mj-lt"/>
              </a:rPr>
              <a:t>Tend to have erratic &amp; ritualistic eating patterns</a:t>
            </a:r>
          </a:p>
          <a:p>
            <a:pPr lvl="1" eaLnBrk="1" hangingPunct="1">
              <a:buFont typeface="Arial" panose="02070309020205020404" pitchFamily="49" charset="0"/>
              <a:buChar char="•"/>
            </a:pPr>
            <a:r>
              <a:rPr lang="en-US" sz="2400" dirty="0">
                <a:latin typeface="+mj-lt"/>
              </a:rPr>
              <a:t>Picky eaters with strong food preferences</a:t>
            </a:r>
          </a:p>
          <a:p>
            <a:pPr lvl="1" eaLnBrk="1" hangingPunct="1">
              <a:buFont typeface="Arial" panose="02070309020205020404" pitchFamily="49" charset="0"/>
              <a:buChar char="•"/>
            </a:pPr>
            <a:r>
              <a:rPr lang="en-US" sz="2400" dirty="0">
                <a:latin typeface="+mj-lt"/>
              </a:rPr>
              <a:t>Decreased calories BUT increased protein</a:t>
            </a:r>
          </a:p>
          <a:p>
            <a:pPr lvl="1" eaLnBrk="1" hangingPunct="1">
              <a:buFont typeface="Arial" panose="02070309020205020404" pitchFamily="49" charset="0"/>
              <a:buChar char="•"/>
            </a:pPr>
            <a:r>
              <a:rPr lang="en-US" sz="2400" dirty="0">
                <a:latin typeface="+mj-lt"/>
              </a:rPr>
              <a:t>Interest goes from food to fun</a:t>
            </a:r>
          </a:p>
          <a:p>
            <a:pPr lvl="1" eaLnBrk="1" hangingPunct="1">
              <a:buFont typeface="Arial" panose="02070309020205020404" pitchFamily="49" charset="0"/>
              <a:buChar char="•"/>
            </a:pPr>
            <a:r>
              <a:rPr lang="en-US" sz="2400" dirty="0">
                <a:latin typeface="+mj-lt"/>
              </a:rPr>
              <a:t>16 oz milk – should use whole milk until 2 yrs old</a:t>
            </a:r>
          </a:p>
        </p:txBody>
      </p:sp>
      <p:sp>
        <p:nvSpPr>
          <p:cNvPr id="11" name="TextBox 10">
            <a:extLst>
              <a:ext uri="{FF2B5EF4-FFF2-40B4-BE49-F238E27FC236}">
                <a16:creationId xmlns:a16="http://schemas.microsoft.com/office/drawing/2014/main" id="{FA0F050F-BB59-4466-9716-7E86D158E80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0312173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 name="Rectangle 73">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6" name="Rectangle 75">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24930"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Childhood Nutrition (6-10 years)</a:t>
            </a:r>
            <a:br>
              <a:rPr lang="en-US" sz="3600">
                <a:solidFill>
                  <a:schemeClr val="tx1">
                    <a:lumMod val="85000"/>
                    <a:lumOff val="15000"/>
                  </a:schemeClr>
                </a:solidFill>
              </a:rPr>
            </a:br>
            <a:r>
              <a:rPr lang="en-US" sz="3600">
                <a:solidFill>
                  <a:schemeClr val="tx1">
                    <a:lumMod val="85000"/>
                    <a:lumOff val="15000"/>
                  </a:schemeClr>
                </a:solidFill>
              </a:rPr>
              <a:t>School age</a:t>
            </a:r>
          </a:p>
        </p:txBody>
      </p:sp>
      <p:sp>
        <p:nvSpPr>
          <p:cNvPr id="78" name="Rectangle 77">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80" name="Straight Connector 79">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4931" name="Rectangle 3"/>
          <p:cNvSpPr>
            <a:spLocks noGrp="1" noChangeArrowheads="1"/>
          </p:cNvSpPr>
          <p:nvPr>
            <p:ph type="body" sz="half" idx="1"/>
          </p:nvPr>
        </p:nvSpPr>
        <p:spPr>
          <a:xfrm>
            <a:off x="3966921" y="864108"/>
            <a:ext cx="4433008" cy="5120640"/>
          </a:xfrm>
        </p:spPr>
        <p:txBody>
          <a:bodyPr vert="horz" lIns="91440" tIns="45720" rIns="91440" bIns="45720" rtlCol="0" anchor="ctr">
            <a:normAutofit/>
          </a:bodyPr>
          <a:lstStyle/>
          <a:p>
            <a:pPr lvl="1"/>
            <a:r>
              <a:rPr lang="en-US" sz="2000" dirty="0"/>
              <a:t>Slow, steady growth</a:t>
            </a:r>
          </a:p>
          <a:p>
            <a:pPr lvl="1"/>
            <a:r>
              <a:rPr lang="en-US" sz="2000" dirty="0"/>
              <a:t>Increased appetite – good eaters!</a:t>
            </a:r>
          </a:p>
          <a:p>
            <a:pPr lvl="1"/>
            <a:r>
              <a:rPr lang="en-US" sz="2000" dirty="0"/>
              <a:t>Breakfast important!</a:t>
            </a:r>
          </a:p>
          <a:p>
            <a:pPr lvl="1"/>
            <a:r>
              <a:rPr lang="en-US" sz="2000" dirty="0"/>
              <a:t>Dental health important</a:t>
            </a:r>
          </a:p>
          <a:p>
            <a:pPr lvl="1"/>
            <a:r>
              <a:rPr lang="en-US" sz="2000" dirty="0"/>
              <a:t>Regular exercise important</a:t>
            </a:r>
          </a:p>
          <a:p>
            <a:pPr lvl="1"/>
            <a:r>
              <a:rPr lang="en-US" sz="2000" dirty="0"/>
              <a:t>Involve in obtaining &amp; preparing food</a:t>
            </a:r>
          </a:p>
          <a:p>
            <a:pPr lvl="1"/>
            <a:r>
              <a:rPr lang="en-US" sz="2000" dirty="0"/>
              <a:t>Gardening activities</a:t>
            </a:r>
          </a:p>
          <a:p>
            <a:pPr lvl="1"/>
            <a:r>
              <a:rPr lang="en-US" sz="2000" dirty="0"/>
              <a:t>Learn good eating habits</a:t>
            </a:r>
          </a:p>
          <a:p>
            <a:pPr lvl="1"/>
            <a:r>
              <a:rPr lang="en-US" sz="2000" dirty="0"/>
              <a:t>Nutrient stores for puberty are being made</a:t>
            </a:r>
          </a:p>
          <a:p>
            <a:pPr lvl="1"/>
            <a:r>
              <a:rPr lang="en-US" sz="2000" dirty="0"/>
              <a:t>May see increase in weight</a:t>
            </a:r>
          </a:p>
          <a:p>
            <a:pPr lvl="1"/>
            <a:r>
              <a:rPr lang="en-US" sz="2000" dirty="0"/>
              <a:t>Use MyPlate to plan meals</a:t>
            </a:r>
          </a:p>
        </p:txBody>
      </p:sp>
      <p:sp>
        <p:nvSpPr>
          <p:cNvPr id="82" name="Rectangle 81">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CD83D61-9614-4EED-9883-E690ACFFF224}"/>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482528168"/>
      </p:ext>
    </p:extLst>
  </p:cSld>
  <p:clrMapOvr>
    <a:masterClrMapping/>
  </p:clrMapOvr>
  <p:transition spd="slow">
    <p:pull dir="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 name="Rectangle 73">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6" name="Rectangle 75">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25954"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Adolescent Nutrition (11-18 years)</a:t>
            </a:r>
          </a:p>
        </p:txBody>
      </p:sp>
      <p:sp>
        <p:nvSpPr>
          <p:cNvPr id="78" name="Rectangle 77">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80" name="Straight Connector 79">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5955" name="Rectangle 3"/>
          <p:cNvSpPr>
            <a:spLocks noGrp="1" noChangeArrowheads="1"/>
          </p:cNvSpPr>
          <p:nvPr>
            <p:ph type="body" sz="half" idx="1"/>
          </p:nvPr>
        </p:nvSpPr>
        <p:spPr>
          <a:xfrm>
            <a:off x="3966921" y="864108"/>
            <a:ext cx="4433008" cy="5120640"/>
          </a:xfrm>
        </p:spPr>
        <p:txBody>
          <a:bodyPr vert="horz" lIns="91440" tIns="45720" rIns="91440" bIns="45720" rtlCol="0" anchor="ctr">
            <a:normAutofit/>
          </a:bodyPr>
          <a:lstStyle/>
          <a:p>
            <a:pPr lvl="1"/>
            <a:r>
              <a:rPr lang="en-US" sz="2400" dirty="0"/>
              <a:t>Growth spurt at puberty</a:t>
            </a:r>
          </a:p>
          <a:p>
            <a:pPr lvl="2"/>
            <a:r>
              <a:rPr lang="en-US" sz="2400" dirty="0"/>
              <a:t>May see decrease in weight</a:t>
            </a:r>
          </a:p>
          <a:p>
            <a:pPr lvl="1"/>
            <a:r>
              <a:rPr lang="en-US" sz="2400" dirty="0"/>
              <a:t>2000-3000 kcal/day</a:t>
            </a:r>
          </a:p>
          <a:p>
            <a:pPr lvl="1"/>
            <a:r>
              <a:rPr lang="en-US" sz="2400" dirty="0"/>
              <a:t>45-60 grams protein/day</a:t>
            </a:r>
          </a:p>
          <a:p>
            <a:pPr lvl="1"/>
            <a:r>
              <a:rPr lang="en-US" sz="2400" dirty="0"/>
              <a:t>Calcium, iron important</a:t>
            </a:r>
          </a:p>
          <a:p>
            <a:pPr marL="342900" lvl="1"/>
            <a:endParaRPr lang="en-US" sz="2400" dirty="0"/>
          </a:p>
          <a:p>
            <a:pPr lvl="1"/>
            <a:r>
              <a:rPr lang="en-US" sz="2400" dirty="0"/>
              <a:t>Dietary influences:</a:t>
            </a:r>
          </a:p>
          <a:p>
            <a:pPr lvl="2"/>
            <a:r>
              <a:rPr lang="en-US" sz="2400" dirty="0"/>
              <a:t>Peers</a:t>
            </a:r>
          </a:p>
          <a:p>
            <a:pPr lvl="2"/>
            <a:r>
              <a:rPr lang="en-US" sz="2400" dirty="0"/>
              <a:t>Activity level</a:t>
            </a:r>
          </a:p>
          <a:p>
            <a:pPr lvl="2"/>
            <a:r>
              <a:rPr lang="en-US" sz="2400" dirty="0"/>
              <a:t>Body image</a:t>
            </a:r>
          </a:p>
          <a:p>
            <a:pPr lvl="2"/>
            <a:r>
              <a:rPr lang="en-US" sz="2400" dirty="0"/>
              <a:t>Independence</a:t>
            </a:r>
          </a:p>
        </p:txBody>
      </p:sp>
      <p:sp>
        <p:nvSpPr>
          <p:cNvPr id="82" name="Rectangle 81">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A48B100-DE2B-4066-9781-E50B72CDF6A2}"/>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056667832"/>
      </p:ext>
    </p:extLst>
  </p:cSld>
  <p:clrMapOvr>
    <a:masterClrMapping/>
  </p:clrMapOvr>
  <p:transition spd="slow">
    <p:pull dir="r"/>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28002" name="Rectangle 2"/>
          <p:cNvSpPr>
            <a:spLocks noGrp="1" noChangeArrowheads="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Adult Nutrition (18-64 years)</a:t>
            </a:r>
            <a:endParaRPr lang="en-US">
              <a:solidFill>
                <a:schemeClr val="tx1">
                  <a:lumMod val="85000"/>
                  <a:lumOff val="15000"/>
                </a:schemeClr>
              </a:solidFill>
              <a:latin typeface="Comic Sans MS" pitchFamily="66" charset="0"/>
            </a:endParaRP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8003" name="Rectangle 5"/>
          <p:cNvSpPr>
            <a:spLocks noGrp="1" noChangeArrowheads="1"/>
          </p:cNvSpPr>
          <p:nvPr>
            <p:ph idx="1"/>
          </p:nvPr>
        </p:nvSpPr>
        <p:spPr>
          <a:xfrm>
            <a:off x="3966921" y="864108"/>
            <a:ext cx="4433008" cy="5120640"/>
          </a:xfrm>
        </p:spPr>
        <p:txBody>
          <a:bodyPr>
            <a:normAutofit/>
          </a:bodyPr>
          <a:lstStyle/>
          <a:p>
            <a:pPr lvl="1" eaLnBrk="1" hangingPunct="1"/>
            <a:r>
              <a:rPr lang="en-US" sz="2400" dirty="0">
                <a:latin typeface="+mj-lt"/>
              </a:rPr>
              <a:t>Energy needs decline but intake often does not.</a:t>
            </a:r>
          </a:p>
          <a:p>
            <a:pPr lvl="1" eaLnBrk="1" hangingPunct="1"/>
            <a:r>
              <a:rPr lang="en-US" sz="2400" dirty="0">
                <a:latin typeface="+mj-lt"/>
              </a:rPr>
              <a:t>Pregnancy &amp; Lactation may alter nutritional needs (see Nutrition &amp; Pregnancy)</a:t>
            </a:r>
          </a:p>
          <a:p>
            <a:pPr lvl="1" eaLnBrk="1" hangingPunct="1"/>
            <a:r>
              <a:rPr lang="en-US" sz="2400" dirty="0">
                <a:latin typeface="+mj-lt"/>
              </a:rPr>
              <a:t>Factors that may affect nutrition:</a:t>
            </a:r>
          </a:p>
          <a:p>
            <a:pPr lvl="2"/>
            <a:r>
              <a:rPr lang="en-US" sz="2400" dirty="0">
                <a:latin typeface="+mj-lt"/>
              </a:rPr>
              <a:t>Stress</a:t>
            </a:r>
            <a:endParaRPr lang="en-US" sz="2400" dirty="0"/>
          </a:p>
          <a:p>
            <a:pPr lvl="2"/>
            <a:r>
              <a:rPr lang="en-US" sz="2400" dirty="0">
                <a:latin typeface="+mj-lt"/>
              </a:rPr>
              <a:t>Occupational influences</a:t>
            </a:r>
          </a:p>
          <a:p>
            <a:pPr lvl="2"/>
            <a:r>
              <a:rPr lang="en-US" sz="2400" dirty="0">
                <a:latin typeface="+mj-lt"/>
              </a:rPr>
              <a:t>Lifetime dietary habits</a:t>
            </a:r>
          </a:p>
          <a:p>
            <a:pPr lvl="2"/>
            <a:r>
              <a:rPr lang="en-US" sz="2400" dirty="0">
                <a:latin typeface="+mj-lt"/>
              </a:rPr>
              <a:t>Exercise &amp; activity requirements</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E5C6026-79AB-48BC-A38B-0DE19F5F91F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4016367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 name="Rectangle 73">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6" name="Rectangle 75">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30050"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Geriatric Nutrition (65 + years)</a:t>
            </a:r>
          </a:p>
        </p:txBody>
      </p:sp>
      <p:sp>
        <p:nvSpPr>
          <p:cNvPr id="78" name="Rectangle 77">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80" name="Straight Connector 79">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0051" name="Rectangle 3"/>
          <p:cNvSpPr>
            <a:spLocks noGrp="1" noChangeArrowheads="1"/>
          </p:cNvSpPr>
          <p:nvPr>
            <p:ph type="body" sz="half" idx="1"/>
          </p:nvPr>
        </p:nvSpPr>
        <p:spPr>
          <a:xfrm>
            <a:off x="3966921" y="864108"/>
            <a:ext cx="4433008" cy="5120640"/>
          </a:xfrm>
        </p:spPr>
        <p:txBody>
          <a:bodyPr vert="horz" lIns="91440" tIns="45720" rIns="91440" bIns="45720" rtlCol="0" anchor="ctr">
            <a:normAutofit/>
          </a:bodyPr>
          <a:lstStyle/>
          <a:p>
            <a:pPr lvl="1"/>
            <a:r>
              <a:rPr lang="en-US" sz="2000" b="1" u="sng" dirty="0"/>
              <a:t>Physiological changes</a:t>
            </a:r>
            <a:endParaRPr lang="en-US" sz="2000" dirty="0"/>
          </a:p>
          <a:p>
            <a:pPr lvl="2"/>
            <a:r>
              <a:rPr lang="en-US" sz="2000" dirty="0"/>
              <a:t>Decreased BMR = need to reduce calories (in the absence of disease &amp; illness)</a:t>
            </a:r>
          </a:p>
          <a:p>
            <a:pPr lvl="2"/>
            <a:r>
              <a:rPr lang="en-US" sz="2000" dirty="0"/>
              <a:t>Increased need for calcium</a:t>
            </a:r>
          </a:p>
          <a:p>
            <a:pPr lvl="2"/>
            <a:r>
              <a:rPr lang="en-US" sz="2000" dirty="0"/>
              <a:t>Fewer taste buds—takes more salt to make it taste good</a:t>
            </a:r>
          </a:p>
          <a:p>
            <a:pPr lvl="2"/>
            <a:r>
              <a:rPr lang="en-US" sz="2000" dirty="0"/>
              <a:t>Loss of teeth due to periodontal disease</a:t>
            </a:r>
          </a:p>
          <a:p>
            <a:pPr lvl="2"/>
            <a:r>
              <a:rPr lang="en-US" sz="2000" dirty="0"/>
              <a:t>Slowing of peristalsis—constipation</a:t>
            </a:r>
          </a:p>
          <a:p>
            <a:pPr lvl="2"/>
            <a:r>
              <a:rPr lang="en-US" sz="2000" dirty="0"/>
              <a:t>Decreased sense of smell </a:t>
            </a:r>
          </a:p>
          <a:p>
            <a:pPr lvl="2"/>
            <a:r>
              <a:rPr lang="en-US" sz="2000" dirty="0"/>
              <a:t>Decreased sensation of thirst</a:t>
            </a:r>
          </a:p>
        </p:txBody>
      </p:sp>
      <p:sp>
        <p:nvSpPr>
          <p:cNvPr id="82" name="Rectangle 81">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240E89E-C316-4A42-99C6-DA3AEACB573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326897910"/>
      </p:ext>
    </p:extLst>
  </p:cSld>
  <p:clrMapOvr>
    <a:masterClrMapping/>
  </p:clrMapOvr>
  <p:transition spd="slow">
    <p:pull dir="r"/>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 name="Rectangle 72">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5" name="Rectangle 74">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31074"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Geriatric Nutrition (65 + years)</a:t>
            </a:r>
          </a:p>
        </p:txBody>
      </p:sp>
      <p:sp>
        <p:nvSpPr>
          <p:cNvPr id="77" name="Rectangle 76">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p:cNvSpPr>
            <a:spLocks noGrp="1"/>
          </p:cNvSpPr>
          <p:nvPr>
            <p:ph sz="quarter" idx="4"/>
          </p:nvPr>
        </p:nvSpPr>
        <p:spPr>
          <a:xfrm>
            <a:off x="3966921" y="864108"/>
            <a:ext cx="4433008" cy="5120640"/>
          </a:xfrm>
        </p:spPr>
        <p:txBody>
          <a:bodyPr vert="horz" lIns="91440" tIns="45720" rIns="91440" bIns="45720" rtlCol="0" anchor="ctr">
            <a:noAutofit/>
          </a:bodyPr>
          <a:lstStyle/>
          <a:p>
            <a:pPr marL="0"/>
            <a:r>
              <a:rPr lang="en-US" sz="2000" u="sng" dirty="0"/>
              <a:t>Limited Income recommendations</a:t>
            </a:r>
            <a:endParaRPr lang="en-US" sz="2000" dirty="0"/>
          </a:p>
          <a:p>
            <a:pPr lvl="1"/>
            <a:r>
              <a:rPr lang="en-US" sz="2000" dirty="0"/>
              <a:t>Generic brand foods, coupons</a:t>
            </a:r>
          </a:p>
          <a:p>
            <a:pPr lvl="1"/>
            <a:r>
              <a:rPr lang="en-US" sz="2000" dirty="0"/>
              <a:t>Substitute products</a:t>
            </a:r>
          </a:p>
          <a:p>
            <a:pPr lvl="1"/>
            <a:r>
              <a:rPr lang="en-US" sz="2000" dirty="0"/>
              <a:t>Avoid convenience foods</a:t>
            </a:r>
          </a:p>
          <a:p>
            <a:pPr lvl="1"/>
            <a:r>
              <a:rPr lang="en-US" sz="2000" dirty="0"/>
              <a:t>Buy on sale &amp; freeze</a:t>
            </a:r>
          </a:p>
          <a:p>
            <a:pPr lvl="1"/>
            <a:r>
              <a:rPr lang="en-US" sz="2000" dirty="0"/>
              <a:t>Utilize community resources &amp; nutrition programs</a:t>
            </a:r>
          </a:p>
          <a:p>
            <a:r>
              <a:rPr lang="en-US" sz="2000" dirty="0"/>
              <a:t>Economic/Social influences:</a:t>
            </a:r>
          </a:p>
          <a:p>
            <a:pPr marL="971550" lvl="1"/>
            <a:r>
              <a:rPr lang="en-US" sz="2000" dirty="0"/>
              <a:t>Fixed income</a:t>
            </a:r>
          </a:p>
          <a:p>
            <a:pPr marL="971550" lvl="1"/>
            <a:r>
              <a:rPr lang="en-US" sz="2000" dirty="0"/>
              <a:t>Loss of spouse, friends, mobility, self-esteem, eating problems</a:t>
            </a:r>
          </a:p>
          <a:p>
            <a:pPr marL="971550" lvl="1"/>
            <a:r>
              <a:rPr lang="en-US" sz="2000" dirty="0"/>
              <a:t>May be dependent on others to prepare food or shop for them</a:t>
            </a:r>
          </a:p>
          <a:p>
            <a:pPr marL="971550" lvl="1"/>
            <a:r>
              <a:rPr lang="en-US" sz="2000" dirty="0"/>
              <a:t>Transportation source</a:t>
            </a:r>
          </a:p>
          <a:p>
            <a:pPr marL="971550" lvl="1"/>
            <a:r>
              <a:rPr lang="en-US" sz="2000" dirty="0"/>
              <a:t>Targets of fads &amp; quacks</a:t>
            </a:r>
          </a:p>
          <a:p>
            <a:pPr marL="971550" lvl="1"/>
            <a:r>
              <a:rPr lang="en-US" sz="2000" dirty="0"/>
              <a:t>Medications alter appetite</a:t>
            </a:r>
          </a:p>
          <a:p>
            <a:endParaRPr lang="en-US" sz="2000" dirty="0"/>
          </a:p>
        </p:txBody>
      </p:sp>
      <p:sp>
        <p:nvSpPr>
          <p:cNvPr id="81" name="Rectangle 80">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248A95C-8F42-434A-A25F-4E548C766FB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530729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 name="Rectangle 72">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5" name="Rectangle 74">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31074" name="Rectangle 2"/>
          <p:cNvSpPr>
            <a:spLocks noGrp="1" noChangeArrowheads="1"/>
          </p:cNvSpPr>
          <p:nvPr>
            <p:ph type="title"/>
          </p:nvPr>
        </p:nvSpPr>
        <p:spPr>
          <a:xfrm>
            <a:off x="1154337" y="864108"/>
            <a:ext cx="2305435" cy="5120639"/>
          </a:xfrm>
        </p:spPr>
        <p:txBody>
          <a:bodyPr vert="horz" lIns="91440" tIns="45720" rIns="91440" bIns="45720" rtlCol="0" anchor="ctr">
            <a:normAutofit/>
          </a:bodyPr>
          <a:lstStyle/>
          <a:p>
            <a:pPr algn="r"/>
            <a:r>
              <a:rPr lang="en-US" sz="3600">
                <a:solidFill>
                  <a:schemeClr val="tx1">
                    <a:lumMod val="85000"/>
                    <a:lumOff val="15000"/>
                  </a:schemeClr>
                </a:solidFill>
              </a:rPr>
              <a:t>Geriatric Nutrition (65 + years)</a:t>
            </a:r>
          </a:p>
        </p:txBody>
      </p:sp>
      <p:sp>
        <p:nvSpPr>
          <p:cNvPr id="77" name="Rectangle 76">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p:cNvSpPr>
            <a:spLocks noGrp="1"/>
          </p:cNvSpPr>
          <p:nvPr>
            <p:ph sz="quarter" idx="4"/>
          </p:nvPr>
        </p:nvSpPr>
        <p:spPr>
          <a:xfrm>
            <a:off x="3966921" y="864108"/>
            <a:ext cx="4433008" cy="5120640"/>
          </a:xfrm>
        </p:spPr>
        <p:txBody>
          <a:bodyPr vert="horz" lIns="91440" tIns="45720" rIns="91440" bIns="45720" rtlCol="0" anchor="ctr">
            <a:noAutofit/>
          </a:bodyPr>
          <a:lstStyle/>
          <a:p>
            <a:pPr>
              <a:buFont typeface="Wingdings 2"/>
              <a:buChar char=""/>
            </a:pPr>
            <a:r>
              <a:rPr lang="en-US" sz="2400" dirty="0">
                <a:ea typeface="+mn-lt"/>
                <a:cs typeface="+mn-lt"/>
              </a:rPr>
              <a:t>Difficulty chewing</a:t>
            </a:r>
          </a:p>
          <a:p>
            <a:pPr marL="971550" lvl="1" indent="-285750">
              <a:buFont typeface="Wingdings 2"/>
              <a:buChar char=""/>
            </a:pPr>
            <a:r>
              <a:rPr lang="en-US" sz="2400" dirty="0">
                <a:ea typeface="+mn-lt"/>
                <a:cs typeface="+mn-lt"/>
              </a:rPr>
              <a:t>Leads to nutritional deficiencies in: </a:t>
            </a:r>
          </a:p>
          <a:p>
            <a:pPr marL="1428750" lvl="2" indent="-285750">
              <a:buFont typeface="Wingdings 2"/>
              <a:buChar char=""/>
            </a:pPr>
            <a:r>
              <a:rPr lang="en-US" sz="2400" dirty="0">
                <a:ea typeface="+mn-lt"/>
                <a:cs typeface="+mn-lt"/>
              </a:rPr>
              <a:t>fiber, </a:t>
            </a:r>
          </a:p>
          <a:p>
            <a:pPr marL="1428750" lvl="2" indent="-285750">
              <a:buFont typeface="Wingdings 2"/>
              <a:buChar char=""/>
            </a:pPr>
            <a:r>
              <a:rPr lang="en-US" sz="2400" dirty="0">
                <a:ea typeface="+mn-lt"/>
                <a:cs typeface="+mn-lt"/>
              </a:rPr>
              <a:t>Vitamins A &amp; C</a:t>
            </a:r>
          </a:p>
          <a:p>
            <a:pPr marL="1428750" lvl="2" indent="-285750">
              <a:buFont typeface="Wingdings 2"/>
              <a:buChar char=""/>
            </a:pPr>
            <a:r>
              <a:rPr lang="en-US" sz="2400" dirty="0">
                <a:ea typeface="+mn-lt"/>
                <a:cs typeface="+mn-lt"/>
              </a:rPr>
              <a:t>minerals</a:t>
            </a:r>
          </a:p>
          <a:p>
            <a:pPr>
              <a:buFont typeface="Wingdings 2"/>
              <a:buChar char=""/>
            </a:pPr>
            <a:r>
              <a:rPr lang="en-US" sz="2400" dirty="0">
                <a:ea typeface="+mn-lt"/>
                <a:cs typeface="+mn-lt"/>
              </a:rPr>
              <a:t>What to recommend:</a:t>
            </a:r>
          </a:p>
          <a:p>
            <a:pPr marL="971550" lvl="1" indent="-285750">
              <a:buFont typeface="Wingdings 2"/>
              <a:buChar char=""/>
            </a:pPr>
            <a:r>
              <a:rPr lang="en-US" sz="2400" dirty="0">
                <a:ea typeface="+mn-lt"/>
                <a:cs typeface="+mn-lt"/>
              </a:rPr>
              <a:t>Encourage regular visits to the dentist</a:t>
            </a:r>
          </a:p>
          <a:p>
            <a:pPr marL="971550" lvl="1" indent="-285750">
              <a:buFont typeface="Wingdings 2"/>
              <a:buChar char=""/>
            </a:pPr>
            <a:r>
              <a:rPr lang="en-US" sz="2400" dirty="0">
                <a:ea typeface="+mn-lt"/>
                <a:cs typeface="+mn-lt"/>
              </a:rPr>
              <a:t>Have dentures repaired, refitted, replaced</a:t>
            </a:r>
          </a:p>
          <a:p>
            <a:pPr marL="971550" lvl="1" indent="-285750">
              <a:buFont typeface="Wingdings 2"/>
              <a:buChar char=""/>
            </a:pPr>
            <a:r>
              <a:rPr lang="en-US" sz="2400" dirty="0">
                <a:ea typeface="+mn-lt"/>
                <a:cs typeface="+mn-lt"/>
              </a:rPr>
              <a:t>Chop fruits, veggies finely: shred green leafy veggies: select ground meat, fish, poultry</a:t>
            </a:r>
          </a:p>
          <a:p>
            <a:pPr marL="971550" lvl="1" indent="-285750">
              <a:buFont typeface="Wingdings 2"/>
              <a:buChar char=""/>
            </a:pPr>
            <a:r>
              <a:rPr lang="en-US" sz="2400" dirty="0">
                <a:ea typeface="+mn-lt"/>
                <a:cs typeface="+mn-lt"/>
              </a:rPr>
              <a:t>NO steak!</a:t>
            </a:r>
            <a:endParaRPr lang="en-US" sz="2400" dirty="0"/>
          </a:p>
          <a:p>
            <a:endParaRPr lang="en-US" sz="2400" dirty="0"/>
          </a:p>
        </p:txBody>
      </p:sp>
      <p:sp>
        <p:nvSpPr>
          <p:cNvPr id="81" name="Rectangle 80">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90984A3-ED5B-44AE-B740-35221D0E5E1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4050796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3122" name="Rectangle 2"/>
          <p:cNvSpPr>
            <a:spLocks noGrp="1" noChangeArrowheads="1"/>
          </p:cNvSpPr>
          <p:nvPr>
            <p:ph type="title"/>
          </p:nvPr>
        </p:nvSpPr>
        <p:spPr>
          <a:xfrm>
            <a:off x="1200565" y="1087374"/>
            <a:ext cx="6737617" cy="1000978"/>
          </a:xfrm>
        </p:spPr>
        <p:txBody>
          <a:bodyPr>
            <a:normAutofit/>
          </a:bodyPr>
          <a:lstStyle/>
          <a:p>
            <a:r>
              <a:rPr lang="en-US"/>
              <a:t>Geriatric Nutrition (65 + years)</a:t>
            </a:r>
            <a:endParaRPr lang="en-US">
              <a:latin typeface="Comic Sans MS" pitchFamily="66" charset="0"/>
            </a:endParaRP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3123" name="Rectangle 3"/>
          <p:cNvSpPr>
            <a:spLocks noGrp="1" noChangeArrowheads="1"/>
          </p:cNvSpPr>
          <p:nvPr>
            <p:ph idx="1"/>
          </p:nvPr>
        </p:nvSpPr>
        <p:spPr>
          <a:xfrm>
            <a:off x="1200564" y="2535446"/>
            <a:ext cx="6737617" cy="3554457"/>
          </a:xfrm>
        </p:spPr>
        <p:txBody>
          <a:bodyPr>
            <a:noAutofit/>
          </a:bodyPr>
          <a:lstStyle/>
          <a:p>
            <a:pPr eaLnBrk="1" hangingPunct="1"/>
            <a:r>
              <a:rPr lang="en-US" sz="2000" b="1" u="sng" dirty="0">
                <a:solidFill>
                  <a:schemeClr val="tx1"/>
                </a:solidFill>
                <a:latin typeface="+mj-lt"/>
              </a:rPr>
              <a:t>Lowered Glucose Tolerance:</a:t>
            </a:r>
          </a:p>
          <a:p>
            <a:pPr lvl="1" eaLnBrk="1" hangingPunct="1"/>
            <a:r>
              <a:rPr lang="en-US" sz="2000" dirty="0">
                <a:solidFill>
                  <a:schemeClr val="tx1"/>
                </a:solidFill>
                <a:latin typeface="+mj-lt"/>
              </a:rPr>
              <a:t>Eat more complex CHO:</a:t>
            </a:r>
          </a:p>
          <a:p>
            <a:pPr lvl="2" eaLnBrk="1" hangingPunct="1"/>
            <a:r>
              <a:rPr lang="en-US" sz="2000" dirty="0">
                <a:solidFill>
                  <a:schemeClr val="tx1"/>
                </a:solidFill>
                <a:latin typeface="+mj-lt"/>
              </a:rPr>
              <a:t>Breads, cereals, rice, pasta, potatoes, legumes</a:t>
            </a:r>
          </a:p>
          <a:p>
            <a:pPr lvl="2" eaLnBrk="1" hangingPunct="1"/>
            <a:r>
              <a:rPr lang="en-US" sz="2000" dirty="0">
                <a:solidFill>
                  <a:schemeClr val="tx1"/>
                </a:solidFill>
                <a:latin typeface="+mj-lt"/>
              </a:rPr>
              <a:t>Limit simple sugars</a:t>
            </a:r>
          </a:p>
          <a:p>
            <a:pPr eaLnBrk="1" hangingPunct="1"/>
            <a:r>
              <a:rPr lang="en-US" sz="2000" b="1" u="sng" dirty="0">
                <a:solidFill>
                  <a:schemeClr val="tx1"/>
                </a:solidFill>
                <a:latin typeface="+mj-lt"/>
              </a:rPr>
              <a:t>Decreased social interaction</a:t>
            </a:r>
            <a:r>
              <a:rPr lang="en-US" sz="2000" dirty="0">
                <a:solidFill>
                  <a:schemeClr val="tx1"/>
                </a:solidFill>
                <a:latin typeface="+mj-lt"/>
              </a:rPr>
              <a:t>:</a:t>
            </a:r>
          </a:p>
          <a:p>
            <a:pPr lvl="1" eaLnBrk="1" hangingPunct="1"/>
            <a:r>
              <a:rPr lang="en-US" sz="2000" dirty="0">
                <a:solidFill>
                  <a:schemeClr val="tx1"/>
                </a:solidFill>
                <a:latin typeface="+mj-lt"/>
              </a:rPr>
              <a:t>Loneliness as a result</a:t>
            </a:r>
          </a:p>
          <a:p>
            <a:pPr lvl="2" eaLnBrk="1" hangingPunct="1"/>
            <a:r>
              <a:rPr lang="en-US" sz="2000" dirty="0">
                <a:solidFill>
                  <a:schemeClr val="tx1"/>
                </a:solidFill>
                <a:latin typeface="+mj-lt"/>
              </a:rPr>
              <a:t>Meals on wheels</a:t>
            </a:r>
          </a:p>
          <a:p>
            <a:pPr lvl="2" eaLnBrk="1" hangingPunct="1"/>
            <a:r>
              <a:rPr lang="en-US" sz="2000" dirty="0">
                <a:solidFill>
                  <a:schemeClr val="tx1"/>
                </a:solidFill>
                <a:latin typeface="+mj-lt"/>
              </a:rPr>
              <a:t>Senior center</a:t>
            </a:r>
          </a:p>
          <a:p>
            <a:pPr lvl="2" eaLnBrk="1" hangingPunct="1"/>
            <a:r>
              <a:rPr lang="en-US" sz="2000" dirty="0">
                <a:solidFill>
                  <a:schemeClr val="tx1"/>
                </a:solidFill>
                <a:latin typeface="+mj-lt"/>
              </a:rPr>
              <a:t>Make a day a week of eating with family</a:t>
            </a:r>
          </a:p>
          <a:p>
            <a:r>
              <a:rPr lang="en-US" sz="2000" b="1" u="sng" dirty="0">
                <a:solidFill>
                  <a:schemeClr val="tx1"/>
                </a:solidFill>
                <a:ea typeface="+mn-lt"/>
                <a:cs typeface="+mn-lt"/>
              </a:rPr>
              <a:t>Loss of Appetite, Sense of Smell &amp; Taste</a:t>
            </a:r>
          </a:p>
          <a:p>
            <a:pPr lvl="1"/>
            <a:r>
              <a:rPr lang="en-US" sz="2000" dirty="0">
                <a:solidFill>
                  <a:schemeClr val="tx1"/>
                </a:solidFill>
                <a:ea typeface="+mn-lt"/>
                <a:cs typeface="+mn-lt"/>
              </a:rPr>
              <a:t>Eat essential nutrient rich dense foods</a:t>
            </a:r>
            <a:endParaRPr lang="en-US" sz="2000" dirty="0">
              <a:ea typeface="+mn-lt"/>
              <a:cs typeface="+mn-lt"/>
            </a:endParaRPr>
          </a:p>
          <a:p>
            <a:pPr lvl="1"/>
            <a:r>
              <a:rPr lang="en-US" sz="2000" dirty="0">
                <a:solidFill>
                  <a:schemeClr val="tx1"/>
                </a:solidFill>
                <a:ea typeface="+mn-lt"/>
                <a:cs typeface="+mn-lt"/>
              </a:rPr>
              <a:t>Find ways to make meals appealing</a:t>
            </a:r>
            <a:endParaRPr lang="en-US" sz="2000" dirty="0">
              <a:ea typeface="+mn-lt"/>
              <a:cs typeface="+mn-lt"/>
            </a:endParaRPr>
          </a:p>
          <a:p>
            <a:pPr lvl="1"/>
            <a:r>
              <a:rPr lang="en-US" sz="2000" dirty="0">
                <a:solidFill>
                  <a:schemeClr val="tx1"/>
                </a:solidFill>
                <a:ea typeface="+mn-lt"/>
                <a:cs typeface="+mn-lt"/>
              </a:rPr>
              <a:t>Eat small meals frequently with nutritious calories</a:t>
            </a:r>
            <a:endParaRPr lang="en-US" sz="2000" dirty="0"/>
          </a:p>
        </p:txBody>
      </p:sp>
      <p:sp>
        <p:nvSpPr>
          <p:cNvPr id="9" name="TextBox 8">
            <a:extLst>
              <a:ext uri="{FF2B5EF4-FFF2-40B4-BE49-F238E27FC236}">
                <a16:creationId xmlns:a16="http://schemas.microsoft.com/office/drawing/2014/main" id="{29E15E17-C6B8-45FE-9FD5-E9210A4F2B7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6855242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6194" name="Rectangle 2"/>
          <p:cNvSpPr>
            <a:spLocks noGrp="1" noChangeArrowheads="1"/>
          </p:cNvSpPr>
          <p:nvPr>
            <p:ph type="title"/>
          </p:nvPr>
        </p:nvSpPr>
        <p:spPr>
          <a:xfrm>
            <a:off x="1200565" y="1087374"/>
            <a:ext cx="6737617" cy="1000978"/>
          </a:xfrm>
        </p:spPr>
        <p:txBody>
          <a:bodyPr>
            <a:normAutofit/>
          </a:bodyPr>
          <a:lstStyle/>
          <a:p>
            <a:r>
              <a:rPr lang="en-US"/>
              <a:t>Geriatric Nutrition (65 + years)</a:t>
            </a:r>
            <a:endParaRPr lang="en-US" dirty="0">
              <a:latin typeface="Comic Sans MS" pitchFamily="66" charset="0"/>
            </a:endParaRP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6195" name="Rectangle 3"/>
          <p:cNvSpPr>
            <a:spLocks noGrp="1" noChangeArrowheads="1"/>
          </p:cNvSpPr>
          <p:nvPr>
            <p:ph idx="1"/>
          </p:nvPr>
        </p:nvSpPr>
        <p:spPr>
          <a:xfrm>
            <a:off x="1200564" y="2535446"/>
            <a:ext cx="6737617" cy="3554457"/>
          </a:xfrm>
        </p:spPr>
        <p:txBody>
          <a:bodyPr>
            <a:normAutofit/>
          </a:bodyPr>
          <a:lstStyle/>
          <a:p>
            <a:pPr eaLnBrk="1" hangingPunct="1"/>
            <a:r>
              <a:rPr lang="en-US" sz="2400" u="sng" dirty="0">
                <a:solidFill>
                  <a:schemeClr val="tx1"/>
                </a:solidFill>
                <a:latin typeface="+mj-lt"/>
              </a:rPr>
              <a:t>Planning:</a:t>
            </a:r>
          </a:p>
          <a:p>
            <a:pPr lvl="1" eaLnBrk="1" hangingPunct="1"/>
            <a:r>
              <a:rPr lang="en-US" sz="2400" dirty="0">
                <a:solidFill>
                  <a:schemeClr val="tx1"/>
                </a:solidFill>
                <a:latin typeface="+mj-lt"/>
              </a:rPr>
              <a:t>Light meals – easy to digest!</a:t>
            </a:r>
          </a:p>
          <a:p>
            <a:pPr lvl="1" eaLnBrk="1" hangingPunct="1"/>
            <a:r>
              <a:rPr lang="en-US" sz="2400" dirty="0">
                <a:solidFill>
                  <a:schemeClr val="tx1"/>
                </a:solidFill>
                <a:latin typeface="+mj-lt"/>
              </a:rPr>
              <a:t>Well balanced: iron, calcium, fiber, less fat</a:t>
            </a:r>
          </a:p>
          <a:p>
            <a:pPr lvl="1" eaLnBrk="1" hangingPunct="1"/>
            <a:r>
              <a:rPr lang="en-US" sz="2400" dirty="0">
                <a:solidFill>
                  <a:schemeClr val="tx1"/>
                </a:solidFill>
                <a:latin typeface="+mj-lt"/>
              </a:rPr>
              <a:t>Calories to fit needs: </a:t>
            </a:r>
          </a:p>
          <a:p>
            <a:pPr lvl="1" eaLnBrk="1" hangingPunct="1"/>
            <a:r>
              <a:rPr lang="en-US" sz="2400" dirty="0">
                <a:solidFill>
                  <a:schemeClr val="tx1"/>
                </a:solidFill>
                <a:latin typeface="+mj-lt"/>
              </a:rPr>
              <a:t>Respect individual preferences</a:t>
            </a:r>
          </a:p>
          <a:p>
            <a:pPr lvl="1" eaLnBrk="1" hangingPunct="1"/>
            <a:r>
              <a:rPr lang="en-US" sz="2400" dirty="0">
                <a:solidFill>
                  <a:schemeClr val="tx1"/>
                </a:solidFill>
                <a:latin typeface="+mj-lt"/>
              </a:rPr>
              <a:t>Encourage them to eat with others if possible</a:t>
            </a:r>
          </a:p>
        </p:txBody>
      </p:sp>
      <p:sp>
        <p:nvSpPr>
          <p:cNvPr id="9" name="TextBox 8">
            <a:extLst>
              <a:ext uri="{FF2B5EF4-FFF2-40B4-BE49-F238E27FC236}">
                <a16:creationId xmlns:a16="http://schemas.microsoft.com/office/drawing/2014/main" id="{B4B07D06-DD6C-4379-83E9-AE93D5757A8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889353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CB48-A823-44D3-A043-4DD09C2747B4}"/>
              </a:ext>
            </a:extLst>
          </p:cNvPr>
          <p:cNvSpPr>
            <a:spLocks noGrp="1"/>
          </p:cNvSpPr>
          <p:nvPr>
            <p:ph type="title"/>
          </p:nvPr>
        </p:nvSpPr>
        <p:spPr/>
        <p:txBody>
          <a:bodyPr/>
          <a:lstStyle/>
          <a:p>
            <a:r>
              <a:rPr lang="en-US"/>
              <a:t>Obesity</a:t>
            </a:r>
          </a:p>
        </p:txBody>
      </p:sp>
      <p:sp>
        <p:nvSpPr>
          <p:cNvPr id="3" name="Content Placeholder 2">
            <a:extLst>
              <a:ext uri="{FF2B5EF4-FFF2-40B4-BE49-F238E27FC236}">
                <a16:creationId xmlns:a16="http://schemas.microsoft.com/office/drawing/2014/main" id="{4FA92976-DA98-4FE5-A49C-0A8BB63DCE73}"/>
              </a:ext>
            </a:extLst>
          </p:cNvPr>
          <p:cNvSpPr>
            <a:spLocks noGrp="1"/>
          </p:cNvSpPr>
          <p:nvPr>
            <p:ph idx="1"/>
          </p:nvPr>
        </p:nvSpPr>
        <p:spPr/>
        <p:txBody>
          <a:bodyPr>
            <a:normAutofit lnSpcReduction="10000"/>
          </a:bodyPr>
          <a:lstStyle/>
          <a:p>
            <a:r>
              <a:rPr lang="en-US" b="1" dirty="0"/>
              <a:t>Obesity</a:t>
            </a:r>
            <a:r>
              <a:rPr lang="en-US" dirty="0"/>
              <a:t> is caused by a caloric intake that exceeds energy expenditure. Having a large waist results in an apple-shaped body. </a:t>
            </a:r>
          </a:p>
          <a:p>
            <a:r>
              <a:rPr lang="en-US" dirty="0"/>
              <a:t>This is associated with greater health risks, especially for heart disease and cancer. </a:t>
            </a:r>
          </a:p>
          <a:p>
            <a:r>
              <a:rPr lang="en-US" dirty="0"/>
              <a:t>The metabolic activity increases substances such as triglycerides, low-density lipoprotein (LDL) cholesterol, and serum glucose that contribute to health risks.</a:t>
            </a:r>
            <a:endParaRPr lang="en-US" dirty="0">
              <a:ea typeface="+mn-lt"/>
              <a:cs typeface="+mn-lt"/>
            </a:endParaRPr>
          </a:p>
          <a:p>
            <a:r>
              <a:rPr lang="en-US" dirty="0">
                <a:ea typeface="+mn-lt"/>
                <a:cs typeface="+mn-lt"/>
              </a:rPr>
              <a:t>Being overweight or obese results from eating more calories than you use each day.</a:t>
            </a:r>
          </a:p>
          <a:p>
            <a:r>
              <a:rPr lang="en-US" dirty="0">
                <a:ea typeface="+mn-lt"/>
                <a:cs typeface="+mn-lt"/>
              </a:rPr>
              <a:t>Obesity is measured by many scales, most commonly through measurement of the </a:t>
            </a:r>
            <a:r>
              <a:rPr lang="en-US" b="1" dirty="0">
                <a:ea typeface="+mn-lt"/>
                <a:cs typeface="+mn-lt"/>
              </a:rPr>
              <a:t>body mass index</a:t>
            </a:r>
            <a:r>
              <a:rPr lang="en-US" dirty="0">
                <a:ea typeface="+mn-lt"/>
                <a:cs typeface="+mn-lt"/>
              </a:rPr>
              <a:t> (BMI).</a:t>
            </a:r>
          </a:p>
          <a:p>
            <a:r>
              <a:rPr lang="en-US" dirty="0">
                <a:ea typeface="+mn-lt"/>
                <a:cs typeface="+mn-lt"/>
              </a:rPr>
              <a:t>Those whose BMI is between 25 and 29.9 are overweight, and those with a BMI of 30 or greater are classified as obese.</a:t>
            </a:r>
            <a:endParaRPr lang="en-US" dirty="0"/>
          </a:p>
        </p:txBody>
      </p:sp>
      <p:sp>
        <p:nvSpPr>
          <p:cNvPr id="4" name="TextBox 3">
            <a:extLst>
              <a:ext uri="{FF2B5EF4-FFF2-40B4-BE49-F238E27FC236}">
                <a16:creationId xmlns:a16="http://schemas.microsoft.com/office/drawing/2014/main" id="{6EF22C3F-3A28-4077-A35E-B8AD8BD9336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808180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CB48-A823-44D3-A043-4DD09C2747B4}"/>
              </a:ext>
            </a:extLst>
          </p:cNvPr>
          <p:cNvSpPr>
            <a:spLocks noGrp="1"/>
          </p:cNvSpPr>
          <p:nvPr>
            <p:ph type="title"/>
          </p:nvPr>
        </p:nvSpPr>
        <p:spPr/>
        <p:txBody>
          <a:bodyPr/>
          <a:lstStyle/>
          <a:p>
            <a:r>
              <a:rPr lang="en-US"/>
              <a:t>Malnutrition</a:t>
            </a:r>
            <a:endParaRPr lang="en-US" dirty="0"/>
          </a:p>
        </p:txBody>
      </p:sp>
      <p:sp>
        <p:nvSpPr>
          <p:cNvPr id="3" name="Content Placeholder 2">
            <a:extLst>
              <a:ext uri="{FF2B5EF4-FFF2-40B4-BE49-F238E27FC236}">
                <a16:creationId xmlns:a16="http://schemas.microsoft.com/office/drawing/2014/main" id="{4FA92976-DA98-4FE5-A49C-0A8BB63DCE73}"/>
              </a:ext>
            </a:extLst>
          </p:cNvPr>
          <p:cNvSpPr>
            <a:spLocks noGrp="1"/>
          </p:cNvSpPr>
          <p:nvPr>
            <p:ph idx="1"/>
          </p:nvPr>
        </p:nvSpPr>
        <p:spPr/>
        <p:txBody>
          <a:bodyPr>
            <a:normAutofit/>
          </a:bodyPr>
          <a:lstStyle/>
          <a:p>
            <a:pPr marL="0" indent="0">
              <a:buNone/>
            </a:pPr>
            <a:endParaRPr lang="en-US" sz="2400" dirty="0">
              <a:ea typeface="+mn-lt"/>
              <a:cs typeface="+mn-lt"/>
            </a:endParaRPr>
          </a:p>
          <a:p>
            <a:r>
              <a:rPr lang="en-US" sz="2400" dirty="0">
                <a:ea typeface="+mn-lt"/>
                <a:cs typeface="+mn-lt"/>
              </a:rPr>
              <a:t>Malnutrition occurs when the body doesn't get enough nutrients. Causes include a poor diet, digestive conditions, or another disease.</a:t>
            </a:r>
          </a:p>
          <a:p>
            <a:r>
              <a:rPr lang="en-US" sz="2400" dirty="0">
                <a:ea typeface="+mn-lt"/>
                <a:cs typeface="+mn-lt"/>
              </a:rPr>
              <a:t>Those whose BMI less than 18.5</a:t>
            </a:r>
          </a:p>
          <a:p>
            <a:r>
              <a:rPr lang="en-US" sz="2400" dirty="0">
                <a:ea typeface="+mn-lt"/>
                <a:cs typeface="+mn-lt"/>
              </a:rPr>
              <a:t>Symptoms are fatigue, dizziness, and weight loss. Untreated malnutrition can cause physical or mental disability.</a:t>
            </a:r>
            <a:endParaRPr lang="en-US" sz="2400" dirty="0"/>
          </a:p>
          <a:p>
            <a:r>
              <a:rPr lang="en-US" sz="2400" dirty="0">
                <a:ea typeface="+mn-lt"/>
                <a:cs typeface="+mn-lt"/>
              </a:rPr>
              <a:t>Treatment must address any underlying conditions and replace missing nutrients.</a:t>
            </a:r>
            <a:endParaRPr lang="en-US" sz="2400" dirty="0"/>
          </a:p>
          <a:p>
            <a:endParaRPr lang="en-US" sz="2400" dirty="0">
              <a:ea typeface="+mn-lt"/>
              <a:cs typeface="+mn-lt"/>
            </a:endParaRPr>
          </a:p>
          <a:p>
            <a:endParaRPr lang="en-US" sz="2400" dirty="0"/>
          </a:p>
        </p:txBody>
      </p:sp>
      <p:sp>
        <p:nvSpPr>
          <p:cNvPr id="4" name="TextBox 3">
            <a:extLst>
              <a:ext uri="{FF2B5EF4-FFF2-40B4-BE49-F238E27FC236}">
                <a16:creationId xmlns:a16="http://schemas.microsoft.com/office/drawing/2014/main" id="{84EE1A00-A1BB-49F5-96ED-E008E96658A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105457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1154337" y="864108"/>
            <a:ext cx="2305435" cy="5120639"/>
          </a:xfrm>
        </p:spPr>
        <p:txBody>
          <a:bodyPr>
            <a:normAutofit/>
          </a:bodyPr>
          <a:lstStyle/>
          <a:p>
            <a:pPr algn="r"/>
            <a:r>
              <a:rPr lang="en-US" sz="2600">
                <a:solidFill>
                  <a:schemeClr val="tx1">
                    <a:lumMod val="85000"/>
                    <a:lumOff val="15000"/>
                  </a:schemeClr>
                </a:solidFill>
              </a:rPr>
              <a:t>Nutrition &amp; Cultural Considerations:</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966921" y="864108"/>
            <a:ext cx="4433008" cy="5120640"/>
          </a:xfrm>
        </p:spPr>
        <p:txBody>
          <a:bodyPr>
            <a:normAutofit/>
          </a:bodyPr>
          <a:lstStyle/>
          <a:p>
            <a:r>
              <a:rPr lang="en-US" sz="2400" dirty="0"/>
              <a:t>If the patient is unfamiliar with the food being served in the hospital and is unable to eat/refusing to eat:</a:t>
            </a:r>
          </a:p>
          <a:p>
            <a:pPr lvl="1"/>
            <a:r>
              <a:rPr lang="en-US" sz="2400" dirty="0"/>
              <a:t>Encourage the family to bring in food from home that the client is familiar with.</a:t>
            </a:r>
          </a:p>
          <a:p>
            <a:pPr lvl="1"/>
            <a:r>
              <a:rPr lang="en-US" sz="2400" dirty="0"/>
              <a:t>The best approach to assisting a client to change eating behaviors is to relate changes to individual culture and lifestyle.</a:t>
            </a:r>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BB8B93F-0C70-4D88-B5EB-AB223165A576}"/>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887653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58370"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Serving Food</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8371" name="Rectangle 3"/>
          <p:cNvSpPr>
            <a:spLocks noGrp="1" noChangeArrowheads="1"/>
          </p:cNvSpPr>
          <p:nvPr>
            <p:ph idx="1"/>
          </p:nvPr>
        </p:nvSpPr>
        <p:spPr>
          <a:xfrm>
            <a:off x="3966921" y="864108"/>
            <a:ext cx="4433008" cy="5120640"/>
          </a:xfrm>
        </p:spPr>
        <p:txBody>
          <a:bodyPr>
            <a:normAutofit/>
          </a:bodyPr>
          <a:lstStyle/>
          <a:p>
            <a:pPr eaLnBrk="1" hangingPunct="1"/>
            <a:r>
              <a:rPr lang="en-US" sz="2400" dirty="0">
                <a:latin typeface="+mj-lt"/>
              </a:rPr>
              <a:t>Assist the client as needed</a:t>
            </a:r>
          </a:p>
          <a:p>
            <a:pPr lvl="1" eaLnBrk="1" hangingPunct="1"/>
            <a:r>
              <a:rPr lang="en-US" sz="2400" dirty="0">
                <a:latin typeface="+mj-lt"/>
              </a:rPr>
              <a:t>First, SIT THEM UP</a:t>
            </a:r>
          </a:p>
          <a:p>
            <a:pPr lvl="1" eaLnBrk="1" hangingPunct="1"/>
            <a:r>
              <a:rPr lang="en-US" sz="2400" dirty="0">
                <a:latin typeface="+mj-lt"/>
              </a:rPr>
              <a:t>Take to Bathroom</a:t>
            </a:r>
          </a:p>
          <a:p>
            <a:pPr lvl="1" eaLnBrk="1" hangingPunct="1"/>
            <a:r>
              <a:rPr lang="en-US" sz="2400" dirty="0">
                <a:latin typeface="+mj-lt"/>
              </a:rPr>
              <a:t>Glasses, dentures</a:t>
            </a:r>
          </a:p>
          <a:p>
            <a:pPr lvl="1" eaLnBrk="1" hangingPunct="1"/>
            <a:r>
              <a:rPr lang="en-US" sz="2400" dirty="0">
                <a:latin typeface="+mj-lt"/>
              </a:rPr>
              <a:t>Wash hands, face, do oral hygiene</a:t>
            </a:r>
          </a:p>
          <a:p>
            <a:pPr eaLnBrk="1" hangingPunct="1"/>
            <a:r>
              <a:rPr lang="en-US" sz="2400" dirty="0">
                <a:latin typeface="+mj-lt"/>
              </a:rPr>
              <a:t>Check each tray with diet order, check utensils, food on tray, condiments being served</a:t>
            </a:r>
          </a:p>
          <a:p>
            <a:pPr lvl="1" eaLnBrk="1" hangingPunct="1"/>
            <a:r>
              <a:rPr lang="en-US" sz="2400" dirty="0">
                <a:latin typeface="+mj-lt"/>
              </a:rPr>
              <a:t>Especially be aware if they are NPO</a:t>
            </a:r>
          </a:p>
          <a:p>
            <a:pPr eaLnBrk="1" hangingPunct="1"/>
            <a:r>
              <a:rPr lang="en-US" sz="2400" dirty="0">
                <a:latin typeface="+mj-lt"/>
              </a:rPr>
              <a:t>Check the client’s name band, allergy bracelet</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39CCCA0-640A-495E-B5A2-B330C89D52F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752338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25954"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Serving Food</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5955" name="Rectangle 3"/>
          <p:cNvSpPr>
            <a:spLocks noGrp="1" noChangeArrowheads="1"/>
          </p:cNvSpPr>
          <p:nvPr>
            <p:ph idx="1"/>
          </p:nvPr>
        </p:nvSpPr>
        <p:spPr>
          <a:xfrm>
            <a:off x="3966921" y="864108"/>
            <a:ext cx="4433008" cy="5120640"/>
          </a:xfrm>
        </p:spPr>
        <p:txBody>
          <a:bodyPr>
            <a:noAutofit/>
          </a:bodyPr>
          <a:lstStyle/>
          <a:p>
            <a:pPr eaLnBrk="1" hangingPunct="1"/>
            <a:r>
              <a:rPr lang="en-US" sz="2400" dirty="0">
                <a:latin typeface="+mj-lt"/>
              </a:rPr>
              <a:t>Serve hot food hot, &amp; cold foods cold</a:t>
            </a:r>
          </a:p>
          <a:p>
            <a:pPr eaLnBrk="1" hangingPunct="1"/>
            <a:r>
              <a:rPr lang="en-US" sz="2400" dirty="0">
                <a:latin typeface="+mj-lt"/>
              </a:rPr>
              <a:t>Fill bowls &amp; glasses ¾ full</a:t>
            </a:r>
          </a:p>
          <a:p>
            <a:pPr eaLnBrk="1" hangingPunct="1"/>
            <a:r>
              <a:rPr lang="en-US" sz="2400" dirty="0">
                <a:latin typeface="+mj-lt"/>
              </a:rPr>
              <a:t>No large quantities</a:t>
            </a:r>
          </a:p>
          <a:p>
            <a:pPr eaLnBrk="1" hangingPunct="1"/>
            <a:r>
              <a:rPr lang="en-US" sz="2400" dirty="0">
                <a:latin typeface="+mj-lt"/>
              </a:rPr>
              <a:t>Be pleasant</a:t>
            </a:r>
          </a:p>
          <a:p>
            <a:pPr eaLnBrk="1" hangingPunct="1"/>
            <a:r>
              <a:rPr lang="en-US" sz="2400" dirty="0">
                <a:latin typeface="+mj-lt"/>
              </a:rPr>
              <a:t>Open cartons, packages, &amp; cut up meat if necessary</a:t>
            </a:r>
          </a:p>
          <a:p>
            <a:pPr eaLnBrk="1" hangingPunct="1"/>
            <a:r>
              <a:rPr lang="en-US" sz="2400" dirty="0">
                <a:latin typeface="+mj-lt"/>
              </a:rPr>
              <a:t>Check on the client periodically &amp; if not eating determine the reason</a:t>
            </a:r>
          </a:p>
          <a:p>
            <a:pPr eaLnBrk="1" hangingPunct="1"/>
            <a:r>
              <a:rPr lang="en-US" sz="2400" dirty="0">
                <a:latin typeface="+mj-lt"/>
              </a:rPr>
              <a:t>Note how much food the client ate, liquid drank, &amp; document!</a:t>
            </a:r>
          </a:p>
          <a:p>
            <a:pPr lvl="1" eaLnBrk="1" hangingPunct="1"/>
            <a:r>
              <a:rPr lang="en-US" sz="2400" dirty="0">
                <a:latin typeface="+mj-lt"/>
              </a:rPr>
              <a:t>Document fluids in </a:t>
            </a:r>
            <a:r>
              <a:rPr lang="en-US" sz="2400" dirty="0" err="1">
                <a:latin typeface="+mj-lt"/>
              </a:rPr>
              <a:t>mls</a:t>
            </a:r>
            <a:endParaRPr lang="en-US" sz="2400" dirty="0">
              <a:latin typeface="+mj-lt"/>
            </a:endParaRP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7A517A7-B6BA-4379-AF90-8E8BC31897D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311833295"/>
      </p:ext>
    </p:extLst>
  </p:cSld>
  <p:clrMapOvr>
    <a:masterClrMapping/>
  </p:clrMapOvr>
  <p:transition>
    <p:wedg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54274"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Stimulating Appetite</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4275" name="Rectangle 3"/>
          <p:cNvSpPr>
            <a:spLocks noGrp="1" noChangeArrowheads="1"/>
          </p:cNvSpPr>
          <p:nvPr>
            <p:ph idx="1"/>
          </p:nvPr>
        </p:nvSpPr>
        <p:spPr>
          <a:xfrm>
            <a:off x="3966921" y="864108"/>
            <a:ext cx="4433008" cy="5120640"/>
          </a:xfrm>
        </p:spPr>
        <p:txBody>
          <a:bodyPr>
            <a:noAutofit/>
          </a:bodyPr>
          <a:lstStyle/>
          <a:p>
            <a:pPr eaLnBrk="1" hangingPunct="1"/>
            <a:r>
              <a:rPr lang="en-US" sz="2400" dirty="0">
                <a:latin typeface="+mj-lt"/>
              </a:rPr>
              <a:t>Assess the cause-eliminate the reason</a:t>
            </a:r>
          </a:p>
          <a:p>
            <a:pPr eaLnBrk="1" hangingPunct="1"/>
            <a:r>
              <a:rPr lang="en-US" sz="2400" dirty="0">
                <a:latin typeface="+mj-lt"/>
              </a:rPr>
              <a:t>Small frequent meals, attractive, small servings</a:t>
            </a:r>
          </a:p>
          <a:p>
            <a:pPr eaLnBrk="1" hangingPunct="1"/>
            <a:r>
              <a:rPr lang="en-US" sz="2400" dirty="0">
                <a:latin typeface="+mj-lt"/>
              </a:rPr>
              <a:t>Pt choice of foods-bring from home</a:t>
            </a:r>
          </a:p>
          <a:p>
            <a:pPr eaLnBrk="1" hangingPunct="1"/>
            <a:r>
              <a:rPr lang="en-US" sz="2400" dirty="0">
                <a:latin typeface="+mj-lt"/>
              </a:rPr>
              <a:t>Seasoning to taste</a:t>
            </a:r>
          </a:p>
          <a:p>
            <a:pPr eaLnBrk="1" hangingPunct="1"/>
            <a:r>
              <a:rPr lang="en-US" sz="2400" dirty="0">
                <a:latin typeface="+mj-lt"/>
              </a:rPr>
              <a:t>Liquid supplements</a:t>
            </a:r>
          </a:p>
          <a:p>
            <a:pPr eaLnBrk="1" hangingPunct="1"/>
            <a:r>
              <a:rPr lang="en-US" sz="2400" dirty="0">
                <a:latin typeface="+mj-lt"/>
              </a:rPr>
              <a:t>Exercise throughout day</a:t>
            </a:r>
          </a:p>
          <a:p>
            <a:pPr eaLnBrk="1" hangingPunct="1"/>
            <a:r>
              <a:rPr lang="en-US" sz="2400" dirty="0">
                <a:latin typeface="+mj-lt"/>
              </a:rPr>
              <a:t>Oral hygiene before meals</a:t>
            </a:r>
          </a:p>
          <a:p>
            <a:pPr eaLnBrk="1" hangingPunct="1"/>
            <a:r>
              <a:rPr lang="en-US" sz="2400" dirty="0">
                <a:latin typeface="+mj-lt"/>
              </a:rPr>
              <a:t>Sitting position for eating</a:t>
            </a:r>
          </a:p>
          <a:p>
            <a:pPr eaLnBrk="1" hangingPunct="1"/>
            <a:r>
              <a:rPr lang="en-US" sz="2400" dirty="0">
                <a:latin typeface="+mj-lt"/>
              </a:rPr>
              <a:t>Pain medication</a:t>
            </a:r>
          </a:p>
          <a:p>
            <a:pPr eaLnBrk="1" hangingPunct="1"/>
            <a:r>
              <a:rPr lang="en-US" sz="2400" dirty="0">
                <a:latin typeface="+mj-lt"/>
              </a:rPr>
              <a:t>Appetite stimulants</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0A0E44E-7538-417E-B68C-B93909474F23}"/>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9549969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0418"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Assistance with Feeding</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0419" name="Rectangle 3"/>
          <p:cNvSpPr>
            <a:spLocks noGrp="1" noChangeArrowheads="1"/>
          </p:cNvSpPr>
          <p:nvPr>
            <p:ph idx="1"/>
          </p:nvPr>
        </p:nvSpPr>
        <p:spPr>
          <a:xfrm>
            <a:off x="3966921" y="864108"/>
            <a:ext cx="4433008" cy="5120640"/>
          </a:xfrm>
        </p:spPr>
        <p:txBody>
          <a:bodyPr>
            <a:normAutofit/>
          </a:bodyPr>
          <a:lstStyle/>
          <a:p>
            <a:pPr eaLnBrk="1" hangingPunct="1">
              <a:buFont typeface="Wingdings" pitchFamily="2" charset="2"/>
              <a:buNone/>
            </a:pPr>
            <a:r>
              <a:rPr lang="en-US" sz="2400" dirty="0">
                <a:latin typeface="Comic Sans MS" pitchFamily="66" charset="0"/>
              </a:rPr>
              <a:t>*</a:t>
            </a:r>
            <a:r>
              <a:rPr lang="en-US" sz="2400" dirty="0">
                <a:latin typeface="+mj-lt"/>
              </a:rPr>
              <a:t>REQUIRED BY THE CONFUSED, VERY YOUNG, HELPLESS, SICK OR IMMOBILE</a:t>
            </a:r>
          </a:p>
          <a:p>
            <a:pPr lvl="1" eaLnBrk="1" hangingPunct="1">
              <a:buFontTx/>
              <a:buChar char="•"/>
            </a:pPr>
            <a:r>
              <a:rPr lang="en-US" sz="2400" dirty="0">
                <a:latin typeface="+mj-lt"/>
              </a:rPr>
              <a:t>Wash hands</a:t>
            </a:r>
          </a:p>
          <a:p>
            <a:pPr lvl="1" eaLnBrk="1" hangingPunct="1">
              <a:buFontTx/>
              <a:buChar char="•"/>
            </a:pPr>
            <a:r>
              <a:rPr lang="en-US" sz="2400" dirty="0">
                <a:latin typeface="+mj-lt"/>
              </a:rPr>
              <a:t>Provide comfort measures</a:t>
            </a:r>
          </a:p>
          <a:p>
            <a:pPr lvl="1" eaLnBrk="1" hangingPunct="1">
              <a:buFontTx/>
              <a:buChar char="•"/>
            </a:pPr>
            <a:r>
              <a:rPr lang="en-US" sz="2400" dirty="0">
                <a:latin typeface="+mj-lt"/>
              </a:rPr>
              <a:t>Provide napkin or towel</a:t>
            </a:r>
          </a:p>
          <a:p>
            <a:pPr lvl="1" eaLnBrk="1" hangingPunct="1">
              <a:buFontTx/>
              <a:buChar char="•"/>
            </a:pPr>
            <a:r>
              <a:rPr lang="en-US" sz="2400" dirty="0">
                <a:latin typeface="+mj-lt"/>
              </a:rPr>
              <a:t>Arrange tray</a:t>
            </a:r>
          </a:p>
          <a:p>
            <a:pPr lvl="1" eaLnBrk="1" hangingPunct="1">
              <a:buFontTx/>
              <a:buChar char="•"/>
            </a:pPr>
            <a:r>
              <a:rPr lang="en-US" sz="2400" dirty="0">
                <a:latin typeface="+mj-lt"/>
              </a:rPr>
              <a:t>Do not rush!!</a:t>
            </a:r>
          </a:p>
          <a:p>
            <a:pPr lvl="1" eaLnBrk="1" hangingPunct="1">
              <a:buFontTx/>
              <a:buChar char="•"/>
            </a:pPr>
            <a:r>
              <a:rPr lang="en-US" sz="2400" dirty="0">
                <a:latin typeface="+mj-lt"/>
              </a:rPr>
              <a:t>Sit down &amp; visit</a:t>
            </a:r>
          </a:p>
          <a:p>
            <a:pPr lvl="1" eaLnBrk="1" hangingPunct="1">
              <a:buFontTx/>
              <a:buChar char="•"/>
            </a:pPr>
            <a:r>
              <a:rPr lang="en-US" sz="2400" dirty="0">
                <a:latin typeface="+mj-lt"/>
              </a:rPr>
              <a:t>Use a spoon &amp; a straw for liquids-shorten the straw</a:t>
            </a:r>
          </a:p>
          <a:p>
            <a:pPr lvl="1" eaLnBrk="1" hangingPunct="1">
              <a:buFontTx/>
              <a:buChar char="•"/>
            </a:pPr>
            <a:r>
              <a:rPr lang="en-US" sz="2400" dirty="0">
                <a:latin typeface="+mj-lt"/>
              </a:rPr>
              <a:t>Give small bites</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84F348F-13CB-482E-ABF3-02E839470140}"/>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469919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1442"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Assistance with Feeding</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1443" name="Rectangle 3"/>
          <p:cNvSpPr>
            <a:spLocks noGrp="1" noChangeArrowheads="1"/>
          </p:cNvSpPr>
          <p:nvPr>
            <p:ph idx="1"/>
          </p:nvPr>
        </p:nvSpPr>
        <p:spPr>
          <a:xfrm>
            <a:off x="3966921" y="864108"/>
            <a:ext cx="4433008" cy="5120640"/>
          </a:xfrm>
        </p:spPr>
        <p:txBody>
          <a:bodyPr>
            <a:noAutofit/>
          </a:bodyPr>
          <a:lstStyle/>
          <a:p>
            <a:pPr eaLnBrk="1" hangingPunct="1">
              <a:buFontTx/>
              <a:buChar char="•"/>
            </a:pPr>
            <a:r>
              <a:rPr lang="en-US" sz="2400" dirty="0">
                <a:latin typeface="+mj-lt"/>
              </a:rPr>
              <a:t>Alternate food with liquid, especially if dry food</a:t>
            </a:r>
          </a:p>
          <a:p>
            <a:pPr eaLnBrk="1" hangingPunct="1">
              <a:buFontTx/>
              <a:buChar char="•"/>
            </a:pPr>
            <a:r>
              <a:rPr lang="en-US" sz="2400" dirty="0">
                <a:latin typeface="+mj-lt"/>
              </a:rPr>
              <a:t>Ask how he or she likes to eat or in what order</a:t>
            </a:r>
          </a:p>
          <a:p>
            <a:pPr eaLnBrk="1" hangingPunct="1">
              <a:buFontTx/>
              <a:buChar char="•"/>
            </a:pPr>
            <a:r>
              <a:rPr lang="en-US" sz="2400" dirty="0">
                <a:latin typeface="+mj-lt"/>
              </a:rPr>
              <a:t>Warn them of possible hot or cold</a:t>
            </a:r>
          </a:p>
          <a:p>
            <a:pPr eaLnBrk="1" hangingPunct="1">
              <a:buFontTx/>
              <a:buChar char="•"/>
            </a:pPr>
            <a:r>
              <a:rPr lang="en-US" sz="2400" dirty="0">
                <a:latin typeface="+mj-lt"/>
              </a:rPr>
              <a:t>Straw for soup</a:t>
            </a:r>
          </a:p>
          <a:p>
            <a:pPr eaLnBrk="1" hangingPunct="1">
              <a:buFontTx/>
              <a:buChar char="•"/>
            </a:pPr>
            <a:r>
              <a:rPr lang="en-US" sz="2400" dirty="0">
                <a:latin typeface="+mj-lt"/>
              </a:rPr>
              <a:t>Wipe chin/face as needed</a:t>
            </a:r>
          </a:p>
          <a:p>
            <a:pPr lvl="1" eaLnBrk="1" hangingPunct="1">
              <a:buFontTx/>
              <a:buChar char="•"/>
            </a:pPr>
            <a:r>
              <a:rPr lang="en-US" sz="2400" dirty="0">
                <a:latin typeface="+mj-lt"/>
              </a:rPr>
              <a:t>Don’t scrape food off face with a spoon</a:t>
            </a:r>
          </a:p>
          <a:p>
            <a:pPr eaLnBrk="1" hangingPunct="1">
              <a:buFontTx/>
              <a:buChar char="•"/>
            </a:pPr>
            <a:r>
              <a:rPr lang="en-US" sz="2400" dirty="0">
                <a:latin typeface="+mj-lt"/>
              </a:rPr>
              <a:t>Allow client to do as much as possible </a:t>
            </a:r>
          </a:p>
          <a:p>
            <a:pPr eaLnBrk="1" hangingPunct="1">
              <a:buFontTx/>
              <a:buChar char="•"/>
            </a:pPr>
            <a:r>
              <a:rPr lang="en-US" sz="2400" dirty="0">
                <a:latin typeface="+mj-lt"/>
              </a:rPr>
              <a:t>Record intake</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1D0EE0A-7BDA-4EC4-A3C0-472B2A97FAE2}"/>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8110582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43F0B9C6-9829-4B63-A066-F09110858078}"/>
              </a:ext>
            </a:extLst>
          </p:cNvPr>
          <p:cNvSpPr>
            <a:spLocks noGrp="1"/>
          </p:cNvSpPr>
          <p:nvPr>
            <p:ph type="title"/>
          </p:nvPr>
        </p:nvSpPr>
        <p:spPr>
          <a:xfrm>
            <a:off x="1200565" y="1087374"/>
            <a:ext cx="6737617" cy="1000978"/>
          </a:xfrm>
        </p:spPr>
        <p:txBody>
          <a:bodyPr>
            <a:normAutofit/>
          </a:bodyPr>
          <a:lstStyle/>
          <a:p>
            <a:r>
              <a:rPr lang="en-US" dirty="0"/>
              <a:t>Dentition</a:t>
            </a: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80BE642F-B765-4DB2-9F1E-5BA5BE728072}"/>
              </a:ext>
            </a:extLst>
          </p:cNvPr>
          <p:cNvSpPr>
            <a:spLocks noGrp="1"/>
          </p:cNvSpPr>
          <p:nvPr>
            <p:ph idx="1"/>
          </p:nvPr>
        </p:nvSpPr>
        <p:spPr>
          <a:xfrm>
            <a:off x="1200564" y="2535446"/>
            <a:ext cx="6737617" cy="3554457"/>
          </a:xfrm>
        </p:spPr>
        <p:txBody>
          <a:bodyPr>
            <a:noAutofit/>
          </a:bodyPr>
          <a:lstStyle/>
          <a:p>
            <a:r>
              <a:rPr lang="en-US" sz="2400" dirty="0">
                <a:ea typeface="+mn-lt"/>
                <a:cs typeface="+mn-lt"/>
              </a:rPr>
              <a:t>Poor nutrition can lead to all kinds of health issues, including oral health problems such as gum disease and cavities. </a:t>
            </a:r>
            <a:endParaRPr lang="en-US" sz="2400" dirty="0">
              <a:solidFill>
                <a:srgbClr val="000000"/>
              </a:solidFill>
              <a:ea typeface="+mn-lt"/>
              <a:cs typeface="+mn-lt"/>
            </a:endParaRPr>
          </a:p>
          <a:p>
            <a:r>
              <a:rPr lang="en-US" sz="2400" dirty="0">
                <a:ea typeface="+mn-lt"/>
                <a:cs typeface="+mn-lt"/>
              </a:rPr>
              <a:t>Studies show that people who have lost teeth or wear dentures don't eat as many fruits or vegetables and tend to have less nutritious diets overall.</a:t>
            </a:r>
          </a:p>
          <a:p>
            <a:r>
              <a:rPr lang="en-US" sz="2400" dirty="0">
                <a:ea typeface="+mn-lt"/>
                <a:cs typeface="+mn-lt"/>
              </a:rPr>
              <a:t>What you put in your mouth impacts not only your general health but also the health of your teeth and gums.</a:t>
            </a:r>
            <a:endParaRPr lang="en-US" sz="2400" dirty="0">
              <a:solidFill>
                <a:srgbClr val="595959"/>
              </a:solidFill>
            </a:endParaRPr>
          </a:p>
        </p:txBody>
      </p:sp>
      <p:sp>
        <p:nvSpPr>
          <p:cNvPr id="9" name="TextBox 8">
            <a:extLst>
              <a:ext uri="{FF2B5EF4-FFF2-40B4-BE49-F238E27FC236}">
                <a16:creationId xmlns:a16="http://schemas.microsoft.com/office/drawing/2014/main" id="{109F9BE2-0186-46D7-9A08-79B37492BD4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119267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7586"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Dysphagia</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7587" name="Rectangle 3"/>
          <p:cNvSpPr>
            <a:spLocks noGrp="1" noChangeArrowheads="1"/>
          </p:cNvSpPr>
          <p:nvPr>
            <p:ph idx="1"/>
          </p:nvPr>
        </p:nvSpPr>
        <p:spPr>
          <a:xfrm>
            <a:off x="3966921" y="864108"/>
            <a:ext cx="4433008" cy="5120640"/>
          </a:xfrm>
        </p:spPr>
        <p:txBody>
          <a:bodyPr>
            <a:normAutofit/>
          </a:bodyPr>
          <a:lstStyle/>
          <a:p>
            <a:pPr marL="0" indent="0">
              <a:buNone/>
            </a:pPr>
            <a:r>
              <a:rPr lang="en-US" sz="2400" b="1" u="sng" dirty="0">
                <a:latin typeface="+mj-lt"/>
              </a:rPr>
              <a:t>Difficulty swallowing</a:t>
            </a:r>
            <a:endParaRPr lang="en-US" sz="2400" b="1" u="sng" dirty="0"/>
          </a:p>
          <a:p>
            <a:pPr lvl="1">
              <a:buNone/>
            </a:pPr>
            <a:endParaRPr lang="en-US" sz="2400" dirty="0">
              <a:latin typeface="+mj-lt"/>
            </a:endParaRPr>
          </a:p>
          <a:p>
            <a:pPr eaLnBrk="1" hangingPunct="1">
              <a:buNone/>
            </a:pPr>
            <a:r>
              <a:rPr lang="en-US" sz="2400" u="sng" dirty="0">
                <a:latin typeface="+mj-lt"/>
              </a:rPr>
              <a:t>Causes of Dysphagia</a:t>
            </a:r>
          </a:p>
          <a:p>
            <a:pPr lvl="1">
              <a:buFontTx/>
              <a:buChar char="•"/>
            </a:pPr>
            <a:r>
              <a:rPr lang="en-US" sz="2400" dirty="0">
                <a:latin typeface="+mj-lt"/>
              </a:rPr>
              <a:t>Poor, loose-fitting teeth</a:t>
            </a:r>
          </a:p>
          <a:p>
            <a:pPr lvl="1">
              <a:buFontTx/>
              <a:buChar char="•"/>
            </a:pPr>
            <a:r>
              <a:rPr lang="en-US" sz="2400" dirty="0">
                <a:latin typeface="+mj-lt"/>
              </a:rPr>
              <a:t>Presence of artificial tubes ex NG tube, tracheostomy</a:t>
            </a:r>
          </a:p>
          <a:p>
            <a:pPr lvl="1">
              <a:buFontTx/>
              <a:buChar char="•"/>
            </a:pPr>
            <a:r>
              <a:rPr lang="en-US" sz="2400" dirty="0">
                <a:latin typeface="+mj-lt"/>
              </a:rPr>
              <a:t>Paralyzed vocal cords</a:t>
            </a:r>
          </a:p>
          <a:p>
            <a:pPr lvl="1">
              <a:buFontTx/>
              <a:buChar char="•"/>
            </a:pPr>
            <a:r>
              <a:rPr lang="en-US" sz="2400" dirty="0">
                <a:latin typeface="+mj-lt"/>
              </a:rPr>
              <a:t>Tumor in mouth, throat, or esophagus</a:t>
            </a:r>
          </a:p>
          <a:p>
            <a:pPr lvl="1">
              <a:buFontTx/>
              <a:buChar char="•"/>
            </a:pPr>
            <a:r>
              <a:rPr lang="en-US" sz="2400" dirty="0">
                <a:latin typeface="+mj-lt"/>
              </a:rPr>
              <a:t>Surgery to head, neck, or esophageal areas</a:t>
            </a:r>
          </a:p>
          <a:p>
            <a:pPr lvl="1">
              <a:buFontTx/>
              <a:buChar char="•"/>
            </a:pPr>
            <a:r>
              <a:rPr lang="en-US" sz="2400" dirty="0">
                <a:latin typeface="+mj-lt"/>
              </a:rPr>
              <a:t>Neuromuscular disorders ex. CVA</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4DBF4C-A786-4D90-92E2-FFABA337583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4687833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8610"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Dysphagia</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8611" name="Rectangle 3"/>
          <p:cNvSpPr>
            <a:spLocks noGrp="1" noChangeArrowheads="1"/>
          </p:cNvSpPr>
          <p:nvPr>
            <p:ph idx="1"/>
          </p:nvPr>
        </p:nvSpPr>
        <p:spPr>
          <a:xfrm>
            <a:off x="3966921" y="864108"/>
            <a:ext cx="4433008" cy="5120640"/>
          </a:xfrm>
        </p:spPr>
        <p:txBody>
          <a:bodyPr>
            <a:normAutofit/>
          </a:bodyPr>
          <a:lstStyle/>
          <a:p>
            <a:pPr eaLnBrk="1" hangingPunct="1">
              <a:buNone/>
            </a:pPr>
            <a:r>
              <a:rPr lang="en-US" sz="2400" b="1" u="sng" dirty="0">
                <a:latin typeface="+mj-lt"/>
              </a:rPr>
              <a:t>Symptoms</a:t>
            </a:r>
          </a:p>
          <a:p>
            <a:pPr eaLnBrk="1" hangingPunct="1">
              <a:buFontTx/>
              <a:buChar char="•"/>
            </a:pPr>
            <a:r>
              <a:rPr lang="en-US" sz="2400" dirty="0">
                <a:latin typeface="+mj-lt"/>
              </a:rPr>
              <a:t>Drooling</a:t>
            </a:r>
          </a:p>
          <a:p>
            <a:pPr eaLnBrk="1" hangingPunct="1">
              <a:buFontTx/>
              <a:buChar char="•"/>
            </a:pPr>
            <a:r>
              <a:rPr lang="en-US" sz="2400" dirty="0">
                <a:latin typeface="+mj-lt"/>
              </a:rPr>
              <a:t>Feeling that food is sticking in throat during or after meal</a:t>
            </a:r>
          </a:p>
          <a:p>
            <a:pPr eaLnBrk="1" hangingPunct="1">
              <a:buFontTx/>
              <a:buChar char="•"/>
            </a:pPr>
            <a:r>
              <a:rPr lang="en-US" sz="2400" dirty="0">
                <a:latin typeface="+mj-lt"/>
              </a:rPr>
              <a:t>Sensation of a “lump” in the throat</a:t>
            </a:r>
          </a:p>
          <a:p>
            <a:pPr eaLnBrk="1" hangingPunct="1">
              <a:buFontTx/>
              <a:buChar char="•"/>
            </a:pPr>
            <a:r>
              <a:rPr lang="en-US" sz="2400" dirty="0">
                <a:latin typeface="+mj-lt"/>
              </a:rPr>
              <a:t>Weight loss</a:t>
            </a:r>
          </a:p>
          <a:p>
            <a:pPr eaLnBrk="1" hangingPunct="1">
              <a:buFontTx/>
              <a:buChar char="•"/>
            </a:pPr>
            <a:r>
              <a:rPr lang="en-US" sz="2400" dirty="0">
                <a:latin typeface="+mj-lt"/>
              </a:rPr>
              <a:t>Poor nutritional intake</a:t>
            </a:r>
          </a:p>
          <a:p>
            <a:pPr eaLnBrk="1" hangingPunct="1">
              <a:buFontTx/>
              <a:buChar char="•"/>
            </a:pPr>
            <a:r>
              <a:rPr lang="en-US" sz="2400" dirty="0">
                <a:latin typeface="+mj-lt"/>
              </a:rPr>
              <a:t>Choking and coughing with eating</a:t>
            </a:r>
          </a:p>
          <a:p>
            <a:pPr eaLnBrk="1" hangingPunct="1">
              <a:buFontTx/>
              <a:buChar char="•"/>
            </a:pPr>
            <a:r>
              <a:rPr lang="en-US" sz="2400" dirty="0">
                <a:latin typeface="+mj-lt"/>
              </a:rPr>
              <a:t>Frequent respiratory  infections (aspiration pneumonia)</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0499D7A-DE8E-426D-AD45-B8FF2543FFB6}"/>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418602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6562" name="Rectangle 2"/>
          <p:cNvSpPr>
            <a:spLocks noGrp="1" noChangeArrowheads="1"/>
          </p:cNvSpPr>
          <p:nvPr>
            <p:ph type="title"/>
          </p:nvPr>
        </p:nvSpPr>
        <p:spPr>
          <a:xfrm>
            <a:off x="1154337" y="864108"/>
            <a:ext cx="2305435" cy="5120639"/>
          </a:xfrm>
        </p:spPr>
        <p:txBody>
          <a:bodyPr>
            <a:normAutofit/>
          </a:bodyPr>
          <a:lstStyle/>
          <a:p>
            <a:pPr algn="r" eaLnBrk="1" hangingPunct="1"/>
            <a:r>
              <a:rPr lang="en-US" u="sng">
                <a:solidFill>
                  <a:schemeClr val="tx1">
                    <a:lumMod val="85000"/>
                    <a:lumOff val="15000"/>
                  </a:schemeClr>
                </a:solidFill>
              </a:rPr>
              <a:t>Dysphagia</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6563" name="Rectangle 3"/>
          <p:cNvSpPr>
            <a:spLocks noGrp="1" noChangeArrowheads="1"/>
          </p:cNvSpPr>
          <p:nvPr>
            <p:ph idx="1"/>
          </p:nvPr>
        </p:nvSpPr>
        <p:spPr>
          <a:xfrm>
            <a:off x="3966920" y="864108"/>
            <a:ext cx="4796057" cy="5120640"/>
          </a:xfrm>
        </p:spPr>
        <p:txBody>
          <a:bodyPr>
            <a:noAutofit/>
          </a:bodyPr>
          <a:lstStyle/>
          <a:p>
            <a:pPr marL="0" indent="0" eaLnBrk="1" hangingPunct="1">
              <a:buNone/>
            </a:pPr>
            <a:r>
              <a:rPr lang="en-US" sz="2000" u="sng" dirty="0">
                <a:latin typeface="+mj-lt"/>
              </a:rPr>
              <a:t>Assisting Clients with Dysphagia</a:t>
            </a:r>
            <a:endParaRPr lang="en-US" sz="2000" dirty="0"/>
          </a:p>
          <a:p>
            <a:pPr eaLnBrk="1" hangingPunct="1">
              <a:buFontTx/>
              <a:buChar char="•"/>
            </a:pPr>
            <a:r>
              <a:rPr lang="en-US" sz="2000" dirty="0">
                <a:latin typeface="+mj-lt"/>
              </a:rPr>
              <a:t>Have suction equipment available</a:t>
            </a:r>
          </a:p>
          <a:p>
            <a:pPr eaLnBrk="1" hangingPunct="1">
              <a:buFontTx/>
              <a:buChar char="•"/>
            </a:pPr>
            <a:r>
              <a:rPr lang="en-US" sz="2000" dirty="0">
                <a:latin typeface="+mj-lt"/>
              </a:rPr>
              <a:t>Assist to sitting position</a:t>
            </a:r>
          </a:p>
          <a:p>
            <a:pPr eaLnBrk="1" hangingPunct="1">
              <a:buFontTx/>
              <a:buChar char="•"/>
            </a:pPr>
            <a:r>
              <a:rPr lang="en-US" sz="2000" dirty="0">
                <a:latin typeface="+mj-lt"/>
              </a:rPr>
              <a:t>Oral hygiene before feeding</a:t>
            </a:r>
          </a:p>
          <a:p>
            <a:pPr eaLnBrk="1" hangingPunct="1">
              <a:buFontTx/>
              <a:buChar char="•"/>
            </a:pPr>
            <a:r>
              <a:rPr lang="en-US" sz="2000" i="1" dirty="0">
                <a:latin typeface="+mj-lt"/>
              </a:rPr>
              <a:t>Semi solids with some texture</a:t>
            </a:r>
          </a:p>
          <a:p>
            <a:pPr>
              <a:buFontTx/>
              <a:buChar char="•"/>
            </a:pPr>
            <a:r>
              <a:rPr lang="en-US" sz="2000" dirty="0">
                <a:latin typeface="+mj-lt"/>
              </a:rPr>
              <a:t>Quarter size bites </a:t>
            </a:r>
          </a:p>
          <a:p>
            <a:pPr eaLnBrk="1" hangingPunct="1">
              <a:buFontTx/>
              <a:buChar char="•"/>
            </a:pPr>
            <a:r>
              <a:rPr lang="en-US" sz="2000" b="1" dirty="0">
                <a:latin typeface="+mj-lt"/>
              </a:rPr>
              <a:t>Observe for swallowing </a:t>
            </a:r>
          </a:p>
          <a:p>
            <a:pPr eaLnBrk="1" hangingPunct="1">
              <a:buFontTx/>
              <a:buChar char="•"/>
            </a:pPr>
            <a:r>
              <a:rPr lang="en-US" sz="2000" b="1" dirty="0">
                <a:latin typeface="+mj-lt"/>
              </a:rPr>
              <a:t>Tuck chin; remind to swallow 2-3 times</a:t>
            </a:r>
          </a:p>
          <a:p>
            <a:pPr eaLnBrk="1" hangingPunct="1">
              <a:buFontTx/>
              <a:buChar char="•"/>
            </a:pPr>
            <a:r>
              <a:rPr lang="en-US" sz="2000" dirty="0">
                <a:latin typeface="+mj-lt"/>
              </a:rPr>
              <a:t>Check mouth for food or fluids still in oral cavity</a:t>
            </a:r>
          </a:p>
          <a:p>
            <a:pPr eaLnBrk="1" hangingPunct="1">
              <a:buFontTx/>
              <a:buChar char="•"/>
            </a:pPr>
            <a:r>
              <a:rPr lang="en-US" sz="2000" dirty="0">
                <a:latin typeface="+mj-lt"/>
              </a:rPr>
              <a:t>Keep sitting with HOB 30 degrees after meals</a:t>
            </a:r>
          </a:p>
          <a:p>
            <a:pPr eaLnBrk="1" hangingPunct="1">
              <a:buFontTx/>
              <a:buChar char="•"/>
            </a:pPr>
            <a:r>
              <a:rPr lang="en-US" sz="2000" dirty="0">
                <a:latin typeface="+mj-lt"/>
              </a:rPr>
              <a:t>Watch for coughing and choking</a:t>
            </a:r>
          </a:p>
          <a:p>
            <a:pPr eaLnBrk="1" hangingPunct="1">
              <a:buFontTx/>
              <a:buChar char="•"/>
            </a:pPr>
            <a:r>
              <a:rPr lang="en-US" sz="2000" b="1" dirty="0">
                <a:latin typeface="+mj-lt"/>
              </a:rPr>
              <a:t>ALWAYS PLACE FOOD ON THE UNAFFECTED SIDE</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3C4D3B9-88CC-4D7A-BB65-F028A7D9F772}"/>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6697644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See the source image">
            <a:extLst>
              <a:ext uri="{FF2B5EF4-FFF2-40B4-BE49-F238E27FC236}">
                <a16:creationId xmlns:a16="http://schemas.microsoft.com/office/drawing/2014/main" id="{E0336240-9238-4AF1-B227-5D3A11DE1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1"/>
            <a:ext cx="8810297" cy="5519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89854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t>Alterations in nutritional intake</a:t>
            </a:r>
          </a:p>
        </p:txBody>
      </p:sp>
      <p:sp>
        <p:nvSpPr>
          <p:cNvPr id="53251" name="Rectangle 3"/>
          <p:cNvSpPr>
            <a:spLocks noGrp="1" noChangeArrowheads="1"/>
          </p:cNvSpPr>
          <p:nvPr>
            <p:ph idx="1"/>
          </p:nvPr>
        </p:nvSpPr>
        <p:spPr/>
        <p:txBody>
          <a:bodyPr>
            <a:normAutofit/>
          </a:bodyPr>
          <a:lstStyle/>
          <a:p>
            <a:pPr eaLnBrk="1" hangingPunct="1"/>
            <a:r>
              <a:rPr lang="en-US" sz="2800" dirty="0"/>
              <a:t>Hospitalized patients o</a:t>
            </a:r>
            <a:r>
              <a:rPr lang="en-US" sz="2800" dirty="0">
                <a:latin typeface="+mj-lt"/>
              </a:rPr>
              <a:t>ften have</a:t>
            </a:r>
          </a:p>
          <a:p>
            <a:pPr lvl="1" eaLnBrk="1" hangingPunct="1"/>
            <a:r>
              <a:rPr lang="en-US" sz="2800" dirty="0">
                <a:latin typeface="+mj-lt"/>
              </a:rPr>
              <a:t>Meals delayed</a:t>
            </a:r>
          </a:p>
          <a:p>
            <a:pPr lvl="1" eaLnBrk="1" hangingPunct="1"/>
            <a:r>
              <a:rPr lang="en-US" sz="2800" dirty="0">
                <a:latin typeface="+mj-lt"/>
              </a:rPr>
              <a:t>N/V</a:t>
            </a:r>
          </a:p>
          <a:p>
            <a:pPr lvl="1" eaLnBrk="1" hangingPunct="1"/>
            <a:r>
              <a:rPr lang="en-US" sz="2800" dirty="0">
                <a:latin typeface="+mj-lt"/>
              </a:rPr>
              <a:t>Pain</a:t>
            </a:r>
          </a:p>
          <a:p>
            <a:pPr lvl="1" eaLnBrk="1" hangingPunct="1"/>
            <a:r>
              <a:rPr lang="en-US" sz="2800" dirty="0">
                <a:latin typeface="+mj-lt"/>
              </a:rPr>
              <a:t>Procedures/Diagnostic tests/Labs</a:t>
            </a:r>
          </a:p>
          <a:p>
            <a:pPr lvl="1" eaLnBrk="1" hangingPunct="1"/>
            <a:r>
              <a:rPr lang="en-US" sz="2800" dirty="0">
                <a:latin typeface="+mj-lt"/>
              </a:rPr>
              <a:t>Surgery</a:t>
            </a:r>
          </a:p>
          <a:p>
            <a:pPr eaLnBrk="1" hangingPunct="1"/>
            <a:endParaRPr lang="en-US" sz="2800" dirty="0"/>
          </a:p>
        </p:txBody>
      </p:sp>
      <p:sp>
        <p:nvSpPr>
          <p:cNvPr id="4" name="TextBox 3">
            <a:extLst>
              <a:ext uri="{FF2B5EF4-FFF2-40B4-BE49-F238E27FC236}">
                <a16:creationId xmlns:a16="http://schemas.microsoft.com/office/drawing/2014/main" id="{93477DD0-4DED-4A3C-B47F-9C13831B47D0}"/>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5060408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ee the source image">
            <a:extLst>
              <a:ext uri="{FF2B5EF4-FFF2-40B4-BE49-F238E27FC236}">
                <a16:creationId xmlns:a16="http://schemas.microsoft.com/office/drawing/2014/main" id="{3355EA94-FA4C-49DF-A30A-A1D8181D8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
            <a:ext cx="7696200" cy="647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507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15714"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Intestinal Gas</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5715" name="Rectangle 3"/>
          <p:cNvSpPr>
            <a:spLocks noGrp="1" noChangeArrowheads="1"/>
          </p:cNvSpPr>
          <p:nvPr>
            <p:ph idx="1"/>
          </p:nvPr>
        </p:nvSpPr>
        <p:spPr>
          <a:xfrm>
            <a:off x="3966921" y="864108"/>
            <a:ext cx="4433008" cy="5120640"/>
          </a:xfrm>
        </p:spPr>
        <p:txBody>
          <a:bodyPr>
            <a:normAutofit/>
          </a:bodyPr>
          <a:lstStyle/>
          <a:p>
            <a:pPr eaLnBrk="1" hangingPunct="1">
              <a:buFontTx/>
              <a:buChar char="•"/>
            </a:pPr>
            <a:r>
              <a:rPr lang="en-US" sz="2400" dirty="0">
                <a:latin typeface="+mj-lt"/>
              </a:rPr>
              <a:t>Nursing Interventions:</a:t>
            </a:r>
          </a:p>
          <a:p>
            <a:pPr lvl="1" eaLnBrk="1" hangingPunct="1">
              <a:buFontTx/>
              <a:buChar char="•"/>
            </a:pPr>
            <a:r>
              <a:rPr lang="en-US" sz="2400" dirty="0">
                <a:latin typeface="+mj-lt"/>
              </a:rPr>
              <a:t>Increase fiber slowly</a:t>
            </a:r>
          </a:p>
          <a:p>
            <a:pPr lvl="1" eaLnBrk="1" hangingPunct="1">
              <a:buFontTx/>
              <a:buChar char="•"/>
            </a:pPr>
            <a:r>
              <a:rPr lang="en-US" sz="2400" dirty="0">
                <a:latin typeface="+mj-lt"/>
              </a:rPr>
              <a:t>Note any milk tolerances</a:t>
            </a:r>
          </a:p>
          <a:p>
            <a:pPr lvl="1" eaLnBrk="1" hangingPunct="1">
              <a:buFontTx/>
              <a:buChar char="•"/>
            </a:pPr>
            <a:r>
              <a:rPr lang="en-US" sz="2400" dirty="0">
                <a:latin typeface="+mj-lt"/>
              </a:rPr>
              <a:t>Prevent constipation</a:t>
            </a:r>
          </a:p>
          <a:p>
            <a:pPr lvl="1" eaLnBrk="1" hangingPunct="1">
              <a:buFontTx/>
              <a:buChar char="•"/>
            </a:pPr>
            <a:r>
              <a:rPr lang="en-US" sz="2400" dirty="0">
                <a:latin typeface="+mj-lt"/>
              </a:rPr>
              <a:t>Identify problematic foods</a:t>
            </a:r>
          </a:p>
          <a:p>
            <a:pPr lvl="1" eaLnBrk="1" hangingPunct="1">
              <a:buFontTx/>
              <a:buChar char="•"/>
            </a:pPr>
            <a:r>
              <a:rPr lang="en-US" sz="2400" dirty="0">
                <a:latin typeface="+mj-lt"/>
              </a:rPr>
              <a:t>Ambulate</a:t>
            </a:r>
          </a:p>
          <a:p>
            <a:pPr lvl="1" eaLnBrk="1" hangingPunct="1">
              <a:buFontTx/>
              <a:buChar char="•"/>
            </a:pPr>
            <a:r>
              <a:rPr lang="en-US" sz="2400" dirty="0">
                <a:latin typeface="+mj-lt"/>
              </a:rPr>
              <a:t>Eat slowly, chew better</a:t>
            </a:r>
          </a:p>
          <a:p>
            <a:pPr lvl="1" eaLnBrk="1" hangingPunct="1">
              <a:buFontTx/>
              <a:buChar char="•"/>
            </a:pPr>
            <a:r>
              <a:rPr lang="en-US" sz="2400" dirty="0">
                <a:latin typeface="+mj-lt"/>
              </a:rPr>
              <a:t>No straws, no gum</a:t>
            </a:r>
          </a:p>
          <a:p>
            <a:pPr lvl="1" eaLnBrk="1" hangingPunct="1">
              <a:buFontTx/>
              <a:buChar char="•"/>
            </a:pPr>
            <a:r>
              <a:rPr lang="en-US" sz="2400" dirty="0">
                <a:latin typeface="+mj-lt"/>
              </a:rPr>
              <a:t>Avoid carbonated beverages</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A4560B8-DECC-40B5-BD17-3C7B07C53212}"/>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9969368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gastrodigestivesystem.com/sites/default/files/colon/constipation.jpg">
            <a:extLst>
              <a:ext uri="{FF2B5EF4-FFF2-40B4-BE49-F238E27FC236}">
                <a16:creationId xmlns:a16="http://schemas.microsoft.com/office/drawing/2014/main" id="{90B9E959-64D9-41B8-8BF8-1D6641F42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8305800"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9695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18786"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Constipation</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8787" name="Rectangle 3"/>
          <p:cNvSpPr>
            <a:spLocks noGrp="1" noChangeArrowheads="1"/>
          </p:cNvSpPr>
          <p:nvPr>
            <p:ph idx="1"/>
          </p:nvPr>
        </p:nvSpPr>
        <p:spPr>
          <a:xfrm>
            <a:off x="3966921" y="864108"/>
            <a:ext cx="4433008" cy="5120640"/>
          </a:xfrm>
        </p:spPr>
        <p:txBody>
          <a:bodyPr>
            <a:normAutofit/>
          </a:bodyPr>
          <a:lstStyle/>
          <a:p>
            <a:pPr eaLnBrk="1" hangingPunct="1"/>
            <a:r>
              <a:rPr lang="en-US" sz="2400" dirty="0"/>
              <a:t>Stools hard difficult to pass</a:t>
            </a:r>
          </a:p>
          <a:p>
            <a:pPr eaLnBrk="1" hangingPunct="1"/>
            <a:r>
              <a:rPr lang="en-US" sz="2400" dirty="0"/>
              <a:t>Can lead to very serious problems</a:t>
            </a:r>
          </a:p>
          <a:p>
            <a:pPr eaLnBrk="1" hangingPunct="1"/>
            <a:r>
              <a:rPr lang="en-US" sz="2400" dirty="0"/>
              <a:t>Prevention</a:t>
            </a:r>
          </a:p>
          <a:p>
            <a:pPr lvl="1" eaLnBrk="1" hangingPunct="1"/>
            <a:r>
              <a:rPr lang="en-US" sz="2400" dirty="0"/>
              <a:t>Fluid 		</a:t>
            </a:r>
          </a:p>
          <a:p>
            <a:pPr lvl="1" eaLnBrk="1" hangingPunct="1"/>
            <a:r>
              <a:rPr lang="en-US" sz="2400" dirty="0"/>
              <a:t>Fiber</a:t>
            </a:r>
          </a:p>
          <a:p>
            <a:pPr lvl="1" eaLnBrk="1" hangingPunct="1"/>
            <a:r>
              <a:rPr lang="en-US" sz="2400" dirty="0"/>
              <a:t>Ambulation</a:t>
            </a:r>
          </a:p>
          <a:p>
            <a:pPr lvl="1" eaLnBrk="1" hangingPunct="1"/>
            <a:r>
              <a:rPr lang="en-US" sz="2400" dirty="0"/>
              <a:t>Relax</a:t>
            </a:r>
          </a:p>
          <a:p>
            <a:pPr lvl="1" eaLnBrk="1" hangingPunct="1"/>
            <a:r>
              <a:rPr lang="en-US" sz="2400" dirty="0"/>
              <a:t>Follow routine</a:t>
            </a:r>
          </a:p>
          <a:p>
            <a:pPr lvl="1" eaLnBrk="1" hangingPunct="1"/>
            <a:r>
              <a:rPr lang="en-US" sz="2400" dirty="0"/>
              <a:t>Avoid laxatives</a:t>
            </a:r>
          </a:p>
          <a:p>
            <a:pPr lvl="1" eaLnBrk="1" hangingPunct="1"/>
            <a:r>
              <a:rPr lang="en-US" sz="2400" dirty="0"/>
              <a:t>DO NOT put off the urge-#1 cause of constipation</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C03FC0-9C3D-457D-84EF-E68CC1CCEC28}"/>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8150606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e the source image">
            <a:extLst>
              <a:ext uri="{FF2B5EF4-FFF2-40B4-BE49-F238E27FC236}">
                <a16:creationId xmlns:a16="http://schemas.microsoft.com/office/drawing/2014/main" id="{673D08C7-5D20-45D6-A410-00C1E920A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9979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33B22-756D-41DE-B41D-B49FFB361016}"/>
              </a:ext>
            </a:extLst>
          </p:cNvPr>
          <p:cNvSpPr>
            <a:spLocks noGrp="1"/>
          </p:cNvSpPr>
          <p:nvPr>
            <p:ph type="title"/>
          </p:nvPr>
        </p:nvSpPr>
        <p:spPr/>
        <p:txBody>
          <a:bodyPr/>
          <a:lstStyle/>
          <a:p>
            <a:r>
              <a:rPr lang="en-US" dirty="0"/>
              <a:t>Nutrition Therapy for Eating Disorders</a:t>
            </a:r>
          </a:p>
        </p:txBody>
      </p:sp>
      <p:sp>
        <p:nvSpPr>
          <p:cNvPr id="3" name="Text Placeholder 2">
            <a:extLst>
              <a:ext uri="{FF2B5EF4-FFF2-40B4-BE49-F238E27FC236}">
                <a16:creationId xmlns:a16="http://schemas.microsoft.com/office/drawing/2014/main" id="{C61C6205-F0DD-4187-B4C0-4AF3C85BD47E}"/>
              </a:ext>
            </a:extLst>
          </p:cNvPr>
          <p:cNvSpPr>
            <a:spLocks noGrp="1"/>
          </p:cNvSpPr>
          <p:nvPr>
            <p:ph type="body" idx="1"/>
          </p:nvPr>
        </p:nvSpPr>
        <p:spPr/>
        <p:txBody>
          <a:bodyPr>
            <a:normAutofit/>
          </a:bodyPr>
          <a:lstStyle/>
          <a:p>
            <a:r>
              <a:rPr lang="en-US" sz="3200" dirty="0"/>
              <a:t>Bulimia</a:t>
            </a:r>
          </a:p>
        </p:txBody>
      </p:sp>
      <p:sp>
        <p:nvSpPr>
          <p:cNvPr id="4" name="Content Placeholder 3">
            <a:extLst>
              <a:ext uri="{FF2B5EF4-FFF2-40B4-BE49-F238E27FC236}">
                <a16:creationId xmlns:a16="http://schemas.microsoft.com/office/drawing/2014/main" id="{C35DBE5A-8AE8-4D9C-8BCF-A151022D28E6}"/>
              </a:ext>
            </a:extLst>
          </p:cNvPr>
          <p:cNvSpPr>
            <a:spLocks noGrp="1"/>
          </p:cNvSpPr>
          <p:nvPr>
            <p:ph sz="half" idx="2"/>
          </p:nvPr>
        </p:nvSpPr>
        <p:spPr>
          <a:xfrm>
            <a:off x="2815740" y="1884790"/>
            <a:ext cx="5566259" cy="4023360"/>
          </a:xfrm>
        </p:spPr>
        <p:txBody>
          <a:bodyPr>
            <a:normAutofit/>
          </a:bodyPr>
          <a:lstStyle/>
          <a:p>
            <a:pPr>
              <a:buFont typeface="Wingdings 2"/>
              <a:buChar char=""/>
            </a:pPr>
            <a:r>
              <a:rPr lang="en-US" sz="2400" dirty="0">
                <a:ea typeface="+mn-lt"/>
                <a:cs typeface="+mn-lt"/>
              </a:rPr>
              <a:t>Binge eating &amp; purging</a:t>
            </a:r>
          </a:p>
          <a:p>
            <a:pPr>
              <a:buFont typeface="Wingdings 2"/>
              <a:buChar char=""/>
            </a:pPr>
            <a:r>
              <a:rPr lang="en-US" sz="2400" dirty="0">
                <a:ea typeface="+mn-lt"/>
                <a:cs typeface="+mn-lt"/>
              </a:rPr>
              <a:t>Electrolyte imbalances</a:t>
            </a:r>
          </a:p>
          <a:p>
            <a:pPr>
              <a:buFont typeface="Wingdings 2"/>
              <a:buChar char=""/>
            </a:pPr>
            <a:r>
              <a:rPr lang="en-US" sz="2400" dirty="0">
                <a:ea typeface="+mn-lt"/>
                <a:cs typeface="+mn-lt"/>
              </a:rPr>
              <a:t>Allow to eat enough to satisfy hunger</a:t>
            </a:r>
          </a:p>
          <a:p>
            <a:pPr>
              <a:buFont typeface="Wingdings 2"/>
              <a:buChar char=""/>
            </a:pPr>
            <a:r>
              <a:rPr lang="en-US" sz="2400" dirty="0">
                <a:ea typeface="+mn-lt"/>
                <a:cs typeface="+mn-lt"/>
              </a:rPr>
              <a:t>Serve food warm (increased satiety)</a:t>
            </a:r>
          </a:p>
          <a:p>
            <a:pPr>
              <a:buFont typeface="Wingdings 2"/>
              <a:buChar char=""/>
            </a:pPr>
            <a:r>
              <a:rPr lang="en-US" sz="2400" dirty="0">
                <a:ea typeface="+mn-lt"/>
                <a:cs typeface="+mn-lt"/>
              </a:rPr>
              <a:t>Sit down meals (no finger foods)</a:t>
            </a:r>
          </a:p>
          <a:p>
            <a:pPr>
              <a:buFont typeface="Wingdings 2"/>
              <a:buChar char=""/>
            </a:pPr>
            <a:r>
              <a:rPr lang="en-US" sz="2400" dirty="0">
                <a:ea typeface="+mn-lt"/>
                <a:cs typeface="+mn-lt"/>
              </a:rPr>
              <a:t>Increase bulk (whole grain, high fiber)</a:t>
            </a:r>
          </a:p>
          <a:p>
            <a:pPr>
              <a:buFont typeface="Wingdings 2"/>
              <a:buChar char=""/>
            </a:pPr>
            <a:r>
              <a:rPr lang="en-US" sz="2400" dirty="0">
                <a:ea typeface="+mn-lt"/>
                <a:cs typeface="+mn-lt"/>
              </a:rPr>
              <a:t>Regular mealtimes</a:t>
            </a:r>
            <a:endParaRPr lang="en-US" sz="2400" dirty="0"/>
          </a:p>
        </p:txBody>
      </p:sp>
      <p:sp>
        <p:nvSpPr>
          <p:cNvPr id="7" name="TextBox 6">
            <a:extLst>
              <a:ext uri="{FF2B5EF4-FFF2-40B4-BE49-F238E27FC236}">
                <a16:creationId xmlns:a16="http://schemas.microsoft.com/office/drawing/2014/main" id="{5411186E-96D2-4FA6-BBD5-18280DCE275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5590725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2C4A8FBF-D81B-4391-AF82-5F51928BD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2252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33B22-756D-41DE-B41D-B49FFB361016}"/>
              </a:ext>
            </a:extLst>
          </p:cNvPr>
          <p:cNvSpPr>
            <a:spLocks noGrp="1"/>
          </p:cNvSpPr>
          <p:nvPr>
            <p:ph type="title"/>
          </p:nvPr>
        </p:nvSpPr>
        <p:spPr/>
        <p:txBody>
          <a:bodyPr/>
          <a:lstStyle/>
          <a:p>
            <a:r>
              <a:rPr lang="en-US" dirty="0"/>
              <a:t>Nutrition Therapy for Eating Disorders</a:t>
            </a:r>
          </a:p>
        </p:txBody>
      </p:sp>
      <p:sp>
        <p:nvSpPr>
          <p:cNvPr id="3" name="Text Placeholder 2">
            <a:extLst>
              <a:ext uri="{FF2B5EF4-FFF2-40B4-BE49-F238E27FC236}">
                <a16:creationId xmlns:a16="http://schemas.microsoft.com/office/drawing/2014/main" id="{C61C6205-F0DD-4187-B4C0-4AF3C85BD47E}"/>
              </a:ext>
            </a:extLst>
          </p:cNvPr>
          <p:cNvSpPr>
            <a:spLocks noGrp="1"/>
          </p:cNvSpPr>
          <p:nvPr>
            <p:ph type="body" idx="1"/>
          </p:nvPr>
        </p:nvSpPr>
        <p:spPr>
          <a:xfrm>
            <a:off x="2900934" y="719978"/>
            <a:ext cx="2606040" cy="807720"/>
          </a:xfrm>
        </p:spPr>
        <p:txBody>
          <a:bodyPr>
            <a:normAutofit/>
          </a:bodyPr>
          <a:lstStyle/>
          <a:p>
            <a:r>
              <a:rPr lang="en-US" sz="2400" dirty="0"/>
              <a:t>Anorexia</a:t>
            </a:r>
          </a:p>
        </p:txBody>
      </p:sp>
      <p:sp>
        <p:nvSpPr>
          <p:cNvPr id="4" name="Content Placeholder 3">
            <a:extLst>
              <a:ext uri="{FF2B5EF4-FFF2-40B4-BE49-F238E27FC236}">
                <a16:creationId xmlns:a16="http://schemas.microsoft.com/office/drawing/2014/main" id="{C35DBE5A-8AE8-4D9C-8BCF-A151022D28E6}"/>
              </a:ext>
            </a:extLst>
          </p:cNvPr>
          <p:cNvSpPr>
            <a:spLocks noGrp="1"/>
          </p:cNvSpPr>
          <p:nvPr>
            <p:ph sz="half" idx="2"/>
          </p:nvPr>
        </p:nvSpPr>
        <p:spPr>
          <a:xfrm>
            <a:off x="2900934" y="1101882"/>
            <a:ext cx="2606040" cy="4023360"/>
          </a:xfrm>
        </p:spPr>
        <p:txBody>
          <a:bodyPr>
            <a:normAutofit/>
          </a:bodyPr>
          <a:lstStyle/>
          <a:p>
            <a:pPr marL="0" indent="0">
              <a:buNone/>
            </a:pPr>
            <a:r>
              <a:rPr lang="en-US" sz="2000" dirty="0">
                <a:ea typeface="+mn-lt"/>
                <a:cs typeface="+mn-lt"/>
              </a:rPr>
              <a:t>Lack or loss of appetite</a:t>
            </a:r>
            <a:endParaRPr lang="en-US" sz="2000" dirty="0"/>
          </a:p>
          <a:p>
            <a:pPr indent="0"/>
            <a:r>
              <a:rPr lang="en-US" sz="2000" dirty="0">
                <a:ea typeface="+mn-lt"/>
                <a:cs typeface="+mn-lt"/>
              </a:rPr>
              <a:t>Cancer, </a:t>
            </a:r>
          </a:p>
          <a:p>
            <a:pPr indent="0"/>
            <a:r>
              <a:rPr lang="en-US" sz="2000" dirty="0">
                <a:ea typeface="+mn-lt"/>
                <a:cs typeface="+mn-lt"/>
              </a:rPr>
              <a:t>Chemotherapy, Post op</a:t>
            </a:r>
          </a:p>
          <a:p>
            <a:pPr indent="0"/>
            <a:r>
              <a:rPr lang="en-US" sz="2000" dirty="0">
                <a:ea typeface="+mn-lt"/>
                <a:cs typeface="+mn-lt"/>
              </a:rPr>
              <a:t> Viral illness, </a:t>
            </a:r>
          </a:p>
          <a:p>
            <a:pPr indent="0"/>
            <a:r>
              <a:rPr lang="en-US" sz="2000" dirty="0">
                <a:ea typeface="+mn-lt"/>
                <a:cs typeface="+mn-lt"/>
              </a:rPr>
              <a:t>SOB</a:t>
            </a:r>
            <a:endParaRPr lang="en-US" sz="2000" dirty="0"/>
          </a:p>
        </p:txBody>
      </p:sp>
      <p:sp>
        <p:nvSpPr>
          <p:cNvPr id="5" name="Text Placeholder 4">
            <a:extLst>
              <a:ext uri="{FF2B5EF4-FFF2-40B4-BE49-F238E27FC236}">
                <a16:creationId xmlns:a16="http://schemas.microsoft.com/office/drawing/2014/main" id="{92516FA7-E0BB-4E92-B2B2-795F4A97DADA}"/>
              </a:ext>
            </a:extLst>
          </p:cNvPr>
          <p:cNvSpPr>
            <a:spLocks noGrp="1"/>
          </p:cNvSpPr>
          <p:nvPr>
            <p:ph type="body" sz="quarter" idx="3"/>
          </p:nvPr>
        </p:nvSpPr>
        <p:spPr>
          <a:xfrm>
            <a:off x="5863847" y="719978"/>
            <a:ext cx="2606040" cy="813171"/>
          </a:xfrm>
        </p:spPr>
        <p:txBody>
          <a:bodyPr>
            <a:normAutofit/>
          </a:bodyPr>
          <a:lstStyle/>
          <a:p>
            <a:r>
              <a:rPr lang="en-US" sz="2400" dirty="0"/>
              <a:t>Anorexia Nervosa</a:t>
            </a:r>
          </a:p>
        </p:txBody>
      </p:sp>
      <p:sp>
        <p:nvSpPr>
          <p:cNvPr id="6" name="Content Placeholder 5">
            <a:extLst>
              <a:ext uri="{FF2B5EF4-FFF2-40B4-BE49-F238E27FC236}">
                <a16:creationId xmlns:a16="http://schemas.microsoft.com/office/drawing/2014/main" id="{93A9DE93-548D-4DDB-8AE9-EC43E54ADDCF}"/>
              </a:ext>
            </a:extLst>
          </p:cNvPr>
          <p:cNvSpPr>
            <a:spLocks noGrp="1"/>
          </p:cNvSpPr>
          <p:nvPr>
            <p:ph sz="quarter" idx="4"/>
          </p:nvPr>
        </p:nvSpPr>
        <p:spPr>
          <a:xfrm>
            <a:off x="5863847" y="1835686"/>
            <a:ext cx="2606040" cy="4023360"/>
          </a:xfrm>
        </p:spPr>
        <p:txBody>
          <a:bodyPr>
            <a:normAutofit/>
          </a:bodyPr>
          <a:lstStyle/>
          <a:p>
            <a:pPr marL="0" indent="0">
              <a:buNone/>
            </a:pPr>
            <a:r>
              <a:rPr lang="en-US" sz="2000" dirty="0">
                <a:ea typeface="+mn-lt"/>
                <a:cs typeface="+mn-lt"/>
              </a:rPr>
              <a:t>Psych disorder</a:t>
            </a:r>
          </a:p>
          <a:p>
            <a:pPr indent="0"/>
            <a:r>
              <a:rPr lang="en-US" sz="2000" dirty="0">
                <a:ea typeface="+mn-lt"/>
                <a:cs typeface="+mn-lt"/>
              </a:rPr>
              <a:t>Do not even want food-food aversion</a:t>
            </a:r>
          </a:p>
          <a:p>
            <a:pPr indent="0"/>
            <a:r>
              <a:rPr lang="en-US" sz="2000" dirty="0">
                <a:ea typeface="+mn-lt"/>
                <a:cs typeface="+mn-lt"/>
              </a:rPr>
              <a:t>Altered body image-see self as fat</a:t>
            </a:r>
          </a:p>
          <a:p>
            <a:pPr indent="0"/>
            <a:r>
              <a:rPr lang="en-US" sz="2000" dirty="0">
                <a:ea typeface="+mn-lt"/>
                <a:cs typeface="+mn-lt"/>
              </a:rPr>
              <a:t>Don’t encourage them</a:t>
            </a:r>
          </a:p>
          <a:p>
            <a:pPr indent="0"/>
            <a:r>
              <a:rPr lang="en-US" sz="2000" dirty="0">
                <a:ea typeface="+mn-lt"/>
                <a:cs typeface="+mn-lt"/>
              </a:rPr>
              <a:t>Increase food intake gradually</a:t>
            </a:r>
          </a:p>
          <a:p>
            <a:pPr indent="0"/>
            <a:r>
              <a:rPr lang="en-US" sz="2000" dirty="0">
                <a:ea typeface="+mn-lt"/>
                <a:cs typeface="+mn-lt"/>
              </a:rPr>
              <a:t>Small frequent meals</a:t>
            </a:r>
            <a:endParaRPr lang="en-US" sz="2000" dirty="0"/>
          </a:p>
        </p:txBody>
      </p:sp>
      <p:sp>
        <p:nvSpPr>
          <p:cNvPr id="7" name="TextBox 6">
            <a:extLst>
              <a:ext uri="{FF2B5EF4-FFF2-40B4-BE49-F238E27FC236}">
                <a16:creationId xmlns:a16="http://schemas.microsoft.com/office/drawing/2014/main" id="{BAD8F4E4-D8E8-4CD6-9931-5F0075AE2C8F}"/>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42497401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6228AA4B-B83A-42AB-9E6C-B16687F22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90600"/>
            <a:ext cx="7924800" cy="556259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513126B8-978F-442C-BD60-317A9DE948B6}"/>
              </a:ext>
            </a:extLst>
          </p:cNvPr>
          <p:cNvSpPr/>
          <p:nvPr/>
        </p:nvSpPr>
        <p:spPr>
          <a:xfrm>
            <a:off x="2438400" y="152400"/>
            <a:ext cx="4590296" cy="646331"/>
          </a:xfrm>
          <a:prstGeom prst="rect">
            <a:avLst/>
          </a:prstGeom>
        </p:spPr>
        <p:txBody>
          <a:bodyPr wrap="none">
            <a:spAutoFit/>
          </a:bodyPr>
          <a:lstStyle/>
          <a:p>
            <a:r>
              <a:rPr lang="en-US" sz="3600" dirty="0">
                <a:solidFill>
                  <a:schemeClr val="tx1">
                    <a:lumMod val="85000"/>
                    <a:lumOff val="15000"/>
                  </a:schemeClr>
                </a:solidFill>
              </a:rPr>
              <a:t>Iron Deficiency Anemia</a:t>
            </a:r>
            <a:endParaRPr lang="en-US" sz="3600" dirty="0"/>
          </a:p>
        </p:txBody>
      </p:sp>
      <p:sp>
        <p:nvSpPr>
          <p:cNvPr id="9" name="TextBox 8">
            <a:extLst>
              <a:ext uri="{FF2B5EF4-FFF2-40B4-BE49-F238E27FC236}">
                <a16:creationId xmlns:a16="http://schemas.microsoft.com/office/drawing/2014/main" id="{B090BF9A-EBC0-4D7B-A5BA-FFC0C63F133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1781095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D2F78A9-D309-4317-8E10-4290E6BC6BBE}"/>
              </a:ext>
            </a:extLst>
          </p:cNvPr>
          <p:cNvGraphicFramePr>
            <a:graphicFrameLocks noGrp="1"/>
          </p:cNvGraphicFramePr>
          <p:nvPr>
            <p:extLst>
              <p:ext uri="{D42A27DB-BD31-4B8C-83A1-F6EECF244321}">
                <p14:modId xmlns:p14="http://schemas.microsoft.com/office/powerpoint/2010/main" val="4001018221"/>
              </p:ext>
            </p:extLst>
          </p:nvPr>
        </p:nvGraphicFramePr>
        <p:xfrm>
          <a:off x="228600" y="762000"/>
          <a:ext cx="8763000" cy="5669280"/>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3408502579"/>
                    </a:ext>
                  </a:extLst>
                </a:gridCol>
                <a:gridCol w="7162800">
                  <a:extLst>
                    <a:ext uri="{9D8B030D-6E8A-4147-A177-3AD203B41FA5}">
                      <a16:colId xmlns:a16="http://schemas.microsoft.com/office/drawing/2014/main" val="4213679940"/>
                    </a:ext>
                  </a:extLst>
                </a:gridCol>
              </a:tblGrid>
              <a:tr h="1127760">
                <a:tc>
                  <a:txBody>
                    <a:bodyPr/>
                    <a:lstStyle/>
                    <a:p>
                      <a:r>
                        <a:rPr lang="en-US" sz="1400" dirty="0"/>
                        <a:t>Patho</a:t>
                      </a:r>
                    </a:p>
                  </a:txBody>
                  <a:tcPr/>
                </a:tc>
                <a:tc>
                  <a:txBody>
                    <a:bodyPr/>
                    <a:lstStyle/>
                    <a:p>
                      <a:r>
                        <a:rPr lang="en-US" sz="1400" dirty="0"/>
                        <a:t>Vitamin B12 (cobalamin) is essential for the production of hemoglobin and GI absorption. Iron-deficiency cause of low RBC production (anemia).</a:t>
                      </a:r>
                    </a:p>
                    <a:p>
                      <a:pPr marL="285750" indent="-285750">
                        <a:buFont typeface="Arial" panose="020B0604020202020204" pitchFamily="34" charset="0"/>
                        <a:buChar char="•"/>
                      </a:pPr>
                      <a:r>
                        <a:rPr lang="en-US" sz="1400" dirty="0"/>
                        <a:t>Prenatal – developmental delays in fetus</a:t>
                      </a:r>
                    </a:p>
                    <a:p>
                      <a:pPr marL="285750" indent="-285750">
                        <a:buFont typeface="Arial" panose="020B0604020202020204" pitchFamily="34" charset="0"/>
                        <a:buChar char="•"/>
                      </a:pPr>
                      <a:r>
                        <a:rPr lang="en-US" sz="1400" dirty="0"/>
                        <a:t>Older adults – decrease gastric acid secretions impair absorption of iron, B12, protein</a:t>
                      </a:r>
                    </a:p>
                  </a:txBody>
                  <a:tcPr/>
                </a:tc>
                <a:extLst>
                  <a:ext uri="{0D108BD9-81ED-4DB2-BD59-A6C34878D82A}">
                    <a16:rowId xmlns:a16="http://schemas.microsoft.com/office/drawing/2014/main" val="462499715"/>
                  </a:ext>
                </a:extLst>
              </a:tr>
              <a:tr h="1127760">
                <a:tc>
                  <a:txBody>
                    <a:bodyPr/>
                    <a:lstStyle/>
                    <a:p>
                      <a:r>
                        <a:rPr lang="en-US" sz="1400" dirty="0"/>
                        <a:t>Manifestations</a:t>
                      </a:r>
                    </a:p>
                  </a:txBody>
                  <a:tcPr/>
                </a:tc>
                <a:tc>
                  <a:txBody>
                    <a:bodyPr/>
                    <a:lstStyle/>
                    <a:p>
                      <a:pPr marL="285750" indent="-285750">
                        <a:buFont typeface="Arial" panose="020B0604020202020204" pitchFamily="34" charset="0"/>
                        <a:buChar char="•"/>
                      </a:pPr>
                      <a:r>
                        <a:rPr lang="en-US" sz="1400" dirty="0"/>
                        <a:t>Fatigue, shortness of breath, depression, hair loss, restless leg syndrome, frequent headaches, increased sensitivity to cold, brittle nails, pallor, mouth fissures, inflamed tongue.</a:t>
                      </a:r>
                    </a:p>
                    <a:p>
                      <a:pPr marL="285750" indent="-285750">
                        <a:buFont typeface="Arial" panose="020B0604020202020204" pitchFamily="34" charset="0"/>
                        <a:buChar char="•"/>
                      </a:pPr>
                      <a:r>
                        <a:rPr lang="en-US" sz="1400" dirty="0"/>
                        <a:t>Children &amp; Older adults – poor nutritional intake</a:t>
                      </a:r>
                    </a:p>
                    <a:p>
                      <a:pPr marL="285750" indent="-285750">
                        <a:buFont typeface="Arial" panose="020B0604020202020204" pitchFamily="34" charset="0"/>
                        <a:buChar char="•"/>
                      </a:pPr>
                      <a:r>
                        <a:rPr lang="en-US" sz="1400" dirty="0"/>
                        <a:t>Immunocompromised </a:t>
                      </a:r>
                    </a:p>
                  </a:txBody>
                  <a:tcPr/>
                </a:tc>
                <a:extLst>
                  <a:ext uri="{0D108BD9-81ED-4DB2-BD59-A6C34878D82A}">
                    <a16:rowId xmlns:a16="http://schemas.microsoft.com/office/drawing/2014/main" val="3032930608"/>
                  </a:ext>
                </a:extLst>
              </a:tr>
              <a:tr h="1127760">
                <a:tc>
                  <a:txBody>
                    <a:bodyPr/>
                    <a:lstStyle/>
                    <a:p>
                      <a:r>
                        <a:rPr lang="en-US" sz="1400" dirty="0"/>
                        <a:t>Diagnosis</a:t>
                      </a:r>
                    </a:p>
                  </a:txBody>
                  <a:tcPr/>
                </a:tc>
                <a:tc>
                  <a:txBody>
                    <a:bodyPr/>
                    <a:lstStyle/>
                    <a:p>
                      <a:pPr marL="285750" indent="-285750">
                        <a:buFont typeface="Arial" panose="020B0604020202020204" pitchFamily="34" charset="0"/>
                        <a:buChar char="•"/>
                      </a:pPr>
                      <a:r>
                        <a:rPr lang="en-US" sz="1400" dirty="0"/>
                        <a:t>Hemoglobin, Hematocrit, Reticulocyte count (retic), Serum iron, ferritin, TIBC (total iron-binding capacity)</a:t>
                      </a:r>
                    </a:p>
                  </a:txBody>
                  <a:tcPr/>
                </a:tc>
                <a:extLst>
                  <a:ext uri="{0D108BD9-81ED-4DB2-BD59-A6C34878D82A}">
                    <a16:rowId xmlns:a16="http://schemas.microsoft.com/office/drawing/2014/main" val="1456985669"/>
                  </a:ext>
                </a:extLst>
              </a:tr>
              <a:tr h="1127760">
                <a:tc>
                  <a:txBody>
                    <a:bodyPr/>
                    <a:lstStyle/>
                    <a:p>
                      <a:r>
                        <a:rPr lang="en-US" sz="1400" dirty="0"/>
                        <a:t>Treatment</a:t>
                      </a:r>
                    </a:p>
                  </a:txBody>
                  <a:tcPr/>
                </a:tc>
                <a:tc>
                  <a:txBody>
                    <a:bodyPr/>
                    <a:lstStyle/>
                    <a:p>
                      <a:pPr marL="285750" indent="-285750">
                        <a:buFont typeface="Arial" panose="020B0604020202020204" pitchFamily="34" charset="0"/>
                        <a:buChar char="•"/>
                      </a:pPr>
                      <a:r>
                        <a:rPr lang="en-US" sz="1400" dirty="0"/>
                        <a:t>Iron supplements – Vitamins (child – poly vi sol drops)  - (adult – B12 oral, injections, IV )</a:t>
                      </a:r>
                    </a:p>
                    <a:p>
                      <a:pPr marL="285750" indent="-285750">
                        <a:buFont typeface="Arial" panose="020B0604020202020204" pitchFamily="34" charset="0"/>
                        <a:buChar char="•"/>
                      </a:pPr>
                      <a:r>
                        <a:rPr lang="en-US" sz="1400" dirty="0"/>
                        <a:t>Dietary intake: green leafy vegetables, nuts, seeds, meats, fish, beans</a:t>
                      </a:r>
                    </a:p>
                    <a:p>
                      <a:pPr marL="285750" indent="-285750">
                        <a:buFont typeface="Arial" panose="020B0604020202020204" pitchFamily="34" charset="0"/>
                        <a:buChar char="•"/>
                      </a:pPr>
                      <a:r>
                        <a:rPr lang="en-US" sz="1400" dirty="0"/>
                        <a:t>Nutritional consult</a:t>
                      </a:r>
                    </a:p>
                    <a:p>
                      <a:pPr marL="285750" indent="-285750">
                        <a:buFont typeface="Arial" panose="020B0604020202020204" pitchFamily="34" charset="0"/>
                        <a:buChar char="•"/>
                      </a:pPr>
                      <a:endParaRPr lang="en-US" sz="1400" dirty="0"/>
                    </a:p>
                  </a:txBody>
                  <a:tcPr/>
                </a:tc>
                <a:extLst>
                  <a:ext uri="{0D108BD9-81ED-4DB2-BD59-A6C34878D82A}">
                    <a16:rowId xmlns:a16="http://schemas.microsoft.com/office/drawing/2014/main" val="3010860443"/>
                  </a:ext>
                </a:extLst>
              </a:tr>
              <a:tr h="1127760">
                <a:tc>
                  <a:txBody>
                    <a:bodyPr/>
                    <a:lstStyle/>
                    <a:p>
                      <a:r>
                        <a:rPr lang="en-US" sz="1400" dirty="0"/>
                        <a:t>Nursing Care</a:t>
                      </a:r>
                    </a:p>
                  </a:txBody>
                  <a:tcPr/>
                </a:tc>
                <a:tc>
                  <a:txBody>
                    <a:bodyPr/>
                    <a:lstStyle/>
                    <a:p>
                      <a:pPr marL="285750" indent="-285750">
                        <a:buFont typeface="Arial" panose="020B0604020202020204" pitchFamily="34" charset="0"/>
                        <a:buChar char="•"/>
                      </a:pPr>
                      <a:r>
                        <a:rPr lang="en-US" sz="1400" dirty="0"/>
                        <a:t>Teach patients to include adequate amounts of dietary and supplemental intake of iron.</a:t>
                      </a:r>
                    </a:p>
                    <a:p>
                      <a:pPr marL="285750" indent="-285750">
                        <a:buFont typeface="Arial" panose="020B0604020202020204" pitchFamily="34" charset="0"/>
                        <a:buChar char="•"/>
                      </a:pPr>
                      <a:r>
                        <a:rPr lang="en-US" sz="1400" dirty="0"/>
                        <a:t>Iron supplements should be taken with Vitamin C to enhance absorption</a:t>
                      </a:r>
                    </a:p>
                    <a:p>
                      <a:pPr marL="285750" indent="-285750">
                        <a:buFont typeface="Arial" panose="020B0604020202020204" pitchFamily="34" charset="0"/>
                        <a:buChar char="•"/>
                      </a:pPr>
                      <a:r>
                        <a:rPr lang="en-US" sz="1400" dirty="0"/>
                        <a:t>Dental hygiene practices</a:t>
                      </a:r>
                    </a:p>
                  </a:txBody>
                  <a:tcPr/>
                </a:tc>
                <a:extLst>
                  <a:ext uri="{0D108BD9-81ED-4DB2-BD59-A6C34878D82A}">
                    <a16:rowId xmlns:a16="http://schemas.microsoft.com/office/drawing/2014/main" val="2260201055"/>
                  </a:ext>
                </a:extLst>
              </a:tr>
            </a:tbl>
          </a:graphicData>
        </a:graphic>
      </p:graphicFrame>
      <p:sp>
        <p:nvSpPr>
          <p:cNvPr id="3" name="Rectangle 2">
            <a:extLst>
              <a:ext uri="{FF2B5EF4-FFF2-40B4-BE49-F238E27FC236}">
                <a16:creationId xmlns:a16="http://schemas.microsoft.com/office/drawing/2014/main" id="{94023D07-1E90-4096-ACA7-6BA517138F33}"/>
              </a:ext>
            </a:extLst>
          </p:cNvPr>
          <p:cNvSpPr/>
          <p:nvPr/>
        </p:nvSpPr>
        <p:spPr>
          <a:xfrm>
            <a:off x="2438400" y="152400"/>
            <a:ext cx="4590296" cy="646331"/>
          </a:xfrm>
          <a:prstGeom prst="rect">
            <a:avLst/>
          </a:prstGeom>
        </p:spPr>
        <p:txBody>
          <a:bodyPr wrap="none">
            <a:spAutoFit/>
          </a:bodyPr>
          <a:lstStyle/>
          <a:p>
            <a:r>
              <a:rPr lang="en-US" sz="3600" dirty="0">
                <a:solidFill>
                  <a:schemeClr val="tx1">
                    <a:lumMod val="85000"/>
                    <a:lumOff val="15000"/>
                  </a:schemeClr>
                </a:solidFill>
              </a:rPr>
              <a:t>Iron Deficiency Anemia</a:t>
            </a:r>
            <a:endParaRPr lang="en-US" sz="3600" dirty="0"/>
          </a:p>
        </p:txBody>
      </p:sp>
      <p:sp>
        <p:nvSpPr>
          <p:cNvPr id="4" name="TextBox 3">
            <a:extLst>
              <a:ext uri="{FF2B5EF4-FFF2-40B4-BE49-F238E27FC236}">
                <a16:creationId xmlns:a16="http://schemas.microsoft.com/office/drawing/2014/main" id="{536E3D7C-CB3A-4DAA-8980-0104924636F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481917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See the source image">
            <a:extLst>
              <a:ext uri="{FF2B5EF4-FFF2-40B4-BE49-F238E27FC236}">
                <a16:creationId xmlns:a16="http://schemas.microsoft.com/office/drawing/2014/main" id="{5A1420E2-B2E7-490B-816A-770A57978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914400"/>
            <a:ext cx="9048750"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5982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EE4EE44-A7BF-40D1-BDFB-B109F8053A5C}"/>
              </a:ext>
            </a:extLst>
          </p:cNvPr>
          <p:cNvGraphicFramePr>
            <a:graphicFrameLocks noGrp="1"/>
          </p:cNvGraphicFramePr>
          <p:nvPr>
            <p:extLst>
              <p:ext uri="{D42A27DB-BD31-4B8C-83A1-F6EECF244321}">
                <p14:modId xmlns:p14="http://schemas.microsoft.com/office/powerpoint/2010/main" val="1685091701"/>
              </p:ext>
            </p:extLst>
          </p:nvPr>
        </p:nvGraphicFramePr>
        <p:xfrm>
          <a:off x="152400" y="762000"/>
          <a:ext cx="8763000" cy="54864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37720913"/>
                    </a:ext>
                  </a:extLst>
                </a:gridCol>
                <a:gridCol w="7239000">
                  <a:extLst>
                    <a:ext uri="{9D8B030D-6E8A-4147-A177-3AD203B41FA5}">
                      <a16:colId xmlns:a16="http://schemas.microsoft.com/office/drawing/2014/main" val="453352755"/>
                    </a:ext>
                  </a:extLst>
                </a:gridCol>
              </a:tblGrid>
              <a:tr h="1813973">
                <a:tc>
                  <a:txBody>
                    <a:bodyPr/>
                    <a:lstStyle/>
                    <a:p>
                      <a:r>
                        <a:rPr lang="en-US" sz="1400" dirty="0"/>
                        <a:t>Patho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a typeface="+mn-lt"/>
                          <a:cs typeface="+mn-lt"/>
                        </a:rPr>
                        <a:t>A condition caused by a severe lack of vitamin C  or ascorbic acid in the diet.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Lack of fruits and vegetables in daily diet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Anorexia or illness causing anorexia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Diet allergies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Poor diet</a:t>
                      </a:r>
                    </a:p>
                    <a:p>
                      <a:endParaRPr lang="en-US" sz="1400" dirty="0"/>
                    </a:p>
                  </a:txBody>
                  <a:tcPr/>
                </a:tc>
                <a:extLst>
                  <a:ext uri="{0D108BD9-81ED-4DB2-BD59-A6C34878D82A}">
                    <a16:rowId xmlns:a16="http://schemas.microsoft.com/office/drawing/2014/main" val="3871810467"/>
                  </a:ext>
                </a:extLst>
              </a:tr>
              <a:tr h="995950">
                <a:tc>
                  <a:txBody>
                    <a:bodyPr/>
                    <a:lstStyle/>
                    <a:p>
                      <a:r>
                        <a:rPr lang="en-US" sz="1400" dirty="0"/>
                        <a:t>Manifestations</a:t>
                      </a:r>
                    </a:p>
                  </a:txBody>
                  <a:tcPr/>
                </a:tc>
                <a:tc>
                  <a:txBody>
                    <a:bodyPr/>
                    <a:lstStyle/>
                    <a:p>
                      <a:pPr marL="285750" indent="-285750">
                        <a:buFont typeface="Arial" panose="020B0604020202020204" pitchFamily="34" charset="0"/>
                        <a:buChar char="•"/>
                      </a:pPr>
                      <a:r>
                        <a:rPr lang="en-US" sz="1400" dirty="0">
                          <a:ea typeface="+mn-lt"/>
                          <a:cs typeface="+mn-lt"/>
                        </a:rPr>
                        <a:t>Bruising, bleeding gums, weakness, fatigue, and rash, skin roughness, poor wound healing, iron deficiency anemia</a:t>
                      </a:r>
                      <a:endParaRPr lang="en-US" sz="1400" dirty="0"/>
                    </a:p>
                  </a:txBody>
                  <a:tcPr/>
                </a:tc>
                <a:extLst>
                  <a:ext uri="{0D108BD9-81ED-4DB2-BD59-A6C34878D82A}">
                    <a16:rowId xmlns:a16="http://schemas.microsoft.com/office/drawing/2014/main" val="541399757"/>
                  </a:ext>
                </a:extLst>
              </a:tr>
              <a:tr h="712787">
                <a:tc>
                  <a:txBody>
                    <a:bodyPr/>
                    <a:lstStyle/>
                    <a:p>
                      <a:r>
                        <a:rPr lang="en-US" sz="1400" dirty="0"/>
                        <a:t>Diagnostics / Labs</a:t>
                      </a:r>
                    </a:p>
                  </a:txBody>
                  <a:tcPr/>
                </a:tc>
                <a:tc>
                  <a:txBody>
                    <a:bodyPr/>
                    <a:lstStyle/>
                    <a:p>
                      <a:pPr marL="285750" indent="-285750">
                        <a:buFont typeface="Arial" panose="020B0604020202020204" pitchFamily="34" charset="0"/>
                        <a:buChar char="•"/>
                      </a:pPr>
                      <a:r>
                        <a:rPr lang="en-US" sz="1400" dirty="0"/>
                        <a:t>CBC (anemia), Vitamin def labs, Liver function, kidney (BUM / </a:t>
                      </a:r>
                      <a:r>
                        <a:rPr lang="en-US" sz="1400" dirty="0" err="1"/>
                        <a:t>Creat</a:t>
                      </a:r>
                      <a:r>
                        <a:rPr lang="en-US" sz="1400" dirty="0"/>
                        <a:t>)</a:t>
                      </a:r>
                    </a:p>
                  </a:txBody>
                  <a:tcPr/>
                </a:tc>
                <a:extLst>
                  <a:ext uri="{0D108BD9-81ED-4DB2-BD59-A6C34878D82A}">
                    <a16:rowId xmlns:a16="http://schemas.microsoft.com/office/drawing/2014/main" val="2381192248"/>
                  </a:ext>
                </a:extLst>
              </a:tr>
              <a:tr h="1250903">
                <a:tc>
                  <a:txBody>
                    <a:bodyPr/>
                    <a:lstStyle/>
                    <a:p>
                      <a:r>
                        <a:rPr lang="en-US" sz="1400" dirty="0"/>
                        <a:t>Treatment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Vitamin C supplements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Diet including citrus fruits, potatoes, broccoli, and strawberries.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Multivitamins</a:t>
                      </a:r>
                      <a:endParaRPr lang="en-US" sz="1400" dirty="0"/>
                    </a:p>
                    <a:p>
                      <a:pPr marL="285750" indent="-285750">
                        <a:buFont typeface="Arial" panose="020B0604020202020204" pitchFamily="34" charset="0"/>
                        <a:buChar char="•"/>
                      </a:pPr>
                      <a:endParaRPr lang="en-US" sz="1400" dirty="0"/>
                    </a:p>
                  </a:txBody>
                  <a:tcPr/>
                </a:tc>
                <a:extLst>
                  <a:ext uri="{0D108BD9-81ED-4DB2-BD59-A6C34878D82A}">
                    <a16:rowId xmlns:a16="http://schemas.microsoft.com/office/drawing/2014/main" val="3370836884"/>
                  </a:ext>
                </a:extLst>
              </a:tr>
              <a:tr h="712787">
                <a:tc>
                  <a:txBody>
                    <a:bodyPr/>
                    <a:lstStyle/>
                    <a:p>
                      <a:r>
                        <a:rPr lang="en-US" sz="1400" dirty="0"/>
                        <a:t>Nursing Care</a:t>
                      </a:r>
                    </a:p>
                  </a:txBody>
                  <a:tcPr/>
                </a:tc>
                <a:tc>
                  <a:txBody>
                    <a:bodyPr/>
                    <a:lstStyle/>
                    <a:p>
                      <a:pPr marL="285750" indent="-285750">
                        <a:buFont typeface="Arial" panose="020B0604020202020204" pitchFamily="34" charset="0"/>
                        <a:buChar char="•"/>
                      </a:pPr>
                      <a:r>
                        <a:rPr lang="en-US" sz="1400" dirty="0"/>
                        <a:t>Solid history, assessment, diet history, medical conditions (potential causes)</a:t>
                      </a:r>
                    </a:p>
                  </a:txBody>
                  <a:tcPr/>
                </a:tc>
                <a:extLst>
                  <a:ext uri="{0D108BD9-81ED-4DB2-BD59-A6C34878D82A}">
                    <a16:rowId xmlns:a16="http://schemas.microsoft.com/office/drawing/2014/main" val="952445790"/>
                  </a:ext>
                </a:extLst>
              </a:tr>
            </a:tbl>
          </a:graphicData>
        </a:graphic>
      </p:graphicFrame>
      <p:sp>
        <p:nvSpPr>
          <p:cNvPr id="3" name="Rectangle 2">
            <a:extLst>
              <a:ext uri="{FF2B5EF4-FFF2-40B4-BE49-F238E27FC236}">
                <a16:creationId xmlns:a16="http://schemas.microsoft.com/office/drawing/2014/main" id="{F262A7CB-8B7A-40BE-B269-1B8A29F488EF}"/>
              </a:ext>
            </a:extLst>
          </p:cNvPr>
          <p:cNvSpPr/>
          <p:nvPr/>
        </p:nvSpPr>
        <p:spPr>
          <a:xfrm>
            <a:off x="2362200" y="159144"/>
            <a:ext cx="5108258" cy="584775"/>
          </a:xfrm>
          <a:prstGeom prst="rect">
            <a:avLst/>
          </a:prstGeom>
        </p:spPr>
        <p:txBody>
          <a:bodyPr wrap="none">
            <a:spAutoFit/>
          </a:bodyPr>
          <a:lstStyle/>
          <a:p>
            <a:r>
              <a:rPr lang="en-US" sz="3200" dirty="0">
                <a:solidFill>
                  <a:schemeClr val="tx1">
                    <a:lumMod val="85000"/>
                    <a:lumOff val="15000"/>
                  </a:schemeClr>
                </a:solidFill>
              </a:rPr>
              <a:t>Scurvy – Vitamin C deficiency</a:t>
            </a:r>
            <a:endParaRPr lang="en-US" sz="3200" dirty="0"/>
          </a:p>
        </p:txBody>
      </p:sp>
      <p:sp>
        <p:nvSpPr>
          <p:cNvPr id="4" name="TextBox 3">
            <a:extLst>
              <a:ext uri="{FF2B5EF4-FFF2-40B4-BE49-F238E27FC236}">
                <a16:creationId xmlns:a16="http://schemas.microsoft.com/office/drawing/2014/main" id="{C0FCA577-BDE5-427A-923F-40913B5F0ED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7328341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www.medicine.com/cms/img/featured/rickets_0.jpg">
            <a:extLst>
              <a:ext uri="{FF2B5EF4-FFF2-40B4-BE49-F238E27FC236}">
                <a16:creationId xmlns:a16="http://schemas.microsoft.com/office/drawing/2014/main" id="{D3695096-2BF3-4388-8920-20CB80D55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57250"/>
            <a:ext cx="8839200"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D5AB037-AEF0-44E3-862E-BA21C0586EFE}"/>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
        <p:nvSpPr>
          <p:cNvPr id="7" name="TextBox 6">
            <a:extLst>
              <a:ext uri="{FF2B5EF4-FFF2-40B4-BE49-F238E27FC236}">
                <a16:creationId xmlns:a16="http://schemas.microsoft.com/office/drawing/2014/main" id="{81D616F0-1F6F-4B5B-B982-D647A0CF85FD}"/>
              </a:ext>
            </a:extLst>
          </p:cNvPr>
          <p:cNvSpPr txBox="1"/>
          <p:nvPr/>
        </p:nvSpPr>
        <p:spPr>
          <a:xfrm>
            <a:off x="2209800" y="111809"/>
            <a:ext cx="5238101" cy="584775"/>
          </a:xfrm>
          <a:prstGeom prst="rect">
            <a:avLst/>
          </a:prstGeom>
          <a:noFill/>
        </p:spPr>
        <p:txBody>
          <a:bodyPr wrap="none" rtlCol="0">
            <a:spAutoFit/>
          </a:bodyPr>
          <a:lstStyle/>
          <a:p>
            <a:r>
              <a:rPr lang="en-US" sz="3200" dirty="0"/>
              <a:t>Rickets – Vitamin D deficiency</a:t>
            </a:r>
          </a:p>
        </p:txBody>
      </p:sp>
    </p:spTree>
    <p:extLst>
      <p:ext uri="{BB962C8B-B14F-4D97-AF65-F5344CB8AC3E}">
        <p14:creationId xmlns:p14="http://schemas.microsoft.com/office/powerpoint/2010/main" val="15639423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52A4490-E6E8-446F-A68F-F24DFE64B9F3}"/>
              </a:ext>
            </a:extLst>
          </p:cNvPr>
          <p:cNvGraphicFramePr>
            <a:graphicFrameLocks noGrp="1"/>
          </p:cNvGraphicFramePr>
          <p:nvPr>
            <p:extLst>
              <p:ext uri="{D42A27DB-BD31-4B8C-83A1-F6EECF244321}">
                <p14:modId xmlns:p14="http://schemas.microsoft.com/office/powerpoint/2010/main" val="178522993"/>
              </p:ext>
            </p:extLst>
          </p:nvPr>
        </p:nvGraphicFramePr>
        <p:xfrm>
          <a:off x="228600" y="762000"/>
          <a:ext cx="8763000" cy="5737969"/>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801940720"/>
                    </a:ext>
                  </a:extLst>
                </a:gridCol>
                <a:gridCol w="7391400">
                  <a:extLst>
                    <a:ext uri="{9D8B030D-6E8A-4147-A177-3AD203B41FA5}">
                      <a16:colId xmlns:a16="http://schemas.microsoft.com/office/drawing/2014/main" val="294281582"/>
                    </a:ext>
                  </a:extLst>
                </a:gridCol>
              </a:tblGrid>
              <a:tr h="874357">
                <a:tc>
                  <a:txBody>
                    <a:bodyPr/>
                    <a:lstStyle/>
                    <a:p>
                      <a:r>
                        <a:rPr lang="en-US" sz="1400" dirty="0"/>
                        <a:t>Patho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a typeface="+mn-lt"/>
                          <a:cs typeface="+mn-lt"/>
                        </a:rPr>
                        <a:t>A softening and weakening of bones in children, usually due to inadequate vitamin D. inability to absorb Vit D due to liver / kidney disease. Calcium deficiency. Malnutrition, low sunlight exposure</a:t>
                      </a:r>
                      <a:endParaRPr lang="en-US" sz="1400" dirty="0"/>
                    </a:p>
                    <a:p>
                      <a:endParaRPr lang="en-US" sz="1400" dirty="0"/>
                    </a:p>
                  </a:txBody>
                  <a:tcPr/>
                </a:tc>
                <a:extLst>
                  <a:ext uri="{0D108BD9-81ED-4DB2-BD59-A6C34878D82A}">
                    <a16:rowId xmlns:a16="http://schemas.microsoft.com/office/drawing/2014/main" val="4168682790"/>
                  </a:ext>
                </a:extLst>
              </a:tr>
              <a:tr h="1384399">
                <a:tc>
                  <a:txBody>
                    <a:bodyPr/>
                    <a:lstStyle/>
                    <a:p>
                      <a:r>
                        <a:rPr lang="en-US" sz="1400" dirty="0"/>
                        <a:t>Manifestations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a typeface="+mn-lt"/>
                          <a:cs typeface="+mn-lt"/>
                        </a:rPr>
                        <a:t>Symptoms include delayed growth, bow legs, weakness, and pain in the spine, pelvis, and legs.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Poor growth and development (short height, low weight)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Knock knees, curvature of the spine, susceptible to bone fractures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Muscle spasms, pelvic, spinal or cranial bone deformities</a:t>
                      </a:r>
                      <a:endParaRPr lang="en-US" sz="1400" dirty="0"/>
                    </a:p>
                    <a:p>
                      <a:endParaRPr lang="en-US" sz="1400" dirty="0"/>
                    </a:p>
                  </a:txBody>
                  <a:tcPr/>
                </a:tc>
                <a:extLst>
                  <a:ext uri="{0D108BD9-81ED-4DB2-BD59-A6C34878D82A}">
                    <a16:rowId xmlns:a16="http://schemas.microsoft.com/office/drawing/2014/main" val="467717589"/>
                  </a:ext>
                </a:extLst>
              </a:tr>
              <a:tr h="1129378">
                <a:tc>
                  <a:txBody>
                    <a:bodyPr/>
                    <a:lstStyle/>
                    <a:p>
                      <a:r>
                        <a:rPr lang="en-US" sz="1400" dirty="0"/>
                        <a:t>Diagnosis</a:t>
                      </a:r>
                    </a:p>
                  </a:txBody>
                  <a:tcPr/>
                </a:tc>
                <a:tc>
                  <a:txBody>
                    <a:bodyPr/>
                    <a:lstStyle/>
                    <a:p>
                      <a:pPr marL="285750" indent="-285750">
                        <a:buFont typeface="Arial" panose="020B0604020202020204" pitchFamily="34" charset="0"/>
                        <a:buChar char="•"/>
                      </a:pPr>
                      <a:r>
                        <a:rPr lang="en-US" sz="1400" dirty="0"/>
                        <a:t>Vitamin deficiency labs (ADEK), liver function, kidney (BUN / </a:t>
                      </a:r>
                      <a:r>
                        <a:rPr lang="en-US" sz="1400" dirty="0" err="1"/>
                        <a:t>Creat</a:t>
                      </a:r>
                      <a:r>
                        <a:rPr lang="en-US" sz="1400" dirty="0"/>
                        <a:t>), Albumin, CMP, CBC, phosphate</a:t>
                      </a:r>
                    </a:p>
                    <a:p>
                      <a:pPr marL="285750" indent="-285750">
                        <a:buFont typeface="Arial" panose="020B0604020202020204" pitchFamily="34" charset="0"/>
                        <a:buChar char="•"/>
                      </a:pPr>
                      <a:r>
                        <a:rPr lang="en-US" sz="1400" dirty="0" err="1"/>
                        <a:t>Xrays</a:t>
                      </a:r>
                      <a:r>
                        <a:rPr lang="en-US" sz="1400" dirty="0"/>
                        <a:t> of bone structures</a:t>
                      </a:r>
                    </a:p>
                    <a:p>
                      <a:pPr marL="0" indent="0">
                        <a:buFont typeface="Arial" panose="020B0604020202020204" pitchFamily="34" charset="0"/>
                        <a:buNone/>
                      </a:pPr>
                      <a:endParaRPr lang="en-US" sz="1400" dirty="0"/>
                    </a:p>
                  </a:txBody>
                  <a:tcPr/>
                </a:tc>
                <a:extLst>
                  <a:ext uri="{0D108BD9-81ED-4DB2-BD59-A6C34878D82A}">
                    <a16:rowId xmlns:a16="http://schemas.microsoft.com/office/drawing/2014/main" val="3239700284"/>
                  </a:ext>
                </a:extLst>
              </a:tr>
              <a:tr h="983652">
                <a:tc>
                  <a:txBody>
                    <a:bodyPr/>
                    <a:lstStyle/>
                    <a:p>
                      <a:r>
                        <a:rPr lang="en-US" sz="1400" dirty="0"/>
                        <a:t>Treatment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Pregnant mothers: eating well balanced diet, prenatal vitamins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Positioning or bracing – correcting bone deformities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ea typeface="+mn-lt"/>
                          <a:cs typeface="+mn-lt"/>
                        </a:rPr>
                        <a:t>Orthopedic surgery – bow legs and knock knees</a:t>
                      </a:r>
                      <a:endParaRPr lang="en-US" sz="1400" dirty="0"/>
                    </a:p>
                  </a:txBody>
                  <a:tcPr/>
                </a:tc>
                <a:extLst>
                  <a:ext uri="{0D108BD9-81ED-4DB2-BD59-A6C34878D82A}">
                    <a16:rowId xmlns:a16="http://schemas.microsoft.com/office/drawing/2014/main" val="1796482475"/>
                  </a:ext>
                </a:extLst>
              </a:tr>
              <a:tr h="1366183">
                <a:tc>
                  <a:txBody>
                    <a:bodyPr/>
                    <a:lstStyle/>
                    <a:p>
                      <a:r>
                        <a:rPr lang="en-US" sz="1400" dirty="0"/>
                        <a:t>Medications</a:t>
                      </a:r>
                    </a:p>
                    <a:p>
                      <a:endParaRPr lang="en-US" sz="1400" dirty="0"/>
                    </a:p>
                    <a:p>
                      <a:r>
                        <a:rPr lang="en-US" sz="1400" dirty="0"/>
                        <a:t>Nutrition</a:t>
                      </a:r>
                    </a:p>
                  </a:txBody>
                  <a:tcPr/>
                </a:tc>
                <a:tc>
                  <a:txBody>
                    <a:bodyPr/>
                    <a:lstStyle/>
                    <a:p>
                      <a:pPr marL="285750" indent="-285750">
                        <a:buFont typeface="Arial" panose="020B0604020202020204" pitchFamily="34" charset="0"/>
                        <a:buChar char="•"/>
                      </a:pPr>
                      <a:r>
                        <a:rPr lang="en-US" sz="1400" dirty="0"/>
                        <a:t>Vitamin D supplements, Calcium supplements, Phosphate supplements (hereditary rickets)</a:t>
                      </a:r>
                    </a:p>
                    <a:p>
                      <a:pPr marL="0" indent="0">
                        <a:buFont typeface="Arial" panose="020B0604020202020204" pitchFamily="34" charset="0"/>
                        <a:buNone/>
                      </a:pPr>
                      <a:endParaRPr lang="en-US" sz="1400" dirty="0"/>
                    </a:p>
                    <a:p>
                      <a:pPr marL="285750" indent="-285750">
                        <a:buFont typeface="Arial" panose="020B0604020202020204" pitchFamily="34" charset="0"/>
                        <a:buChar char="•"/>
                      </a:pPr>
                      <a:r>
                        <a:rPr lang="en-US" sz="1400" dirty="0"/>
                        <a:t>Vit D: fish, liver, milk, eggs</a:t>
                      </a:r>
                    </a:p>
                    <a:p>
                      <a:pPr marL="285750" indent="-285750">
                        <a:buFont typeface="Arial" panose="020B0604020202020204" pitchFamily="34" charset="0"/>
                        <a:buChar char="•"/>
                      </a:pPr>
                      <a:r>
                        <a:rPr lang="en-US" sz="1400" dirty="0"/>
                        <a:t>Calcium: milk, yogurt, cheese, leafy green vegetables</a:t>
                      </a:r>
                    </a:p>
                    <a:p>
                      <a:pPr marL="285750" indent="-285750">
                        <a:buFont typeface="Arial" panose="020B0604020202020204" pitchFamily="34" charset="0"/>
                        <a:buChar char="•"/>
                      </a:pPr>
                      <a:r>
                        <a:rPr lang="en-US" sz="1400" dirty="0"/>
                        <a:t>Phosphorus: meats, poultry, fish, nuts, beans, dairy</a:t>
                      </a:r>
                    </a:p>
                  </a:txBody>
                  <a:tcPr/>
                </a:tc>
                <a:extLst>
                  <a:ext uri="{0D108BD9-81ED-4DB2-BD59-A6C34878D82A}">
                    <a16:rowId xmlns:a16="http://schemas.microsoft.com/office/drawing/2014/main" val="2752332513"/>
                  </a:ext>
                </a:extLst>
              </a:tr>
            </a:tbl>
          </a:graphicData>
        </a:graphic>
      </p:graphicFrame>
      <p:sp>
        <p:nvSpPr>
          <p:cNvPr id="5" name="TextBox 4">
            <a:extLst>
              <a:ext uri="{FF2B5EF4-FFF2-40B4-BE49-F238E27FC236}">
                <a16:creationId xmlns:a16="http://schemas.microsoft.com/office/drawing/2014/main" id="{205B2699-FFCE-4D42-9703-57C308B34D23}"/>
              </a:ext>
            </a:extLst>
          </p:cNvPr>
          <p:cNvSpPr txBox="1"/>
          <p:nvPr/>
        </p:nvSpPr>
        <p:spPr>
          <a:xfrm>
            <a:off x="2209800" y="111809"/>
            <a:ext cx="5238101" cy="584775"/>
          </a:xfrm>
          <a:prstGeom prst="rect">
            <a:avLst/>
          </a:prstGeom>
          <a:noFill/>
        </p:spPr>
        <p:txBody>
          <a:bodyPr wrap="none" rtlCol="0">
            <a:spAutoFit/>
          </a:bodyPr>
          <a:lstStyle/>
          <a:p>
            <a:r>
              <a:rPr lang="en-US" sz="3200" dirty="0"/>
              <a:t>Rickets – Vitamin D deficiency</a:t>
            </a:r>
          </a:p>
        </p:txBody>
      </p:sp>
      <p:sp>
        <p:nvSpPr>
          <p:cNvPr id="6" name="TextBox 5">
            <a:extLst>
              <a:ext uri="{FF2B5EF4-FFF2-40B4-BE49-F238E27FC236}">
                <a16:creationId xmlns:a16="http://schemas.microsoft.com/office/drawing/2014/main" id="{01AD9644-AFFD-4FE3-953E-45FCC666A93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cxnSp>
        <p:nvCxnSpPr>
          <p:cNvPr id="3" name="Straight Connector 2">
            <a:extLst>
              <a:ext uri="{FF2B5EF4-FFF2-40B4-BE49-F238E27FC236}">
                <a16:creationId xmlns:a16="http://schemas.microsoft.com/office/drawing/2014/main" id="{FEEF5AC4-368D-4375-9D47-BC52E66AF8CD}"/>
              </a:ext>
            </a:extLst>
          </p:cNvPr>
          <p:cNvCxnSpPr>
            <a:cxnSpLocks/>
          </p:cNvCxnSpPr>
          <p:nvPr/>
        </p:nvCxnSpPr>
        <p:spPr>
          <a:xfrm>
            <a:off x="1642820" y="5021451"/>
            <a:ext cx="7272580" cy="774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217664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F88559-82FC-4420-B287-3E0586489E6B}"/>
              </a:ext>
            </a:extLst>
          </p:cNvPr>
          <p:cNvSpPr>
            <a:spLocks noGrp="1"/>
          </p:cNvSpPr>
          <p:nvPr>
            <p:ph type="ctrTitle"/>
          </p:nvPr>
        </p:nvSpPr>
        <p:spPr>
          <a:xfrm>
            <a:off x="1828800" y="-76200"/>
            <a:ext cx="5011293" cy="887278"/>
          </a:xfrm>
        </p:spPr>
        <p:txBody>
          <a:bodyPr>
            <a:normAutofit/>
          </a:bodyPr>
          <a:lstStyle/>
          <a:p>
            <a:r>
              <a:rPr lang="en-US" sz="3600" b="1" dirty="0">
                <a:solidFill>
                  <a:srgbClr val="00B050"/>
                </a:solidFill>
              </a:rPr>
              <a:t>PKU - </a:t>
            </a:r>
            <a:r>
              <a:rPr lang="en-US" sz="3600" b="1" dirty="0" err="1">
                <a:solidFill>
                  <a:srgbClr val="00B050"/>
                </a:solidFill>
              </a:rPr>
              <a:t>Phyenylketonuria</a:t>
            </a:r>
            <a:endParaRPr lang="en-US" sz="3600" b="1" dirty="0">
              <a:solidFill>
                <a:srgbClr val="00B050"/>
              </a:solidFill>
            </a:endParaRPr>
          </a:p>
        </p:txBody>
      </p:sp>
      <p:sp>
        <p:nvSpPr>
          <p:cNvPr id="6" name="TextBox 5">
            <a:extLst>
              <a:ext uri="{FF2B5EF4-FFF2-40B4-BE49-F238E27FC236}">
                <a16:creationId xmlns:a16="http://schemas.microsoft.com/office/drawing/2014/main" id="{AD720B29-7E9C-4B3F-8C51-9FC9B95D2ECC}"/>
              </a:ext>
            </a:extLst>
          </p:cNvPr>
          <p:cNvSpPr txBox="1"/>
          <p:nvPr/>
        </p:nvSpPr>
        <p:spPr>
          <a:xfrm>
            <a:off x="1" y="811078"/>
            <a:ext cx="6840092" cy="4801314"/>
          </a:xfrm>
          <a:prstGeom prst="rect">
            <a:avLst/>
          </a:prstGeom>
          <a:noFill/>
        </p:spPr>
        <p:txBody>
          <a:bodyPr wrap="square" rtlCol="0">
            <a:spAutoFit/>
          </a:bodyPr>
          <a:lstStyle/>
          <a:p>
            <a:r>
              <a:rPr lang="en-US" b="1" dirty="0"/>
              <a:t> Rare inherited disorder that causes an amino acid called phenylalanine to build up in the body. PKU is caused by a defect in the gene that helps create the enzyme needed to break down phenylalanine.</a:t>
            </a:r>
          </a:p>
          <a:p>
            <a:endParaRPr lang="en-US" b="1" dirty="0"/>
          </a:p>
          <a:p>
            <a:r>
              <a:rPr lang="en-US" b="1" dirty="0"/>
              <a:t>Without the enzyme necessary to process phenylalanine, a dangerous buildup can develop when a person with PKU eats foods that contain protein or eats aspartame, an artificial sweetener. This can eventually lead to serious health problems.</a:t>
            </a:r>
          </a:p>
          <a:p>
            <a:endParaRPr lang="en-US" b="1" dirty="0"/>
          </a:p>
          <a:p>
            <a:r>
              <a:rPr lang="en-US" b="1" dirty="0"/>
              <a:t>For the rest of their lives, people with PKU — babies, children and adults — need to follow a diet that limits phenylalanine, which is found mostly in foods that contain protein.</a:t>
            </a:r>
          </a:p>
          <a:p>
            <a:endParaRPr lang="en-US" b="1" dirty="0"/>
          </a:p>
          <a:p>
            <a:r>
              <a:rPr lang="en-US" b="1" dirty="0"/>
              <a:t>Babies in the United States and many other countries are screened for PKU soon after birth. Recognizing PKU right away can help prevent major health problems.</a:t>
            </a:r>
          </a:p>
        </p:txBody>
      </p:sp>
    </p:spTree>
    <p:extLst>
      <p:ext uri="{BB962C8B-B14F-4D97-AF65-F5344CB8AC3E}">
        <p14:creationId xmlns:p14="http://schemas.microsoft.com/office/powerpoint/2010/main" val="28754181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662F7-8F61-4667-82C7-FE91D4301312}"/>
              </a:ext>
            </a:extLst>
          </p:cNvPr>
          <p:cNvSpPr>
            <a:spLocks noGrp="1"/>
          </p:cNvSpPr>
          <p:nvPr>
            <p:ph type="title"/>
          </p:nvPr>
        </p:nvSpPr>
        <p:spPr>
          <a:xfrm>
            <a:off x="0" y="1123839"/>
            <a:ext cx="2514600" cy="1619362"/>
          </a:xfrm>
        </p:spPr>
        <p:txBody>
          <a:bodyPr/>
          <a:lstStyle/>
          <a:p>
            <a:r>
              <a:rPr lang="en-US" dirty="0"/>
              <a:t>Xerophthalmia</a:t>
            </a:r>
          </a:p>
        </p:txBody>
      </p:sp>
      <p:sp>
        <p:nvSpPr>
          <p:cNvPr id="3" name="Content Placeholder 2">
            <a:extLst>
              <a:ext uri="{FF2B5EF4-FFF2-40B4-BE49-F238E27FC236}">
                <a16:creationId xmlns:a16="http://schemas.microsoft.com/office/drawing/2014/main" id="{A50D0524-B599-4464-BA97-8ECC2B987B0E}"/>
              </a:ext>
            </a:extLst>
          </p:cNvPr>
          <p:cNvSpPr>
            <a:spLocks noGrp="1"/>
          </p:cNvSpPr>
          <p:nvPr>
            <p:ph idx="1"/>
          </p:nvPr>
        </p:nvSpPr>
        <p:spPr>
          <a:xfrm>
            <a:off x="2514600" y="152400"/>
            <a:ext cx="5873751" cy="3048000"/>
          </a:xfrm>
        </p:spPr>
        <p:txBody>
          <a:bodyPr>
            <a:normAutofit/>
          </a:bodyPr>
          <a:lstStyle/>
          <a:p>
            <a:r>
              <a:rPr lang="en-US" sz="2000" b="1" dirty="0"/>
              <a:t>Xerophthalmia is a disease that causes dry eyes due to vitamin A deficiency. If it goes untreated, it can progress into night blindness or spots on your eyes. It can even damage the cornea of your eye and cause blindness.</a:t>
            </a:r>
          </a:p>
          <a:p>
            <a:r>
              <a:rPr lang="en-US" sz="2000" b="1" dirty="0"/>
              <a:t>This disease is rare in the U.S. It’s more commonly seen in developing countries, where people are more likely to have nutrient deficiencies. It can be treated with vitamin A supplements.</a:t>
            </a:r>
          </a:p>
        </p:txBody>
      </p:sp>
      <p:pic>
        <p:nvPicPr>
          <p:cNvPr id="4" name="Picture 3">
            <a:extLst>
              <a:ext uri="{FF2B5EF4-FFF2-40B4-BE49-F238E27FC236}">
                <a16:creationId xmlns:a16="http://schemas.microsoft.com/office/drawing/2014/main" id="{F4BD6EC8-0987-4C95-87B9-083ECE8650C1}"/>
              </a:ext>
            </a:extLst>
          </p:cNvPr>
          <p:cNvPicPr>
            <a:picLocks noChangeAspect="1"/>
          </p:cNvPicPr>
          <p:nvPr/>
        </p:nvPicPr>
        <p:blipFill>
          <a:blip r:embed="rId2"/>
          <a:stretch>
            <a:fillRect/>
          </a:stretch>
        </p:blipFill>
        <p:spPr>
          <a:xfrm>
            <a:off x="3352800" y="3200400"/>
            <a:ext cx="4341089" cy="3657599"/>
          </a:xfrm>
          <a:prstGeom prst="rect">
            <a:avLst/>
          </a:prstGeom>
        </p:spPr>
      </p:pic>
    </p:spTree>
    <p:extLst>
      <p:ext uri="{BB962C8B-B14F-4D97-AF65-F5344CB8AC3E}">
        <p14:creationId xmlns:p14="http://schemas.microsoft.com/office/powerpoint/2010/main" val="6220333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9571C-B5BA-4EDF-BECF-0DFDE6D6219B}"/>
              </a:ext>
            </a:extLst>
          </p:cNvPr>
          <p:cNvSpPr>
            <a:spLocks noGrp="1"/>
          </p:cNvSpPr>
          <p:nvPr>
            <p:ph type="title"/>
          </p:nvPr>
        </p:nvSpPr>
        <p:spPr>
          <a:xfrm>
            <a:off x="0" y="864109"/>
            <a:ext cx="2590799" cy="1498092"/>
          </a:xfrm>
        </p:spPr>
        <p:txBody>
          <a:bodyPr/>
          <a:lstStyle/>
          <a:p>
            <a:r>
              <a:rPr lang="en-US" dirty="0" err="1"/>
              <a:t>Osteomalacia</a:t>
            </a:r>
            <a:endParaRPr lang="en-US" dirty="0"/>
          </a:p>
        </p:txBody>
      </p:sp>
      <p:pic>
        <p:nvPicPr>
          <p:cNvPr id="4" name="Content Placeholder 3">
            <a:extLst>
              <a:ext uri="{FF2B5EF4-FFF2-40B4-BE49-F238E27FC236}">
                <a16:creationId xmlns:a16="http://schemas.microsoft.com/office/drawing/2014/main" id="{1351B863-887D-4D5B-B372-AC73EFBBF350}"/>
              </a:ext>
            </a:extLst>
          </p:cNvPr>
          <p:cNvPicPr>
            <a:picLocks noGrp="1" noChangeAspect="1"/>
          </p:cNvPicPr>
          <p:nvPr>
            <p:ph idx="1"/>
          </p:nvPr>
        </p:nvPicPr>
        <p:blipFill>
          <a:blip r:embed="rId2"/>
          <a:stretch>
            <a:fillRect/>
          </a:stretch>
        </p:blipFill>
        <p:spPr>
          <a:xfrm>
            <a:off x="2667000" y="3454831"/>
            <a:ext cx="3810000" cy="3048000"/>
          </a:xfrm>
          <a:prstGeom prst="rect">
            <a:avLst/>
          </a:prstGeom>
        </p:spPr>
      </p:pic>
      <p:sp>
        <p:nvSpPr>
          <p:cNvPr id="5" name="TextBox 4">
            <a:extLst>
              <a:ext uri="{FF2B5EF4-FFF2-40B4-BE49-F238E27FC236}">
                <a16:creationId xmlns:a16="http://schemas.microsoft.com/office/drawing/2014/main" id="{1B06FCF8-462E-418C-BC03-3A92736B3C2B}"/>
              </a:ext>
            </a:extLst>
          </p:cNvPr>
          <p:cNvSpPr txBox="1"/>
          <p:nvPr/>
        </p:nvSpPr>
        <p:spPr>
          <a:xfrm>
            <a:off x="2819400" y="228600"/>
            <a:ext cx="6096000" cy="2862322"/>
          </a:xfrm>
          <a:prstGeom prst="rect">
            <a:avLst/>
          </a:prstGeom>
          <a:noFill/>
        </p:spPr>
        <p:txBody>
          <a:bodyPr wrap="square" rtlCol="0">
            <a:spAutoFit/>
          </a:bodyPr>
          <a:lstStyle/>
          <a:p>
            <a:r>
              <a:rPr lang="en-US" b="1" dirty="0" err="1"/>
              <a:t>Osteomalacia</a:t>
            </a:r>
            <a:r>
              <a:rPr lang="en-US" b="1" dirty="0"/>
              <a:t> is softening of the bones. It most often occurs because of a problem with vitamin D, which helps your body absorb calcium. Your body needs calcium to maintain the strength and hardness of your bones.</a:t>
            </a:r>
          </a:p>
          <a:p>
            <a:endParaRPr lang="en-US" b="1" dirty="0"/>
          </a:p>
          <a:p>
            <a:r>
              <a:rPr lang="en-US" b="1" dirty="0"/>
              <a:t>In children, the condition is called rickets</a:t>
            </a:r>
          </a:p>
          <a:p>
            <a:endParaRPr lang="en-US" b="1" dirty="0"/>
          </a:p>
          <a:p>
            <a:r>
              <a:rPr lang="en-US" b="1" dirty="0"/>
              <a:t>A lack of the proper amount of calcium in the blood can lead to weak and soft bones. Low blood calcium can be caused by low vitamin D level in the blood.</a:t>
            </a:r>
          </a:p>
        </p:txBody>
      </p:sp>
    </p:spTree>
    <p:extLst>
      <p:ext uri="{BB962C8B-B14F-4D97-AF65-F5344CB8AC3E}">
        <p14:creationId xmlns:p14="http://schemas.microsoft.com/office/powerpoint/2010/main" val="16319394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BB23-8881-4B97-A9D0-94D25EF1549F}"/>
              </a:ext>
            </a:extLst>
          </p:cNvPr>
          <p:cNvSpPr>
            <a:spLocks noGrp="1"/>
          </p:cNvSpPr>
          <p:nvPr>
            <p:ph type="title"/>
          </p:nvPr>
        </p:nvSpPr>
        <p:spPr>
          <a:xfrm>
            <a:off x="189689" y="1123839"/>
            <a:ext cx="2210612" cy="2762362"/>
          </a:xfrm>
        </p:spPr>
        <p:txBody>
          <a:bodyPr/>
          <a:lstStyle/>
          <a:p>
            <a:r>
              <a:rPr lang="en-US" dirty="0"/>
              <a:t>Beriberi – A Vitamin B1 (Thiamine) deficiency.  </a:t>
            </a:r>
          </a:p>
        </p:txBody>
      </p:sp>
      <p:pic>
        <p:nvPicPr>
          <p:cNvPr id="4" name="Content Placeholder 3">
            <a:extLst>
              <a:ext uri="{FF2B5EF4-FFF2-40B4-BE49-F238E27FC236}">
                <a16:creationId xmlns:a16="http://schemas.microsoft.com/office/drawing/2014/main" id="{049F088D-4FC5-4FD2-A7DE-ACCC7A788263}"/>
              </a:ext>
            </a:extLst>
          </p:cNvPr>
          <p:cNvPicPr>
            <a:picLocks noGrp="1" noChangeAspect="1"/>
          </p:cNvPicPr>
          <p:nvPr>
            <p:ph idx="1"/>
          </p:nvPr>
        </p:nvPicPr>
        <p:blipFill>
          <a:blip r:embed="rId3"/>
          <a:stretch>
            <a:fillRect/>
          </a:stretch>
        </p:blipFill>
        <p:spPr>
          <a:xfrm>
            <a:off x="2743200" y="120005"/>
            <a:ext cx="5943600" cy="6446466"/>
          </a:xfrm>
          <a:prstGeom prst="rect">
            <a:avLst/>
          </a:prstGeom>
        </p:spPr>
      </p:pic>
    </p:spTree>
    <p:extLst>
      <p:ext uri="{BB962C8B-B14F-4D97-AF65-F5344CB8AC3E}">
        <p14:creationId xmlns:p14="http://schemas.microsoft.com/office/powerpoint/2010/main" val="27028684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8B56430E-FC7A-4288-BDF6-DB37C620F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860" y="963479"/>
            <a:ext cx="7086600" cy="573735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E6997F2-70AE-4C11-8206-F576A9FD5AC4}"/>
              </a:ext>
            </a:extLst>
          </p:cNvPr>
          <p:cNvSpPr/>
          <p:nvPr/>
        </p:nvSpPr>
        <p:spPr>
          <a:xfrm>
            <a:off x="3123708" y="130046"/>
            <a:ext cx="3300904" cy="646331"/>
          </a:xfrm>
          <a:prstGeom prst="rect">
            <a:avLst/>
          </a:prstGeom>
        </p:spPr>
        <p:txBody>
          <a:bodyPr wrap="none">
            <a:spAutoFit/>
          </a:bodyPr>
          <a:lstStyle/>
          <a:p>
            <a:r>
              <a:rPr lang="en-US" sz="3600" dirty="0">
                <a:solidFill>
                  <a:schemeClr val="tx1">
                    <a:lumMod val="85000"/>
                    <a:lumOff val="15000"/>
                  </a:schemeClr>
                </a:solidFill>
              </a:rPr>
              <a:t>Dangers of PICA</a:t>
            </a:r>
            <a:endParaRPr lang="en-US" sz="3600" dirty="0"/>
          </a:p>
        </p:txBody>
      </p:sp>
    </p:spTree>
    <p:extLst>
      <p:ext uri="{BB962C8B-B14F-4D97-AF65-F5344CB8AC3E}">
        <p14:creationId xmlns:p14="http://schemas.microsoft.com/office/powerpoint/2010/main" val="22951060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F3B5743-61BB-4E6A-824B-025C96C41F1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graphicFrame>
        <p:nvGraphicFramePr>
          <p:cNvPr id="4" name="Table 3">
            <a:extLst>
              <a:ext uri="{FF2B5EF4-FFF2-40B4-BE49-F238E27FC236}">
                <a16:creationId xmlns:a16="http://schemas.microsoft.com/office/drawing/2014/main" id="{E11BDC69-E70F-4105-9938-22E1546AA221}"/>
              </a:ext>
            </a:extLst>
          </p:cNvPr>
          <p:cNvGraphicFramePr>
            <a:graphicFrameLocks noGrp="1"/>
          </p:cNvGraphicFramePr>
          <p:nvPr>
            <p:extLst>
              <p:ext uri="{D42A27DB-BD31-4B8C-83A1-F6EECF244321}">
                <p14:modId xmlns:p14="http://schemas.microsoft.com/office/powerpoint/2010/main" val="3943347791"/>
              </p:ext>
            </p:extLst>
          </p:nvPr>
        </p:nvGraphicFramePr>
        <p:xfrm>
          <a:off x="228600" y="776376"/>
          <a:ext cx="8686800" cy="5686143"/>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1896592039"/>
                    </a:ext>
                  </a:extLst>
                </a:gridCol>
                <a:gridCol w="7086600">
                  <a:extLst>
                    <a:ext uri="{9D8B030D-6E8A-4147-A177-3AD203B41FA5}">
                      <a16:colId xmlns:a16="http://schemas.microsoft.com/office/drawing/2014/main" val="2180626912"/>
                    </a:ext>
                  </a:extLst>
                </a:gridCol>
              </a:tblGrid>
              <a:tr h="683183">
                <a:tc>
                  <a:txBody>
                    <a:bodyPr/>
                    <a:lstStyle/>
                    <a:p>
                      <a:r>
                        <a:rPr lang="en-US" sz="1400" dirty="0"/>
                        <a:t>Patho</a:t>
                      </a:r>
                    </a:p>
                  </a:txBody>
                  <a:tcPr/>
                </a:tc>
                <a:tc>
                  <a:txBody>
                    <a:bodyPr/>
                    <a:lstStyle/>
                    <a:p>
                      <a:r>
                        <a:rPr lang="en-US" sz="1400" dirty="0"/>
                        <a:t>Eating disorder involving eating items that are not  for human consumption or nutritional value. </a:t>
                      </a:r>
                    </a:p>
                    <a:p>
                      <a:pPr marL="285750" indent="-285750">
                        <a:buFont typeface="Arial" panose="020B0604020202020204" pitchFamily="34" charset="0"/>
                        <a:buChar char="•"/>
                      </a:pPr>
                      <a:endParaRPr lang="en-US" sz="1400" dirty="0"/>
                    </a:p>
                  </a:txBody>
                  <a:tcPr/>
                </a:tc>
                <a:extLst>
                  <a:ext uri="{0D108BD9-81ED-4DB2-BD59-A6C34878D82A}">
                    <a16:rowId xmlns:a16="http://schemas.microsoft.com/office/drawing/2014/main" val="1626533398"/>
                  </a:ext>
                </a:extLst>
              </a:tr>
              <a:tr h="1632538">
                <a:tc>
                  <a:txBody>
                    <a:bodyPr/>
                    <a:lstStyle/>
                    <a:p>
                      <a:r>
                        <a:rPr lang="en-US" sz="1400" dirty="0"/>
                        <a:t>Manifestations</a:t>
                      </a:r>
                    </a:p>
                  </a:txBody>
                  <a:tcPr/>
                </a:tc>
                <a:tc>
                  <a:txBody>
                    <a:bodyPr/>
                    <a:lstStyle/>
                    <a:p>
                      <a:pPr marL="285750" indent="-285750">
                        <a:buFont typeface="Arial" panose="020B0604020202020204" pitchFamily="34" charset="0"/>
                        <a:buChar char="•"/>
                      </a:pPr>
                      <a:r>
                        <a:rPr lang="en-US" sz="1400" dirty="0"/>
                        <a:t>Anemia, potential intestinal blockages, toxic side effects (lead in paint, bacteria or parasites)</a:t>
                      </a:r>
                    </a:p>
                    <a:p>
                      <a:pPr marL="285750" indent="-285750">
                        <a:buFont typeface="Arial" panose="020B0604020202020204" pitchFamily="34" charset="0"/>
                        <a:buChar char="•"/>
                      </a:pPr>
                      <a:r>
                        <a:rPr lang="en-US" sz="1400" dirty="0"/>
                        <a:t>Iron-deficiency anemia &amp; malnutrition: 2 most common causes followed by pregnancy</a:t>
                      </a:r>
                    </a:p>
                    <a:p>
                      <a:pPr marL="285750" indent="-285750">
                        <a:buFont typeface="Arial" panose="020B0604020202020204" pitchFamily="34" charset="0"/>
                        <a:buChar char="•"/>
                      </a:pPr>
                      <a:r>
                        <a:rPr lang="en-US" sz="1400" dirty="0"/>
                        <a:t>Body is trying to correct a significant nutrient deficiency</a:t>
                      </a:r>
                    </a:p>
                    <a:p>
                      <a:pPr marL="285750" indent="-285750">
                        <a:buFont typeface="Arial" panose="020B0604020202020204" pitchFamily="34" charset="0"/>
                        <a:buChar char="•"/>
                      </a:pPr>
                      <a:r>
                        <a:rPr lang="en-US" sz="1400" dirty="0"/>
                        <a:t>Occurs with mental health disorders </a:t>
                      </a:r>
                      <a:r>
                        <a:rPr lang="en-US" sz="1400" dirty="0" err="1"/>
                        <a:t>ie</a:t>
                      </a:r>
                      <a:r>
                        <a:rPr lang="en-US" sz="1400" dirty="0"/>
                        <a:t>: intellectual disability, autism, schizophrenia, trichotillomania (hair-pulling disorder), excoriation (skin-picking) disorder</a:t>
                      </a:r>
                    </a:p>
                    <a:p>
                      <a:pPr marL="285750" indent="-285750">
                        <a:buFont typeface="Arial" panose="020B0604020202020204" pitchFamily="34" charset="0"/>
                        <a:buChar char="•"/>
                      </a:pPr>
                      <a:r>
                        <a:rPr lang="en-US" sz="1400" dirty="0"/>
                        <a:t>Can affect children, adolescents and adults of either gender</a:t>
                      </a:r>
                    </a:p>
                    <a:p>
                      <a:pPr marL="285750" indent="-285750">
                        <a:buFont typeface="Arial" panose="020B0604020202020204" pitchFamily="34" charset="0"/>
                        <a:buChar char="•"/>
                      </a:pPr>
                      <a:endParaRPr lang="en-US" sz="1400" dirty="0"/>
                    </a:p>
                  </a:txBody>
                  <a:tcPr/>
                </a:tc>
                <a:extLst>
                  <a:ext uri="{0D108BD9-81ED-4DB2-BD59-A6C34878D82A}">
                    <a16:rowId xmlns:a16="http://schemas.microsoft.com/office/drawing/2014/main" val="2713134796"/>
                  </a:ext>
                </a:extLst>
              </a:tr>
              <a:tr h="1052101">
                <a:tc>
                  <a:txBody>
                    <a:bodyPr/>
                    <a:lstStyle/>
                    <a:p>
                      <a:r>
                        <a:rPr lang="en-US" sz="1400" dirty="0"/>
                        <a:t>Diagnostics / Labs</a:t>
                      </a:r>
                    </a:p>
                  </a:txBody>
                  <a:tcPr/>
                </a:tc>
                <a:tc>
                  <a:txBody>
                    <a:bodyPr/>
                    <a:lstStyle/>
                    <a:p>
                      <a:r>
                        <a:rPr lang="en-US" sz="1400" dirty="0"/>
                        <a:t>No lab tests for PICA – Dx is made from clinical history</a:t>
                      </a:r>
                    </a:p>
                    <a:p>
                      <a:pPr marL="285750" indent="-285750">
                        <a:buFont typeface="Arial" panose="020B0604020202020204" pitchFamily="34" charset="0"/>
                        <a:buChar char="•"/>
                      </a:pPr>
                      <a:r>
                        <a:rPr lang="en-US" sz="1400" dirty="0"/>
                        <a:t>Iron-deficiency labs</a:t>
                      </a:r>
                    </a:p>
                    <a:p>
                      <a:pPr marL="285750" indent="-285750">
                        <a:buFont typeface="Arial" panose="020B0604020202020204" pitchFamily="34" charset="0"/>
                        <a:buChar char="•"/>
                      </a:pPr>
                      <a:r>
                        <a:rPr lang="en-US" sz="1400" dirty="0"/>
                        <a:t>Vitamin deficiency labs</a:t>
                      </a:r>
                    </a:p>
                    <a:p>
                      <a:pPr marL="285750" indent="-285750">
                        <a:buFont typeface="Arial" panose="020B0604020202020204" pitchFamily="34" charset="0"/>
                        <a:buChar char="•"/>
                      </a:pPr>
                      <a:endParaRPr lang="en-US" sz="1400" dirty="0"/>
                    </a:p>
                  </a:txBody>
                  <a:tcPr/>
                </a:tc>
                <a:extLst>
                  <a:ext uri="{0D108BD9-81ED-4DB2-BD59-A6C34878D82A}">
                    <a16:rowId xmlns:a16="http://schemas.microsoft.com/office/drawing/2014/main" val="2924314747"/>
                  </a:ext>
                </a:extLst>
              </a:tr>
              <a:tr h="1052101">
                <a:tc>
                  <a:txBody>
                    <a:bodyPr/>
                    <a:lstStyle/>
                    <a:p>
                      <a:r>
                        <a:rPr lang="en-US" sz="1400" dirty="0"/>
                        <a:t>Treatment</a:t>
                      </a:r>
                    </a:p>
                  </a:txBody>
                  <a:tcPr/>
                </a:tc>
                <a:tc>
                  <a:txBody>
                    <a:bodyPr/>
                    <a:lstStyle/>
                    <a:p>
                      <a:pPr marL="285750" indent="-285750">
                        <a:buFont typeface="Arial" panose="020B0604020202020204" pitchFamily="34" charset="0"/>
                        <a:buChar char="•"/>
                      </a:pPr>
                      <a:r>
                        <a:rPr lang="en-US" sz="1400" dirty="0"/>
                        <a:t>First-line treatment – mineral or nutrient deficiencies correction</a:t>
                      </a:r>
                    </a:p>
                    <a:p>
                      <a:pPr marL="285750" indent="-285750">
                        <a:buFont typeface="Arial" panose="020B0604020202020204" pitchFamily="34" charset="0"/>
                        <a:buChar char="•"/>
                      </a:pPr>
                      <a:r>
                        <a:rPr lang="en-US" sz="1400" dirty="0"/>
                        <a:t>Vitamins, food nutrients, mental health counseling</a:t>
                      </a:r>
                    </a:p>
                  </a:txBody>
                  <a:tcPr/>
                </a:tc>
                <a:extLst>
                  <a:ext uri="{0D108BD9-81ED-4DB2-BD59-A6C34878D82A}">
                    <a16:rowId xmlns:a16="http://schemas.microsoft.com/office/drawing/2014/main" val="2479120934"/>
                  </a:ext>
                </a:extLst>
              </a:tr>
              <a:tr h="1052101">
                <a:tc>
                  <a:txBody>
                    <a:bodyPr/>
                    <a:lstStyle/>
                    <a:p>
                      <a:r>
                        <a:rPr lang="en-US" sz="1400" dirty="0"/>
                        <a:t>Nursing Care</a:t>
                      </a:r>
                    </a:p>
                  </a:txBody>
                  <a:tcPr/>
                </a:tc>
                <a:tc>
                  <a:txBody>
                    <a:bodyPr/>
                    <a:lstStyle/>
                    <a:p>
                      <a:pPr marL="285750" indent="-285750">
                        <a:buFont typeface="Arial" panose="020B0604020202020204" pitchFamily="34" charset="0"/>
                        <a:buChar char="•"/>
                      </a:pPr>
                      <a:r>
                        <a:rPr lang="en-US" sz="1400" dirty="0"/>
                        <a:t>Nutritional, mental health counseling consultations</a:t>
                      </a:r>
                    </a:p>
                  </a:txBody>
                  <a:tcPr/>
                </a:tc>
                <a:extLst>
                  <a:ext uri="{0D108BD9-81ED-4DB2-BD59-A6C34878D82A}">
                    <a16:rowId xmlns:a16="http://schemas.microsoft.com/office/drawing/2014/main" val="822969238"/>
                  </a:ext>
                </a:extLst>
              </a:tr>
            </a:tbl>
          </a:graphicData>
        </a:graphic>
      </p:graphicFrame>
      <p:sp>
        <p:nvSpPr>
          <p:cNvPr id="11" name="Rectangle 10">
            <a:extLst>
              <a:ext uri="{FF2B5EF4-FFF2-40B4-BE49-F238E27FC236}">
                <a16:creationId xmlns:a16="http://schemas.microsoft.com/office/drawing/2014/main" id="{6755F24B-775B-416A-B8B3-CF7245336DBF}"/>
              </a:ext>
            </a:extLst>
          </p:cNvPr>
          <p:cNvSpPr/>
          <p:nvPr/>
        </p:nvSpPr>
        <p:spPr>
          <a:xfrm>
            <a:off x="2743200" y="133366"/>
            <a:ext cx="4414991" cy="646331"/>
          </a:xfrm>
          <a:prstGeom prst="rect">
            <a:avLst/>
          </a:prstGeom>
        </p:spPr>
        <p:txBody>
          <a:bodyPr wrap="none">
            <a:spAutoFit/>
          </a:bodyPr>
          <a:lstStyle/>
          <a:p>
            <a:r>
              <a:rPr lang="en-US" sz="3600" dirty="0">
                <a:solidFill>
                  <a:schemeClr val="tx1">
                    <a:lumMod val="85000"/>
                    <a:lumOff val="15000"/>
                  </a:schemeClr>
                </a:solidFill>
              </a:rPr>
              <a:t>PICA – eating disorder</a:t>
            </a:r>
            <a:endParaRPr lang="en-US" sz="3600" dirty="0"/>
          </a:p>
        </p:txBody>
      </p:sp>
    </p:spTree>
    <p:extLst>
      <p:ext uri="{BB962C8B-B14F-4D97-AF65-F5344CB8AC3E}">
        <p14:creationId xmlns:p14="http://schemas.microsoft.com/office/powerpoint/2010/main" val="16271954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Nutrition</a:t>
            </a:r>
            <a:br>
              <a:rPr lang="en-US" dirty="0"/>
            </a:br>
            <a:endParaRPr lang="en-US" sz="1400"/>
          </a:p>
        </p:txBody>
      </p:sp>
      <p:sp>
        <p:nvSpPr>
          <p:cNvPr id="3" name="Subtitle 2"/>
          <p:cNvSpPr>
            <a:spLocks noGrp="1"/>
          </p:cNvSpPr>
          <p:nvPr>
            <p:ph type="subTitle" idx="1"/>
          </p:nvPr>
        </p:nvSpPr>
        <p:spPr/>
        <p:txBody>
          <a:bodyPr>
            <a:normAutofit fontScale="92500" lnSpcReduction="10000"/>
          </a:bodyPr>
          <a:lstStyle/>
          <a:p>
            <a:r>
              <a:rPr lang="en-US" sz="2800" dirty="0"/>
              <a:t>The Nursing Process:</a:t>
            </a:r>
          </a:p>
          <a:p>
            <a:r>
              <a:rPr lang="en-US" sz="2800" dirty="0"/>
              <a:t>Focus Assessment</a:t>
            </a:r>
          </a:p>
        </p:txBody>
      </p:sp>
      <p:sp>
        <p:nvSpPr>
          <p:cNvPr id="4" name="TextBox 3">
            <a:extLst>
              <a:ext uri="{FF2B5EF4-FFF2-40B4-BE49-F238E27FC236}">
                <a16:creationId xmlns:a16="http://schemas.microsoft.com/office/drawing/2014/main" id="{71270D58-C746-4E0F-B6FB-C90CDA99FFC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6345980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9" name="Rectangle 8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6866" name="Rectangle 1026"/>
          <p:cNvSpPr>
            <a:spLocks noGrp="1" noChangeArrowheads="1"/>
          </p:cNvSpPr>
          <p:nvPr>
            <p:ph type="title"/>
          </p:nvPr>
        </p:nvSpPr>
        <p:spPr>
          <a:xfrm>
            <a:off x="1154337" y="864108"/>
            <a:ext cx="2305435" cy="5120639"/>
          </a:xfrm>
        </p:spPr>
        <p:txBody>
          <a:bodyPr>
            <a:normAutofit/>
          </a:bodyPr>
          <a:lstStyle/>
          <a:p>
            <a:pPr algn="r" eaLnBrk="1" hangingPunct="1">
              <a:defRPr/>
            </a:pPr>
            <a:r>
              <a:rPr lang="en-US">
                <a:solidFill>
                  <a:schemeClr val="tx1">
                    <a:lumMod val="85000"/>
                    <a:lumOff val="15000"/>
                  </a:schemeClr>
                </a:solidFill>
              </a:rPr>
              <a:t>Subjective Assessment</a:t>
            </a:r>
          </a:p>
        </p:txBody>
      </p:sp>
      <p:sp>
        <p:nvSpPr>
          <p:cNvPr id="36880" name="Rectangle 8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6881" name="Straight Connector 8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867" name="Rectangle 1027"/>
          <p:cNvSpPr>
            <a:spLocks noGrp="1" noChangeArrowheads="1"/>
          </p:cNvSpPr>
          <p:nvPr>
            <p:ph idx="1"/>
          </p:nvPr>
        </p:nvSpPr>
        <p:spPr>
          <a:xfrm>
            <a:off x="3966921" y="664119"/>
            <a:ext cx="4433008" cy="5679948"/>
          </a:xfrm>
        </p:spPr>
        <p:txBody>
          <a:bodyPr>
            <a:normAutofit fontScale="92500" lnSpcReduction="10000"/>
          </a:bodyPr>
          <a:lstStyle/>
          <a:p>
            <a:pPr marL="0" indent="0">
              <a:buNone/>
              <a:defRPr/>
            </a:pPr>
            <a:r>
              <a:rPr lang="en-US" dirty="0"/>
              <a:t>Weight </a:t>
            </a:r>
          </a:p>
          <a:p>
            <a:pPr marL="342900" indent="-342900">
              <a:defRPr/>
            </a:pPr>
            <a:r>
              <a:rPr lang="en-US" dirty="0"/>
              <a:t>Use </a:t>
            </a:r>
            <a:r>
              <a:rPr lang="en-US" dirty="0" err="1"/>
              <a:t>ht</a:t>
            </a:r>
            <a:r>
              <a:rPr lang="en-US" dirty="0"/>
              <a:t>/</a:t>
            </a:r>
            <a:r>
              <a:rPr lang="en-US" dirty="0" err="1"/>
              <a:t>wt</a:t>
            </a:r>
            <a:r>
              <a:rPr lang="en-US" dirty="0"/>
              <a:t> chart</a:t>
            </a:r>
          </a:p>
          <a:p>
            <a:pPr marL="240030" indent="-285750">
              <a:defRPr/>
            </a:pPr>
            <a:r>
              <a:rPr lang="en-US" dirty="0"/>
              <a:t>20% above or below</a:t>
            </a:r>
          </a:p>
          <a:p>
            <a:pPr marL="240030" indent="-285750">
              <a:defRPr/>
            </a:pPr>
            <a:r>
              <a:rPr lang="en-US" dirty="0"/>
              <a:t>10% UNINTENTIONAL loss</a:t>
            </a:r>
          </a:p>
          <a:p>
            <a:pPr marL="240030" indent="-285750">
              <a:defRPr/>
            </a:pPr>
            <a:r>
              <a:rPr lang="en-US" dirty="0"/>
              <a:t>At risk: Ca, alcoholic, elderly, surgery, traumatic injury</a:t>
            </a:r>
          </a:p>
          <a:p>
            <a:pPr marL="0" indent="0" eaLnBrk="1" hangingPunct="1">
              <a:buNone/>
              <a:defRPr/>
            </a:pPr>
            <a:r>
              <a:rPr lang="en-US" dirty="0"/>
              <a:t>Appetite</a:t>
            </a:r>
          </a:p>
          <a:p>
            <a:pPr marL="487680" indent="-533400" eaLnBrk="1" hangingPunct="1">
              <a:buFontTx/>
              <a:buChar char="•"/>
              <a:defRPr/>
            </a:pPr>
            <a:r>
              <a:rPr lang="en-US" dirty="0"/>
              <a:t>Altered smell or taste</a:t>
            </a:r>
          </a:p>
          <a:p>
            <a:pPr marL="487680" indent="-533400" eaLnBrk="1" hangingPunct="1">
              <a:buFontTx/>
              <a:buChar char="•"/>
              <a:defRPr/>
            </a:pPr>
            <a:r>
              <a:rPr lang="en-US" dirty="0"/>
              <a:t>Disease state</a:t>
            </a:r>
          </a:p>
          <a:p>
            <a:pPr marL="487680" indent="-533400" eaLnBrk="1" hangingPunct="1">
              <a:buFontTx/>
              <a:buChar char="•"/>
              <a:defRPr/>
            </a:pPr>
            <a:r>
              <a:rPr lang="en-US" dirty="0"/>
              <a:t>Sore mouth, tooth pain</a:t>
            </a:r>
          </a:p>
          <a:p>
            <a:pPr marL="0" indent="0" eaLnBrk="1" hangingPunct="1">
              <a:buNone/>
              <a:defRPr/>
            </a:pPr>
            <a:r>
              <a:rPr lang="en-US" dirty="0"/>
              <a:t>Food intolerances and allergies</a:t>
            </a:r>
          </a:p>
          <a:p>
            <a:pPr marL="0" indent="0" eaLnBrk="1" hangingPunct="1">
              <a:buNone/>
              <a:defRPr/>
            </a:pPr>
            <a:r>
              <a:rPr lang="en-US" dirty="0"/>
              <a:t>Dysphagia</a:t>
            </a:r>
          </a:p>
          <a:p>
            <a:pPr marL="487680" indent="-533400" eaLnBrk="1" hangingPunct="1">
              <a:buFontTx/>
              <a:buChar char="•"/>
              <a:defRPr/>
            </a:pPr>
            <a:r>
              <a:rPr lang="en-US" dirty="0"/>
              <a:t>Difficulty swallowing, oral health</a:t>
            </a:r>
          </a:p>
          <a:p>
            <a:pPr marL="0" indent="0" eaLnBrk="1" hangingPunct="1">
              <a:buNone/>
              <a:defRPr/>
            </a:pPr>
            <a:r>
              <a:rPr lang="en-US" dirty="0"/>
              <a:t>Indigestion</a:t>
            </a:r>
          </a:p>
          <a:p>
            <a:pPr marL="990600" lvl="1" indent="-533400" eaLnBrk="1" hangingPunct="1">
              <a:buFontTx/>
              <a:buChar char="•"/>
              <a:defRPr/>
            </a:pPr>
            <a:r>
              <a:rPr lang="en-US" sz="1900" dirty="0"/>
              <a:t>When, character of discomfort, what relieves it</a:t>
            </a:r>
          </a:p>
          <a:p>
            <a:pPr marL="609600" indent="-609600" eaLnBrk="1" hangingPunct="1">
              <a:buFontTx/>
              <a:buChar char="•"/>
              <a:defRPr/>
            </a:pPr>
            <a:endParaRPr lang="en-US" sz="1400" dirty="0"/>
          </a:p>
          <a:p>
            <a:pPr marL="609600" indent="-609600" eaLnBrk="1" hangingPunct="1">
              <a:buFontTx/>
              <a:buNone/>
              <a:defRPr/>
            </a:pPr>
            <a:endParaRPr lang="en-US" sz="1400" dirty="0"/>
          </a:p>
        </p:txBody>
      </p:sp>
      <p:sp>
        <p:nvSpPr>
          <p:cNvPr id="36882" name="Rectangle 8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26A9420-2FC9-4E9E-BF64-F3CFE6E9FEB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378249375"/>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15714" name="Rectangle 2"/>
          <p:cNvSpPr>
            <a:spLocks noGrp="1" noChangeArrowheads="1"/>
          </p:cNvSpPr>
          <p:nvPr>
            <p:ph type="title"/>
          </p:nvPr>
        </p:nvSpPr>
        <p:spPr>
          <a:xfrm>
            <a:off x="1200565" y="1087374"/>
            <a:ext cx="6737617" cy="1000978"/>
          </a:xfrm>
        </p:spPr>
        <p:txBody>
          <a:bodyPr>
            <a:normAutofit/>
          </a:bodyPr>
          <a:lstStyle/>
          <a:p>
            <a:pPr eaLnBrk="1" hangingPunct="1">
              <a:defRPr/>
            </a:pPr>
            <a:r>
              <a:rPr lang="en-US"/>
              <a:t>Subjective Assessment</a:t>
            </a:r>
          </a:p>
        </p:txBody>
      </p:sp>
      <p:sp>
        <p:nvSpPr>
          <p:cNvPr id="140" name="Rectangle 139">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2" name="Rectangle 141">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4" name="Rectangle 143">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15715" name="Rectangle 3"/>
          <p:cNvSpPr>
            <a:spLocks noGrp="1" noChangeArrowheads="1"/>
          </p:cNvSpPr>
          <p:nvPr>
            <p:ph idx="1"/>
          </p:nvPr>
        </p:nvSpPr>
        <p:spPr>
          <a:xfrm>
            <a:off x="1200564" y="2705831"/>
            <a:ext cx="6737617" cy="3554457"/>
          </a:xfrm>
        </p:spPr>
        <p:txBody>
          <a:bodyPr>
            <a:normAutofit lnSpcReduction="10000"/>
          </a:bodyPr>
          <a:lstStyle/>
          <a:p>
            <a:pPr eaLnBrk="1" hangingPunct="1">
              <a:buFontTx/>
              <a:buChar char="•"/>
              <a:defRPr/>
            </a:pPr>
            <a:r>
              <a:rPr lang="en-US" sz="1700">
                <a:solidFill>
                  <a:schemeClr val="tx1"/>
                </a:solidFill>
              </a:rPr>
              <a:t>Bowel functioning</a:t>
            </a:r>
          </a:p>
          <a:p>
            <a:pPr lvl="1" eaLnBrk="1" hangingPunct="1">
              <a:buFontTx/>
              <a:buChar char="•"/>
              <a:defRPr/>
            </a:pPr>
            <a:r>
              <a:rPr lang="en-US">
                <a:solidFill>
                  <a:schemeClr val="tx1"/>
                </a:solidFill>
              </a:rPr>
              <a:t>COCA</a:t>
            </a:r>
          </a:p>
          <a:p>
            <a:pPr lvl="1" eaLnBrk="1" hangingPunct="1">
              <a:buFontTx/>
              <a:buChar char="•"/>
              <a:defRPr/>
            </a:pPr>
            <a:r>
              <a:rPr lang="en-US">
                <a:solidFill>
                  <a:schemeClr val="tx1"/>
                </a:solidFill>
              </a:rPr>
              <a:t>Constipation, gas, diarrhea</a:t>
            </a:r>
          </a:p>
          <a:p>
            <a:pPr eaLnBrk="1" hangingPunct="1">
              <a:buFontTx/>
              <a:buChar char="•"/>
              <a:defRPr/>
            </a:pPr>
            <a:r>
              <a:rPr lang="en-US" sz="1700">
                <a:solidFill>
                  <a:schemeClr val="tx1"/>
                </a:solidFill>
              </a:rPr>
              <a:t>Lifestyle</a:t>
            </a:r>
          </a:p>
          <a:p>
            <a:pPr lvl="1" eaLnBrk="1" hangingPunct="1">
              <a:buFontTx/>
              <a:buChar char="•"/>
              <a:defRPr/>
            </a:pPr>
            <a:r>
              <a:rPr lang="en-US">
                <a:solidFill>
                  <a:schemeClr val="tx1"/>
                </a:solidFill>
              </a:rPr>
              <a:t>Food preferences, cultural/religious</a:t>
            </a:r>
          </a:p>
          <a:p>
            <a:pPr lvl="1" eaLnBrk="1" hangingPunct="1">
              <a:buFontTx/>
              <a:buChar char="•"/>
              <a:defRPr/>
            </a:pPr>
            <a:r>
              <a:rPr lang="en-US">
                <a:solidFill>
                  <a:schemeClr val="tx1"/>
                </a:solidFill>
              </a:rPr>
              <a:t>Money, living conditions, who cooks</a:t>
            </a:r>
          </a:p>
          <a:p>
            <a:pPr lvl="1" eaLnBrk="1" hangingPunct="1">
              <a:buFontTx/>
              <a:buChar char="•"/>
              <a:defRPr/>
            </a:pPr>
            <a:r>
              <a:rPr lang="en-US">
                <a:solidFill>
                  <a:schemeClr val="tx1"/>
                </a:solidFill>
              </a:rPr>
              <a:t>Safe food preparation</a:t>
            </a:r>
          </a:p>
          <a:p>
            <a:pPr eaLnBrk="1" hangingPunct="1">
              <a:buFontTx/>
              <a:buChar char="•"/>
              <a:defRPr/>
            </a:pPr>
            <a:r>
              <a:rPr lang="en-US" sz="1700">
                <a:solidFill>
                  <a:schemeClr val="tx1"/>
                </a:solidFill>
              </a:rPr>
              <a:t>Medications</a:t>
            </a:r>
          </a:p>
          <a:p>
            <a:pPr lvl="1" eaLnBrk="1" hangingPunct="1">
              <a:buFontTx/>
              <a:buChar char="•"/>
              <a:defRPr/>
            </a:pPr>
            <a:r>
              <a:rPr lang="en-US">
                <a:solidFill>
                  <a:schemeClr val="tx1"/>
                </a:solidFill>
              </a:rPr>
              <a:t>Diuretics, MAO inhibitors</a:t>
            </a:r>
          </a:p>
          <a:p>
            <a:pPr lvl="1" eaLnBrk="1" hangingPunct="1">
              <a:buFontTx/>
              <a:buChar char="•"/>
              <a:defRPr/>
            </a:pPr>
            <a:r>
              <a:rPr lang="en-US">
                <a:solidFill>
                  <a:schemeClr val="tx1"/>
                </a:solidFill>
              </a:rPr>
              <a:t>Timing of medications and meals</a:t>
            </a:r>
          </a:p>
          <a:p>
            <a:pPr lvl="1" eaLnBrk="1" hangingPunct="1">
              <a:buFontTx/>
              <a:buChar char="•"/>
              <a:defRPr/>
            </a:pPr>
            <a:r>
              <a:rPr lang="en-US">
                <a:solidFill>
                  <a:schemeClr val="tx1"/>
                </a:solidFill>
              </a:rPr>
              <a:t>OTC supplements</a:t>
            </a:r>
          </a:p>
          <a:p>
            <a:pPr eaLnBrk="1" hangingPunct="1">
              <a:defRPr/>
            </a:pPr>
            <a:endParaRPr lang="en-US" sz="1700">
              <a:solidFill>
                <a:schemeClr val="tx1"/>
              </a:solidFill>
            </a:endParaRPr>
          </a:p>
        </p:txBody>
      </p:sp>
      <p:sp>
        <p:nvSpPr>
          <p:cNvPr id="9" name="TextBox 8">
            <a:extLst>
              <a:ext uri="{FF2B5EF4-FFF2-40B4-BE49-F238E27FC236}">
                <a16:creationId xmlns:a16="http://schemas.microsoft.com/office/drawing/2014/main" id="{4CC97E53-8879-42A8-9A8D-2BBE23E0CC4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837085140"/>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16738" name="Rectangle 2"/>
          <p:cNvSpPr>
            <a:spLocks noGrp="1" noChangeArrowheads="1"/>
          </p:cNvSpPr>
          <p:nvPr>
            <p:ph type="title"/>
          </p:nvPr>
        </p:nvSpPr>
        <p:spPr>
          <a:xfrm>
            <a:off x="1154337" y="864108"/>
            <a:ext cx="2305435" cy="5120639"/>
          </a:xfrm>
        </p:spPr>
        <p:txBody>
          <a:bodyPr>
            <a:normAutofit/>
          </a:bodyPr>
          <a:lstStyle/>
          <a:p>
            <a:pPr algn="r" eaLnBrk="1" hangingPunct="1">
              <a:defRPr/>
            </a:pPr>
            <a:r>
              <a:rPr lang="en-US">
                <a:solidFill>
                  <a:schemeClr val="tx1">
                    <a:lumMod val="85000"/>
                    <a:lumOff val="15000"/>
                  </a:schemeClr>
                </a:solidFill>
              </a:rPr>
              <a:t>Subjective Assessment</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6739" name="Rectangle 3"/>
          <p:cNvSpPr>
            <a:spLocks noGrp="1" noChangeArrowheads="1"/>
          </p:cNvSpPr>
          <p:nvPr>
            <p:ph idx="1"/>
          </p:nvPr>
        </p:nvSpPr>
        <p:spPr>
          <a:xfrm>
            <a:off x="3966921" y="864108"/>
            <a:ext cx="4433008" cy="5120640"/>
          </a:xfrm>
        </p:spPr>
        <p:txBody>
          <a:bodyPr>
            <a:normAutofit/>
          </a:bodyPr>
          <a:lstStyle/>
          <a:p>
            <a:pPr eaLnBrk="1" hangingPunct="1">
              <a:buFontTx/>
              <a:buChar char="•"/>
              <a:defRPr/>
            </a:pPr>
            <a:r>
              <a:rPr lang="en-US" sz="2400" dirty="0"/>
              <a:t>Family History</a:t>
            </a:r>
          </a:p>
          <a:p>
            <a:pPr lvl="1" eaLnBrk="1" hangingPunct="1">
              <a:buFontTx/>
              <a:buChar char="•"/>
              <a:defRPr/>
            </a:pPr>
            <a:r>
              <a:rPr lang="en-US" sz="2400" dirty="0"/>
              <a:t>Obesity, allergies, CV, diabetes, thyroid</a:t>
            </a:r>
          </a:p>
          <a:p>
            <a:pPr eaLnBrk="1" hangingPunct="1">
              <a:buFontTx/>
              <a:buChar char="•"/>
              <a:defRPr/>
            </a:pPr>
            <a:r>
              <a:rPr lang="en-US" sz="2400" dirty="0"/>
              <a:t>Medical History</a:t>
            </a:r>
          </a:p>
          <a:p>
            <a:pPr lvl="1" eaLnBrk="1" hangingPunct="1">
              <a:buFontTx/>
              <a:buChar char="•"/>
              <a:defRPr/>
            </a:pPr>
            <a:r>
              <a:rPr lang="en-US" sz="2400" dirty="0"/>
              <a:t>GI, oral problems, cancer, eating disorders, AIDS, alcoholism, therapeutic  diets, age, surgery, burns, injuries</a:t>
            </a:r>
          </a:p>
          <a:p>
            <a:pPr eaLnBrk="1" hangingPunct="1">
              <a:buFontTx/>
              <a:buChar char="•"/>
              <a:defRPr/>
            </a:pPr>
            <a:r>
              <a:rPr lang="en-US" sz="2400" dirty="0"/>
              <a:t>Diet History</a:t>
            </a:r>
          </a:p>
          <a:p>
            <a:pPr lvl="1" eaLnBrk="1" hangingPunct="1">
              <a:buFontTx/>
              <a:buChar char="•"/>
              <a:defRPr/>
            </a:pPr>
            <a:r>
              <a:rPr lang="en-US" sz="2400" dirty="0"/>
              <a:t>Therapeutic diet</a:t>
            </a:r>
          </a:p>
          <a:p>
            <a:pPr lvl="1" eaLnBrk="1" hangingPunct="1">
              <a:buFontTx/>
              <a:buChar char="•"/>
              <a:defRPr/>
            </a:pPr>
            <a:r>
              <a:rPr lang="en-US" sz="2400" dirty="0"/>
              <a:t>24 hour recall</a:t>
            </a:r>
          </a:p>
          <a:p>
            <a:pPr eaLnBrk="1" hangingPunct="1">
              <a:defRPr/>
            </a:pPr>
            <a:endParaRPr lang="en-US" dirty="0"/>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3773C90-6573-4BD8-A356-C30BB1CAC55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629192124"/>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514600" y="76200"/>
            <a:ext cx="3886200" cy="781163"/>
          </a:xfrm>
        </p:spPr>
        <p:txBody>
          <a:bodyPr>
            <a:normAutofit/>
          </a:bodyPr>
          <a:lstStyle/>
          <a:p>
            <a:pPr algn="ctr" eaLnBrk="1" hangingPunct="1">
              <a:defRPr/>
            </a:pPr>
            <a:r>
              <a:rPr lang="en-US" dirty="0">
                <a:solidFill>
                  <a:schemeClr val="tx1"/>
                </a:solidFill>
              </a:rPr>
              <a:t>Objective Assessment</a:t>
            </a:r>
          </a:p>
        </p:txBody>
      </p:sp>
      <p:graphicFrame>
        <p:nvGraphicFramePr>
          <p:cNvPr id="40965" name="Rectangle 3">
            <a:extLst>
              <a:ext uri="{FF2B5EF4-FFF2-40B4-BE49-F238E27FC236}">
                <a16:creationId xmlns:a16="http://schemas.microsoft.com/office/drawing/2014/main" id="{800417F3-EF39-470B-910A-17141ADF94E3}"/>
              </a:ext>
            </a:extLst>
          </p:cNvPr>
          <p:cNvGraphicFramePr>
            <a:graphicFrameLocks noGrp="1"/>
          </p:cNvGraphicFramePr>
          <p:nvPr>
            <p:ph idx="1"/>
            <p:extLst>
              <p:ext uri="{D42A27DB-BD31-4B8C-83A1-F6EECF244321}">
                <p14:modId xmlns:p14="http://schemas.microsoft.com/office/powerpoint/2010/main" val="2273723138"/>
              </p:ext>
            </p:extLst>
          </p:nvPr>
        </p:nvGraphicFramePr>
        <p:xfrm>
          <a:off x="228600" y="885459"/>
          <a:ext cx="8387522" cy="508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9965708B-8ACE-4EBC-9630-B6FFC1064443}"/>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552780594"/>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6" y="752748"/>
            <a:ext cx="751111"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5475" name="Rectangle 3"/>
          <p:cNvSpPr>
            <a:spLocks noGrp="1" noChangeArrowheads="1"/>
          </p:cNvSpPr>
          <p:nvPr>
            <p:ph idx="1"/>
          </p:nvPr>
        </p:nvSpPr>
        <p:spPr>
          <a:xfrm>
            <a:off x="948112" y="1496501"/>
            <a:ext cx="4845923" cy="3864998"/>
          </a:xfrm>
        </p:spPr>
        <p:txBody>
          <a:bodyPr>
            <a:noAutofit/>
          </a:bodyPr>
          <a:lstStyle/>
          <a:p>
            <a:pPr eaLnBrk="1" hangingPunct="1">
              <a:buFontTx/>
              <a:buChar char="•"/>
              <a:defRPr/>
            </a:pPr>
            <a:r>
              <a:rPr lang="en-US" sz="2400" dirty="0"/>
              <a:t>Hair</a:t>
            </a:r>
          </a:p>
          <a:p>
            <a:pPr lvl="1" eaLnBrk="1" hangingPunct="1">
              <a:buFontTx/>
              <a:buChar char="•"/>
              <a:defRPr/>
            </a:pPr>
            <a:r>
              <a:rPr lang="en-US" sz="2400" dirty="0"/>
              <a:t>Dull, dry, brittle, thin-protein deficit</a:t>
            </a:r>
          </a:p>
          <a:p>
            <a:pPr lvl="1" eaLnBrk="1" hangingPunct="1">
              <a:buFontTx/>
              <a:buChar char="•"/>
              <a:defRPr/>
            </a:pPr>
            <a:r>
              <a:rPr lang="en-US" sz="2400" dirty="0"/>
              <a:t>Hair loss-excessive Vit A, protein deficit</a:t>
            </a:r>
          </a:p>
          <a:p>
            <a:pPr eaLnBrk="1" hangingPunct="1">
              <a:buFontTx/>
              <a:buChar char="•"/>
              <a:defRPr/>
            </a:pPr>
            <a:r>
              <a:rPr lang="en-US" sz="2400" dirty="0"/>
              <a:t>Skin, nails</a:t>
            </a:r>
          </a:p>
          <a:p>
            <a:pPr lvl="1" eaLnBrk="1" hangingPunct="1">
              <a:buFontTx/>
              <a:buChar char="•"/>
              <a:defRPr/>
            </a:pPr>
            <a:r>
              <a:rPr lang="en-US" sz="2400" dirty="0"/>
              <a:t>Dry scaly, wound healing, nails brittle, fragile</a:t>
            </a:r>
          </a:p>
          <a:p>
            <a:pPr lvl="1" eaLnBrk="1" hangingPunct="1">
              <a:buFontTx/>
              <a:buChar char="•"/>
              <a:defRPr/>
            </a:pPr>
            <a:r>
              <a:rPr lang="en-US" sz="2400" dirty="0"/>
              <a:t>Protein, Vit E, Zinc, Calcium, </a:t>
            </a:r>
            <a:r>
              <a:rPr lang="en-US" sz="2400" dirty="0" err="1"/>
              <a:t>Pellegra</a:t>
            </a:r>
            <a:endParaRPr lang="en-US" sz="2400" dirty="0"/>
          </a:p>
          <a:p>
            <a:pPr eaLnBrk="1" hangingPunct="1">
              <a:buFontTx/>
              <a:buChar char="•"/>
              <a:defRPr/>
            </a:pPr>
            <a:r>
              <a:rPr lang="en-US" sz="2400" dirty="0"/>
              <a:t>Oral mucous membranes, tongue</a:t>
            </a:r>
          </a:p>
          <a:p>
            <a:pPr lvl="1" eaLnBrk="1" hangingPunct="1">
              <a:buFontTx/>
              <a:buChar char="•"/>
              <a:defRPr/>
            </a:pPr>
            <a:r>
              <a:rPr lang="en-US" sz="2400" dirty="0"/>
              <a:t>Cheilitis-Glossitis-Gingivitis</a:t>
            </a:r>
          </a:p>
          <a:p>
            <a:pPr lvl="1" eaLnBrk="1" hangingPunct="1">
              <a:buFontTx/>
              <a:buChar char="•"/>
              <a:defRPr/>
            </a:pPr>
            <a:r>
              <a:rPr lang="en-US" sz="2400" dirty="0"/>
              <a:t>B complex deficiency</a:t>
            </a:r>
          </a:p>
          <a:p>
            <a:pPr eaLnBrk="1" hangingPunct="1">
              <a:buFontTx/>
              <a:buChar char="•"/>
              <a:defRPr/>
            </a:pPr>
            <a:endParaRPr lang="en-US" sz="2400" dirty="0"/>
          </a:p>
          <a:p>
            <a:pPr eaLnBrk="1" hangingPunct="1">
              <a:defRPr/>
            </a:pPr>
            <a:endParaRPr lang="en-US" sz="2400" dirty="0"/>
          </a:p>
        </p:txBody>
      </p:sp>
      <p:sp>
        <p:nvSpPr>
          <p:cNvPr id="76" name="Freeform: Shape 75">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0320" y="761999"/>
            <a:ext cx="3156367"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5474" name="Rectangle 2"/>
          <p:cNvSpPr>
            <a:spLocks noGrp="1" noChangeArrowheads="1"/>
          </p:cNvSpPr>
          <p:nvPr>
            <p:ph type="title"/>
          </p:nvPr>
        </p:nvSpPr>
        <p:spPr>
          <a:xfrm>
            <a:off x="6737103" y="1865740"/>
            <a:ext cx="2210612" cy="3126520"/>
          </a:xfrm>
        </p:spPr>
        <p:txBody>
          <a:bodyPr>
            <a:normAutofit/>
          </a:bodyPr>
          <a:lstStyle/>
          <a:p>
            <a:pPr eaLnBrk="1" hangingPunct="1">
              <a:defRPr/>
            </a:pPr>
            <a:r>
              <a:rPr lang="en-US"/>
              <a:t>Objective Assessment</a:t>
            </a:r>
          </a:p>
        </p:txBody>
      </p:sp>
      <p:sp>
        <p:nvSpPr>
          <p:cNvPr id="7" name="TextBox 6">
            <a:extLst>
              <a:ext uri="{FF2B5EF4-FFF2-40B4-BE49-F238E27FC236}">
                <a16:creationId xmlns:a16="http://schemas.microsoft.com/office/drawing/2014/main" id="{946D3614-188D-4624-967E-ED57D18CBD55}"/>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536651809"/>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4B5CC49-6FAE-42FA-99B6-A3FDA8C68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277471" y="1083732"/>
            <a:ext cx="4132221" cy="4690534"/>
          </a:xfrm>
        </p:spPr>
        <p:txBody>
          <a:bodyPr anchor="ctr">
            <a:normAutofit/>
          </a:bodyPr>
          <a:lstStyle/>
          <a:p>
            <a:pPr algn="r"/>
            <a:r>
              <a:rPr lang="en-US" sz="6300">
                <a:solidFill>
                  <a:schemeClr val="tx1">
                    <a:lumMod val="75000"/>
                    <a:lumOff val="25000"/>
                  </a:schemeClr>
                </a:solidFill>
              </a:rPr>
              <a:t>Nutrition</a:t>
            </a:r>
          </a:p>
        </p:txBody>
      </p:sp>
      <p:sp>
        <p:nvSpPr>
          <p:cNvPr id="3" name="Subtitle 2"/>
          <p:cNvSpPr>
            <a:spLocks noGrp="1"/>
          </p:cNvSpPr>
          <p:nvPr>
            <p:ph type="subTitle" idx="1"/>
          </p:nvPr>
        </p:nvSpPr>
        <p:spPr>
          <a:xfrm>
            <a:off x="5892291" y="1083732"/>
            <a:ext cx="2630741" cy="4690534"/>
          </a:xfrm>
        </p:spPr>
        <p:txBody>
          <a:bodyPr anchor="ctr">
            <a:normAutofit/>
          </a:bodyPr>
          <a:lstStyle/>
          <a:p>
            <a:r>
              <a:rPr lang="en-US" sz="2400" b="1">
                <a:solidFill>
                  <a:schemeClr val="tx1">
                    <a:lumMod val="75000"/>
                    <a:lumOff val="25000"/>
                  </a:schemeClr>
                </a:solidFill>
              </a:rPr>
              <a:t>Nutritional Support Methods:</a:t>
            </a:r>
          </a:p>
          <a:p>
            <a:r>
              <a:rPr lang="en-US" sz="2400" b="1">
                <a:solidFill>
                  <a:schemeClr val="tx1">
                    <a:lumMod val="75000"/>
                    <a:lumOff val="25000"/>
                  </a:schemeClr>
                </a:solidFill>
              </a:rPr>
              <a:t>Oral Feeding &amp;</a:t>
            </a:r>
          </a:p>
          <a:p>
            <a:r>
              <a:rPr lang="en-US" sz="2400" b="1">
                <a:solidFill>
                  <a:schemeClr val="tx1">
                    <a:lumMod val="75000"/>
                    <a:lumOff val="25000"/>
                  </a:schemeClr>
                </a:solidFill>
              </a:rPr>
              <a:t>Therapeutic Diets</a:t>
            </a:r>
          </a:p>
        </p:txBody>
      </p:sp>
      <p:sp>
        <p:nvSpPr>
          <p:cNvPr id="10" name="Rectangle 9">
            <a:extLst>
              <a:ext uri="{FF2B5EF4-FFF2-40B4-BE49-F238E27FC236}">
                <a16:creationId xmlns:a16="http://schemas.microsoft.com/office/drawing/2014/main" id="{E6BC9B4A-2119-4645-B4CA-7817D5FAF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158D888F-D87A-4C3C-BD82-273E4C8C5E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9A2CD81-3BB6-4ED6-A50F-DC14F37A9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4333"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70EFB9-F0E4-4A59-93DA-BDA5378B45F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86395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44034"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latin typeface="Comic Sans MS" pitchFamily="66" charset="0"/>
              </a:rPr>
              <a:t> </a:t>
            </a:r>
            <a:r>
              <a:rPr lang="en-US">
                <a:solidFill>
                  <a:schemeClr val="tx1">
                    <a:lumMod val="85000"/>
                    <a:lumOff val="15000"/>
                  </a:schemeClr>
                </a:solidFill>
              </a:rPr>
              <a:t>INFLUENCES ON NUTRITION</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531" name="Rectangle 3"/>
          <p:cNvSpPr>
            <a:spLocks noGrp="1" noChangeArrowheads="1"/>
          </p:cNvSpPr>
          <p:nvPr>
            <p:ph idx="1"/>
          </p:nvPr>
        </p:nvSpPr>
        <p:spPr>
          <a:xfrm>
            <a:off x="3966921" y="864108"/>
            <a:ext cx="4433008" cy="5120640"/>
          </a:xfrm>
        </p:spPr>
        <p:txBody>
          <a:bodyPr>
            <a:normAutofit/>
          </a:bodyPr>
          <a:lstStyle/>
          <a:p>
            <a:pPr eaLnBrk="1" hangingPunct="1"/>
            <a:r>
              <a:rPr lang="en-US" sz="2400" dirty="0">
                <a:latin typeface="+mj-lt"/>
              </a:rPr>
              <a:t>Ethical &amp; Cultural beliefs</a:t>
            </a:r>
          </a:p>
          <a:p>
            <a:pPr lvl="1" eaLnBrk="1" hangingPunct="1"/>
            <a:r>
              <a:rPr lang="en-US" sz="2400" dirty="0">
                <a:latin typeface="+mj-lt"/>
              </a:rPr>
              <a:t>animal rights, cultural groups, ethnicity</a:t>
            </a:r>
          </a:p>
          <a:p>
            <a:pPr eaLnBrk="1" hangingPunct="1"/>
            <a:r>
              <a:rPr lang="en-US" sz="2400" dirty="0">
                <a:latin typeface="+mj-lt"/>
              </a:rPr>
              <a:t>Only eat organic foods</a:t>
            </a:r>
          </a:p>
          <a:p>
            <a:pPr eaLnBrk="1" hangingPunct="1"/>
            <a:r>
              <a:rPr lang="en-US" sz="2400" dirty="0">
                <a:latin typeface="+mj-lt"/>
              </a:rPr>
              <a:t>Economic restraints</a:t>
            </a:r>
          </a:p>
          <a:p>
            <a:pPr eaLnBrk="1" hangingPunct="1"/>
            <a:r>
              <a:rPr lang="en-US" sz="2400" dirty="0">
                <a:latin typeface="+mj-lt"/>
              </a:rPr>
              <a:t>Peer pressure-parties</a:t>
            </a:r>
          </a:p>
          <a:p>
            <a:pPr eaLnBrk="1" hangingPunct="1"/>
            <a:r>
              <a:rPr lang="en-US" sz="2400" dirty="0">
                <a:latin typeface="+mj-lt"/>
              </a:rPr>
              <a:t>Advertising-temptation </a:t>
            </a:r>
          </a:p>
          <a:p>
            <a:pPr eaLnBrk="1" hangingPunct="1"/>
            <a:r>
              <a:rPr lang="en-US" sz="2400" dirty="0">
                <a:latin typeface="+mj-lt"/>
              </a:rPr>
              <a:t>Convenience-busy</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12EAEE9-0AE9-48B2-9E91-00CBDD197F85}"/>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2293334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2697" y="761999"/>
            <a:ext cx="219398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2" name="Rectangle 11">
            <a:extLst>
              <a:ext uri="{FF2B5EF4-FFF2-40B4-BE49-F238E27FC236}">
                <a16:creationId xmlns:a16="http://schemas.microsoft.com/office/drawing/2014/main" id="{B4B5CC49-6FAE-42FA-99B6-A3FDA8C68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a:xfrm>
            <a:off x="1277471" y="1083732"/>
            <a:ext cx="4132221" cy="4690534"/>
          </a:xfrm>
        </p:spPr>
        <p:txBody>
          <a:bodyPr vert="horz" lIns="91440" tIns="45720" rIns="91440" bIns="45720" rtlCol="0" anchor="ctr">
            <a:normAutofit/>
          </a:bodyPr>
          <a:lstStyle/>
          <a:p>
            <a:pPr algn="r"/>
            <a:r>
              <a:rPr lang="en-US" sz="6300" spc="-100">
                <a:solidFill>
                  <a:schemeClr val="tx1">
                    <a:lumMod val="75000"/>
                    <a:lumOff val="25000"/>
                  </a:schemeClr>
                </a:solidFill>
              </a:rPr>
              <a:t>Regular Diet</a:t>
            </a:r>
          </a:p>
        </p:txBody>
      </p:sp>
      <p:sp>
        <p:nvSpPr>
          <p:cNvPr id="2" name="Content Placeholder 1"/>
          <p:cNvSpPr>
            <a:spLocks noGrp="1"/>
          </p:cNvSpPr>
          <p:nvPr>
            <p:ph idx="1"/>
          </p:nvPr>
        </p:nvSpPr>
        <p:spPr>
          <a:xfrm>
            <a:off x="5892291" y="1083732"/>
            <a:ext cx="2630741" cy="4690534"/>
          </a:xfrm>
        </p:spPr>
        <p:txBody>
          <a:bodyPr vert="horz" lIns="91440" tIns="45720" rIns="91440" bIns="45720" rtlCol="0" anchor="ctr">
            <a:normAutofit/>
          </a:bodyPr>
          <a:lstStyle/>
          <a:p>
            <a:pPr marL="0" indent="0">
              <a:buNone/>
            </a:pPr>
            <a:r>
              <a:rPr lang="en-US" sz="2400">
                <a:solidFill>
                  <a:schemeClr val="tx1">
                    <a:lumMod val="75000"/>
                    <a:lumOff val="25000"/>
                  </a:schemeClr>
                </a:solidFill>
              </a:rPr>
              <a:t>Used for clients who do not need dietary restrictions or  modifications.</a:t>
            </a:r>
          </a:p>
        </p:txBody>
      </p:sp>
      <p:sp>
        <p:nvSpPr>
          <p:cNvPr id="14" name="Rectangle 13">
            <a:extLst>
              <a:ext uri="{FF2B5EF4-FFF2-40B4-BE49-F238E27FC236}">
                <a16:creationId xmlns:a16="http://schemas.microsoft.com/office/drawing/2014/main" id="{E6BC9B4A-2119-4645-B4CA-7817D5FAF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6" name="Straight Connector 15">
            <a:extLst>
              <a:ext uri="{FF2B5EF4-FFF2-40B4-BE49-F238E27FC236}">
                <a16:creationId xmlns:a16="http://schemas.microsoft.com/office/drawing/2014/main" id="{158D888F-D87A-4C3C-BD82-273E4C8C5E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A2CD81-3BB6-4ED6-A50F-DC14F37A9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4333"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A64B6BA-DD74-4D18-8F47-3FF0FF81CE7F}"/>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3413201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Types of Nutritional Support Methods</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864108"/>
            <a:ext cx="4608275" cy="5120640"/>
          </a:xfrm>
        </p:spPr>
        <p:txBody>
          <a:bodyPr>
            <a:normAutofit/>
          </a:bodyPr>
          <a:lstStyle/>
          <a:p>
            <a:pPr marL="624078" indent="-514350">
              <a:buFont typeface="+mj-lt"/>
              <a:buAutoNum type="arabicPeriod"/>
            </a:pPr>
            <a:r>
              <a:rPr lang="en-US" sz="2000" b="1" dirty="0"/>
              <a:t>Oral Feeding</a:t>
            </a:r>
          </a:p>
          <a:p>
            <a:pPr marL="1401318" lvl="3" indent="-514350">
              <a:buNone/>
            </a:pPr>
            <a:r>
              <a:rPr lang="en-US" sz="2000" b="1" dirty="0"/>
              <a:t>  Includes various therapeutic diets &amp; oral supplements</a:t>
            </a:r>
          </a:p>
          <a:p>
            <a:pPr marL="624078" indent="-514350">
              <a:buFont typeface="+mj-lt"/>
              <a:buAutoNum type="arabicPeriod"/>
            </a:pPr>
            <a:r>
              <a:rPr lang="en-US" sz="2000" b="1" dirty="0"/>
              <a:t>Tube Feeding </a:t>
            </a:r>
          </a:p>
          <a:p>
            <a:pPr marL="1629918" lvl="4" indent="-514350">
              <a:buNone/>
            </a:pPr>
            <a:r>
              <a:rPr lang="en-US" sz="2000" b="1" dirty="0"/>
              <a:t>Nasogastric</a:t>
            </a:r>
          </a:p>
          <a:p>
            <a:pPr marL="1629918" lvl="4" indent="-514350">
              <a:buNone/>
            </a:pPr>
            <a:r>
              <a:rPr lang="en-US" sz="2000" b="1" dirty="0"/>
              <a:t>Orogastric </a:t>
            </a:r>
          </a:p>
          <a:p>
            <a:pPr marL="1629918" lvl="4" indent="-514350">
              <a:buNone/>
            </a:pPr>
            <a:r>
              <a:rPr lang="en-US" sz="2000" b="1" dirty="0" err="1"/>
              <a:t>Enterostomy</a:t>
            </a:r>
            <a:endParaRPr lang="en-US" sz="2000" b="1" dirty="0"/>
          </a:p>
          <a:p>
            <a:pPr marL="624078" indent="-514350">
              <a:buFont typeface="+mj-lt"/>
              <a:buAutoNum type="arabicPeriod"/>
            </a:pPr>
            <a:r>
              <a:rPr lang="en-US" sz="2000" b="1" dirty="0"/>
              <a:t>Parenteral Nutrition</a:t>
            </a:r>
          </a:p>
          <a:p>
            <a:pPr marL="1117854" lvl="2" indent="-514350">
              <a:buNone/>
            </a:pPr>
            <a:r>
              <a:rPr lang="en-US" sz="2000" b="1" dirty="0"/>
              <a:t>	Total Parenteral Nutrition (TPN)</a:t>
            </a:r>
          </a:p>
          <a:p>
            <a:pPr marL="1117854" lvl="2" indent="-514350">
              <a:buNone/>
            </a:pPr>
            <a:r>
              <a:rPr lang="en-US" sz="2000" b="1" dirty="0"/>
              <a:t>	Peripheral Parenteral Nutrition (PPN)</a:t>
            </a:r>
          </a:p>
        </p:txBody>
      </p:sp>
      <p:sp>
        <p:nvSpPr>
          <p:cNvPr id="7" name="TextBox 6">
            <a:extLst>
              <a:ext uri="{FF2B5EF4-FFF2-40B4-BE49-F238E27FC236}">
                <a16:creationId xmlns:a16="http://schemas.microsoft.com/office/drawing/2014/main" id="{F1E2C960-D358-409E-8C46-4582F2370B14}"/>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8930228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1266" name="Rectangle 2"/>
          <p:cNvSpPr>
            <a:spLocks noGrp="1" noChangeArrowheads="1"/>
          </p:cNvSpPr>
          <p:nvPr>
            <p:ph type="title"/>
          </p:nvPr>
        </p:nvSpPr>
        <p:spPr>
          <a:xfrm>
            <a:off x="1200565" y="1087374"/>
            <a:ext cx="6737617" cy="1000978"/>
          </a:xfrm>
        </p:spPr>
        <p:txBody>
          <a:bodyPr>
            <a:normAutofit/>
          </a:bodyPr>
          <a:lstStyle/>
          <a:p>
            <a:pPr eaLnBrk="1" hangingPunct="1"/>
            <a:r>
              <a:rPr lang="en-US"/>
              <a:t>THERAPEUTIC DIET CONSIDERATIONS</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1267" name="Rectangle 3"/>
          <p:cNvSpPr>
            <a:spLocks noGrp="1" noChangeArrowheads="1"/>
          </p:cNvSpPr>
          <p:nvPr>
            <p:ph idx="1"/>
          </p:nvPr>
        </p:nvSpPr>
        <p:spPr>
          <a:xfrm>
            <a:off x="1200564" y="2535446"/>
            <a:ext cx="6737617" cy="3554457"/>
          </a:xfrm>
        </p:spPr>
        <p:txBody>
          <a:bodyPr>
            <a:normAutofit/>
          </a:bodyPr>
          <a:lstStyle/>
          <a:p>
            <a:pPr eaLnBrk="1" hangingPunct="1"/>
            <a:r>
              <a:rPr lang="en-US" sz="2000" dirty="0">
                <a:solidFill>
                  <a:schemeClr val="tx1"/>
                </a:solidFill>
                <a:latin typeface="+mj-lt"/>
              </a:rPr>
              <a:t>Considerations for those who need a special diet:</a:t>
            </a:r>
          </a:p>
          <a:p>
            <a:pPr lvl="1" eaLnBrk="1" hangingPunct="1"/>
            <a:r>
              <a:rPr lang="en-US" sz="2000" dirty="0">
                <a:solidFill>
                  <a:schemeClr val="tx1"/>
                </a:solidFill>
                <a:latin typeface="+mj-lt"/>
              </a:rPr>
              <a:t>Disease process</a:t>
            </a:r>
          </a:p>
          <a:p>
            <a:pPr lvl="1" eaLnBrk="1" hangingPunct="1"/>
            <a:r>
              <a:rPr lang="en-US" sz="2000" dirty="0">
                <a:solidFill>
                  <a:schemeClr val="tx1"/>
                </a:solidFill>
                <a:latin typeface="+mj-lt"/>
              </a:rPr>
              <a:t>Social &amp; religious considerations</a:t>
            </a:r>
          </a:p>
          <a:p>
            <a:pPr lvl="1" eaLnBrk="1" hangingPunct="1"/>
            <a:r>
              <a:rPr lang="en-US" sz="2000" dirty="0">
                <a:solidFill>
                  <a:schemeClr val="tx1"/>
                </a:solidFill>
                <a:latin typeface="+mj-lt"/>
              </a:rPr>
              <a:t>Patient’s dislikes and likes</a:t>
            </a:r>
          </a:p>
          <a:p>
            <a:pPr lvl="1" eaLnBrk="1" hangingPunct="1"/>
            <a:r>
              <a:rPr lang="en-US" sz="2000" dirty="0">
                <a:solidFill>
                  <a:schemeClr val="tx1"/>
                </a:solidFill>
                <a:latin typeface="+mj-lt"/>
              </a:rPr>
              <a:t>Allergies</a:t>
            </a:r>
          </a:p>
          <a:p>
            <a:pPr lvl="1" eaLnBrk="1" hangingPunct="1"/>
            <a:r>
              <a:rPr lang="en-US" sz="2000" dirty="0">
                <a:solidFill>
                  <a:schemeClr val="tx1"/>
                </a:solidFill>
                <a:latin typeface="+mj-lt"/>
              </a:rPr>
              <a:t>Client’s condition</a:t>
            </a:r>
          </a:p>
          <a:p>
            <a:pPr lvl="1" eaLnBrk="1" hangingPunct="1"/>
            <a:r>
              <a:rPr lang="en-US" sz="2000" dirty="0">
                <a:solidFill>
                  <a:schemeClr val="tx1"/>
                </a:solidFill>
                <a:latin typeface="+mj-lt"/>
              </a:rPr>
              <a:t>Purpose of diet and consequences of not following</a:t>
            </a:r>
          </a:p>
          <a:p>
            <a:pPr eaLnBrk="1" hangingPunct="1"/>
            <a:r>
              <a:rPr lang="en-US" sz="2000" dirty="0">
                <a:solidFill>
                  <a:schemeClr val="tx1"/>
                </a:solidFill>
                <a:latin typeface="+mj-lt"/>
              </a:rPr>
              <a:t>Must make it “work” for the individual</a:t>
            </a:r>
          </a:p>
          <a:p>
            <a:pPr lvl="1" eaLnBrk="1" hangingPunct="1"/>
            <a:endParaRPr lang="en-US" sz="2000" dirty="0">
              <a:solidFill>
                <a:schemeClr val="tx1"/>
              </a:solidFill>
              <a:latin typeface="Comic Sans MS" pitchFamily="66" charset="0"/>
            </a:endParaRPr>
          </a:p>
        </p:txBody>
      </p:sp>
      <p:sp>
        <p:nvSpPr>
          <p:cNvPr id="9" name="TextBox 8">
            <a:extLst>
              <a:ext uri="{FF2B5EF4-FFF2-40B4-BE49-F238E27FC236}">
                <a16:creationId xmlns:a16="http://schemas.microsoft.com/office/drawing/2014/main" id="{91E3998A-49FF-41DA-B9B0-A5D43C68D1F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9354156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7650" name="Rectangle 2"/>
          <p:cNvSpPr>
            <a:spLocks noGrp="1" noChangeArrowheads="1"/>
          </p:cNvSpPr>
          <p:nvPr>
            <p:ph type="title"/>
          </p:nvPr>
        </p:nvSpPr>
        <p:spPr>
          <a:xfrm>
            <a:off x="1200565" y="1087374"/>
            <a:ext cx="6737617" cy="1000978"/>
          </a:xfrm>
        </p:spPr>
        <p:txBody>
          <a:bodyPr>
            <a:normAutofit/>
          </a:bodyPr>
          <a:lstStyle/>
          <a:p>
            <a:pPr eaLnBrk="1" hangingPunct="1"/>
            <a:r>
              <a:rPr lang="en-US" dirty="0"/>
              <a:t>Reasons for a Therapeutic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7651" name="Rectangle 3"/>
          <p:cNvSpPr>
            <a:spLocks noGrp="1" noChangeArrowheads="1"/>
          </p:cNvSpPr>
          <p:nvPr>
            <p:ph idx="1"/>
          </p:nvPr>
        </p:nvSpPr>
        <p:spPr>
          <a:xfrm>
            <a:off x="1200564" y="2535446"/>
            <a:ext cx="6737617" cy="3554457"/>
          </a:xfrm>
        </p:spPr>
        <p:txBody>
          <a:bodyPr>
            <a:normAutofit/>
          </a:bodyPr>
          <a:lstStyle/>
          <a:p>
            <a:pPr eaLnBrk="1" hangingPunct="1"/>
            <a:r>
              <a:rPr lang="en-US" sz="2400" dirty="0">
                <a:solidFill>
                  <a:schemeClr val="tx1"/>
                </a:solidFill>
                <a:latin typeface="+mj-lt"/>
              </a:rPr>
              <a:t>Increase or decrease body </a:t>
            </a:r>
            <a:r>
              <a:rPr lang="en-US" sz="2400" dirty="0" err="1">
                <a:solidFill>
                  <a:schemeClr val="tx1"/>
                </a:solidFill>
                <a:latin typeface="+mj-lt"/>
              </a:rPr>
              <a:t>wt</a:t>
            </a:r>
            <a:r>
              <a:rPr lang="en-US" sz="2400" dirty="0">
                <a:solidFill>
                  <a:schemeClr val="tx1"/>
                </a:solidFill>
                <a:latin typeface="+mj-lt"/>
              </a:rPr>
              <a:t> by manipulating kcal (energy)-anorexia/obesity</a:t>
            </a:r>
          </a:p>
          <a:p>
            <a:pPr eaLnBrk="1" hangingPunct="1"/>
            <a:r>
              <a:rPr lang="en-US" sz="2400" dirty="0">
                <a:solidFill>
                  <a:schemeClr val="tx1"/>
                </a:solidFill>
                <a:latin typeface="+mj-lt"/>
              </a:rPr>
              <a:t>Reduce or prevent edema by limiting fluid/salt-CHF</a:t>
            </a:r>
          </a:p>
          <a:p>
            <a:pPr eaLnBrk="1" hangingPunct="1"/>
            <a:r>
              <a:rPr lang="en-US" sz="2400" dirty="0">
                <a:solidFill>
                  <a:schemeClr val="tx1"/>
                </a:solidFill>
                <a:latin typeface="+mj-lt"/>
              </a:rPr>
              <a:t>Aid in digestion by avoiding foods that irritate the GI system-IBS, PUD, GERD</a:t>
            </a:r>
          </a:p>
          <a:p>
            <a:pPr eaLnBrk="1" hangingPunct="1"/>
            <a:r>
              <a:rPr lang="en-US" sz="2400" dirty="0">
                <a:solidFill>
                  <a:schemeClr val="tx1"/>
                </a:solidFill>
                <a:latin typeface="+mj-lt"/>
              </a:rPr>
              <a:t>Eliminating a food that the body is unable to tolerate-Gall bladder, lactose</a:t>
            </a:r>
          </a:p>
          <a:p>
            <a:pPr eaLnBrk="1" hangingPunct="1"/>
            <a:endParaRPr lang="en-US" sz="2400" dirty="0">
              <a:solidFill>
                <a:schemeClr val="tx1"/>
              </a:solidFill>
              <a:latin typeface="Comic Sans MS" pitchFamily="66" charset="0"/>
            </a:endParaRPr>
          </a:p>
        </p:txBody>
      </p:sp>
      <p:sp>
        <p:nvSpPr>
          <p:cNvPr id="9" name="TextBox 8">
            <a:extLst>
              <a:ext uri="{FF2B5EF4-FFF2-40B4-BE49-F238E27FC236}">
                <a16:creationId xmlns:a16="http://schemas.microsoft.com/office/drawing/2014/main" id="{10A3C7E6-23C2-40E3-848C-075F91861A28}"/>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1305054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4338" name="Rectangle 2"/>
          <p:cNvSpPr>
            <a:spLocks noGrp="1" noChangeArrowheads="1"/>
          </p:cNvSpPr>
          <p:nvPr>
            <p:ph type="title"/>
          </p:nvPr>
        </p:nvSpPr>
        <p:spPr>
          <a:xfrm>
            <a:off x="1200565" y="1087374"/>
            <a:ext cx="6737617" cy="1000978"/>
          </a:xfrm>
        </p:spPr>
        <p:txBody>
          <a:bodyPr>
            <a:normAutofit/>
          </a:bodyPr>
          <a:lstStyle/>
          <a:p>
            <a:pPr eaLnBrk="1" hangingPunct="1"/>
            <a:r>
              <a:rPr lang="en-US" dirty="0"/>
              <a:t>Reasons for a Therapeutic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4339" name="Rectangle 3"/>
          <p:cNvSpPr>
            <a:spLocks noGrp="1" noChangeArrowheads="1"/>
          </p:cNvSpPr>
          <p:nvPr>
            <p:ph idx="1"/>
          </p:nvPr>
        </p:nvSpPr>
        <p:spPr>
          <a:xfrm>
            <a:off x="1200564" y="2535446"/>
            <a:ext cx="6737617" cy="3554457"/>
          </a:xfrm>
        </p:spPr>
        <p:txBody>
          <a:bodyPr>
            <a:normAutofit/>
          </a:bodyPr>
          <a:lstStyle/>
          <a:p>
            <a:pPr eaLnBrk="1" hangingPunct="1"/>
            <a:r>
              <a:rPr lang="en-US" sz="2400">
                <a:solidFill>
                  <a:schemeClr val="tx1"/>
                </a:solidFill>
                <a:latin typeface="+mj-lt"/>
              </a:rPr>
              <a:t>Help overburdened organ(s) regain normal function-liver, kidney disease</a:t>
            </a:r>
          </a:p>
          <a:p>
            <a:pPr eaLnBrk="1" hangingPunct="1"/>
            <a:r>
              <a:rPr lang="en-US" sz="2400">
                <a:solidFill>
                  <a:schemeClr val="tx1"/>
                </a:solidFill>
                <a:latin typeface="+mj-lt"/>
              </a:rPr>
              <a:t>Slowing overactive digestion-dumping syndrome</a:t>
            </a:r>
          </a:p>
          <a:p>
            <a:pPr eaLnBrk="1" hangingPunct="1"/>
            <a:r>
              <a:rPr lang="en-US" sz="2400">
                <a:solidFill>
                  <a:schemeClr val="tx1"/>
                </a:solidFill>
                <a:latin typeface="+mj-lt"/>
              </a:rPr>
              <a:t>Regulate amount of food constituents in disorders of metabolism-Diabetes, PKU</a:t>
            </a:r>
          </a:p>
          <a:p>
            <a:pPr eaLnBrk="1" hangingPunct="1"/>
            <a:endParaRPr lang="en-US" sz="2400">
              <a:solidFill>
                <a:schemeClr val="tx1"/>
              </a:solidFill>
              <a:latin typeface="Comic Sans MS" pitchFamily="66" charset="0"/>
            </a:endParaRPr>
          </a:p>
        </p:txBody>
      </p:sp>
      <p:sp>
        <p:nvSpPr>
          <p:cNvPr id="9" name="TextBox 8">
            <a:extLst>
              <a:ext uri="{FF2B5EF4-FFF2-40B4-BE49-F238E27FC236}">
                <a16:creationId xmlns:a16="http://schemas.microsoft.com/office/drawing/2014/main" id="{D16ECD36-5FE0-4797-9BEA-38B8133D47D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9387829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5602" name="Rectangle 2"/>
          <p:cNvSpPr>
            <a:spLocks noGrp="1" noChangeArrowheads="1"/>
          </p:cNvSpPr>
          <p:nvPr>
            <p:ph type="title"/>
          </p:nvPr>
        </p:nvSpPr>
        <p:spPr>
          <a:xfrm>
            <a:off x="1200565" y="1087374"/>
            <a:ext cx="6737617" cy="1000978"/>
          </a:xfrm>
        </p:spPr>
        <p:txBody>
          <a:bodyPr>
            <a:normAutofit/>
          </a:bodyPr>
          <a:lstStyle/>
          <a:p>
            <a:pPr eaLnBrk="1" hangingPunct="1"/>
            <a:r>
              <a:rPr lang="en-US" dirty="0"/>
              <a:t>Preparing a Patient for a Therapeutic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5603" name="Rectangle 3"/>
          <p:cNvSpPr>
            <a:spLocks noGrp="1" noChangeArrowheads="1"/>
          </p:cNvSpPr>
          <p:nvPr>
            <p:ph idx="1"/>
          </p:nvPr>
        </p:nvSpPr>
        <p:spPr>
          <a:xfrm>
            <a:off x="1200564" y="2535446"/>
            <a:ext cx="6737617" cy="3554457"/>
          </a:xfrm>
        </p:spPr>
        <p:txBody>
          <a:bodyPr>
            <a:normAutofit/>
          </a:bodyPr>
          <a:lstStyle/>
          <a:p>
            <a:pPr eaLnBrk="1" hangingPunct="1"/>
            <a:r>
              <a:rPr lang="en-US" sz="2000" dirty="0">
                <a:solidFill>
                  <a:schemeClr val="tx1"/>
                </a:solidFill>
                <a:latin typeface="+mj-lt"/>
              </a:rPr>
              <a:t>Discuss allowed &amp; prohibited foods</a:t>
            </a:r>
          </a:p>
          <a:p>
            <a:pPr eaLnBrk="1" hangingPunct="1"/>
            <a:r>
              <a:rPr lang="en-US" sz="2000" dirty="0">
                <a:solidFill>
                  <a:schemeClr val="tx1"/>
                </a:solidFill>
                <a:latin typeface="+mj-lt"/>
              </a:rPr>
              <a:t>Explain reasons why food labels are important</a:t>
            </a:r>
          </a:p>
          <a:p>
            <a:pPr lvl="1" eaLnBrk="1" hangingPunct="1"/>
            <a:r>
              <a:rPr lang="en-US" sz="2000" dirty="0">
                <a:solidFill>
                  <a:schemeClr val="tx1"/>
                </a:solidFill>
                <a:latin typeface="+mj-lt"/>
              </a:rPr>
              <a:t>Teach how to read</a:t>
            </a:r>
          </a:p>
          <a:p>
            <a:pPr eaLnBrk="1" hangingPunct="1"/>
            <a:r>
              <a:rPr lang="en-US" sz="2000" dirty="0">
                <a:solidFill>
                  <a:schemeClr val="tx1"/>
                </a:solidFill>
                <a:latin typeface="+mj-lt"/>
              </a:rPr>
              <a:t>Include significant other or family</a:t>
            </a:r>
          </a:p>
          <a:p>
            <a:pPr lvl="1" eaLnBrk="1" hangingPunct="1"/>
            <a:r>
              <a:rPr lang="en-US" sz="2000" dirty="0">
                <a:solidFill>
                  <a:schemeClr val="tx1"/>
                </a:solidFill>
                <a:latin typeface="+mj-lt"/>
              </a:rPr>
              <a:t>Who does the cooking?</a:t>
            </a:r>
          </a:p>
          <a:p>
            <a:pPr eaLnBrk="1" hangingPunct="1"/>
            <a:r>
              <a:rPr lang="en-US" sz="2000" dirty="0">
                <a:solidFill>
                  <a:schemeClr val="tx1"/>
                </a:solidFill>
                <a:latin typeface="+mj-lt"/>
              </a:rPr>
              <a:t>Refer to dietician or diet manual</a:t>
            </a:r>
          </a:p>
          <a:p>
            <a:pPr eaLnBrk="1" hangingPunct="1"/>
            <a:r>
              <a:rPr lang="en-US" sz="2000" dirty="0">
                <a:solidFill>
                  <a:schemeClr val="tx1"/>
                </a:solidFill>
                <a:latin typeface="+mj-lt"/>
              </a:rPr>
              <a:t>Explain the consequences of not following the therapeutic diet</a:t>
            </a:r>
          </a:p>
        </p:txBody>
      </p:sp>
      <p:sp>
        <p:nvSpPr>
          <p:cNvPr id="9" name="TextBox 8">
            <a:extLst>
              <a:ext uri="{FF2B5EF4-FFF2-40B4-BE49-F238E27FC236}">
                <a16:creationId xmlns:a16="http://schemas.microsoft.com/office/drawing/2014/main" id="{DCE6AF13-9BBB-4631-AC72-8E3B2CF9F33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9276423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11412-079D-454C-898C-E52021D9BFF3}"/>
              </a:ext>
            </a:extLst>
          </p:cNvPr>
          <p:cNvSpPr>
            <a:spLocks noGrp="1"/>
          </p:cNvSpPr>
          <p:nvPr>
            <p:ph type="title"/>
          </p:nvPr>
        </p:nvSpPr>
        <p:spPr/>
        <p:txBody>
          <a:bodyPr/>
          <a:lstStyle/>
          <a:p>
            <a:r>
              <a:rPr lang="en-US"/>
              <a:t>Reading Nutrition labels</a:t>
            </a:r>
            <a:br>
              <a:rPr lang="en-US" dirty="0"/>
            </a:br>
            <a:r>
              <a:rPr lang="en-US"/>
              <a:t>Figure 23.1</a:t>
            </a:r>
            <a:endParaRPr lang="en-US" dirty="0"/>
          </a:p>
        </p:txBody>
      </p:sp>
      <p:pic>
        <p:nvPicPr>
          <p:cNvPr id="4" name="Picture 4" descr="A picture containing table&#10;&#10;Description automatically generated">
            <a:extLst>
              <a:ext uri="{FF2B5EF4-FFF2-40B4-BE49-F238E27FC236}">
                <a16:creationId xmlns:a16="http://schemas.microsoft.com/office/drawing/2014/main" id="{D9988DF7-65F6-4A46-B620-56BF885E2F49}"/>
              </a:ext>
            </a:extLst>
          </p:cNvPr>
          <p:cNvPicPr>
            <a:picLocks noGrp="1" noChangeAspect="1"/>
          </p:cNvPicPr>
          <p:nvPr>
            <p:ph idx="1"/>
          </p:nvPr>
        </p:nvPicPr>
        <p:blipFill>
          <a:blip r:embed="rId2"/>
          <a:stretch>
            <a:fillRect/>
          </a:stretch>
        </p:blipFill>
        <p:spPr>
          <a:xfrm>
            <a:off x="2921030" y="864108"/>
            <a:ext cx="2687790" cy="5120640"/>
          </a:xfrm>
        </p:spPr>
      </p:pic>
      <p:pic>
        <p:nvPicPr>
          <p:cNvPr id="5" name="Picture 5" descr="Table&#10;&#10;Description automatically generated">
            <a:extLst>
              <a:ext uri="{FF2B5EF4-FFF2-40B4-BE49-F238E27FC236}">
                <a16:creationId xmlns:a16="http://schemas.microsoft.com/office/drawing/2014/main" id="{913A05D1-7EAD-4865-A49B-3332301DFC70}"/>
              </a:ext>
            </a:extLst>
          </p:cNvPr>
          <p:cNvPicPr>
            <a:picLocks noChangeAspect="1"/>
          </p:cNvPicPr>
          <p:nvPr/>
        </p:nvPicPr>
        <p:blipFill>
          <a:blip r:embed="rId3"/>
          <a:stretch>
            <a:fillRect/>
          </a:stretch>
        </p:blipFill>
        <p:spPr>
          <a:xfrm>
            <a:off x="5964925" y="868393"/>
            <a:ext cx="2620037" cy="5106837"/>
          </a:xfrm>
          <a:prstGeom prst="rect">
            <a:avLst/>
          </a:prstGeom>
        </p:spPr>
      </p:pic>
      <p:sp>
        <p:nvSpPr>
          <p:cNvPr id="6" name="TextBox 5">
            <a:extLst>
              <a:ext uri="{FF2B5EF4-FFF2-40B4-BE49-F238E27FC236}">
                <a16:creationId xmlns:a16="http://schemas.microsoft.com/office/drawing/2014/main" id="{5AF69654-259D-49EF-95BC-CA13682ABBD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0080884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ee the source image">
            <a:extLst>
              <a:ext uri="{FF2B5EF4-FFF2-40B4-BE49-F238E27FC236}">
                <a16:creationId xmlns:a16="http://schemas.microsoft.com/office/drawing/2014/main" id="{7B1E1172-1A6F-469E-932D-F57559193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D3BCAB8-5493-429D-92B8-1A038F464FA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9961047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31749"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1746" name="Rectangle 2"/>
          <p:cNvSpPr>
            <a:spLocks noGrp="1" noChangeArrowheads="1"/>
          </p:cNvSpPr>
          <p:nvPr>
            <p:ph type="title"/>
          </p:nvPr>
        </p:nvSpPr>
        <p:spPr>
          <a:xfrm>
            <a:off x="1154337" y="864108"/>
            <a:ext cx="2305435" cy="5120639"/>
          </a:xfrm>
        </p:spPr>
        <p:txBody>
          <a:bodyPr>
            <a:normAutofit/>
          </a:bodyPr>
          <a:lstStyle/>
          <a:p>
            <a:pPr algn="r"/>
            <a:r>
              <a:rPr lang="en-US" dirty="0">
                <a:solidFill>
                  <a:schemeClr val="tx1">
                    <a:lumMod val="85000"/>
                    <a:lumOff val="15000"/>
                  </a:schemeClr>
                </a:solidFill>
              </a:rPr>
              <a:t>Helping A Patient Accept A Therapeutic Diet</a:t>
            </a:r>
            <a:br>
              <a:rPr lang="en-US" dirty="0">
                <a:solidFill>
                  <a:schemeClr val="tx1">
                    <a:lumMod val="85000"/>
                    <a:lumOff val="15000"/>
                  </a:schemeClr>
                </a:solidFill>
              </a:rPr>
            </a:br>
            <a:r>
              <a:rPr lang="en-US">
                <a:solidFill>
                  <a:schemeClr val="tx1">
                    <a:lumMod val="85000"/>
                    <a:lumOff val="15000"/>
                  </a:schemeClr>
                </a:solidFill>
              </a:rPr>
              <a:t>Table 24.1</a:t>
            </a:r>
            <a:endParaRPr lang="en-US" dirty="0">
              <a:solidFill>
                <a:schemeClr val="tx1">
                  <a:lumMod val="85000"/>
                  <a:lumOff val="15000"/>
                </a:schemeClr>
              </a:solidFill>
            </a:endParaRPr>
          </a:p>
        </p:txBody>
      </p:sp>
      <p:sp>
        <p:nvSpPr>
          <p:cNvPr id="31750"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1751"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1747" name="Rectangle 3"/>
          <p:cNvSpPr>
            <a:spLocks noGrp="1" noChangeArrowheads="1"/>
          </p:cNvSpPr>
          <p:nvPr>
            <p:ph idx="1"/>
          </p:nvPr>
        </p:nvSpPr>
        <p:spPr>
          <a:xfrm>
            <a:off x="3966921" y="864108"/>
            <a:ext cx="4433008" cy="5120640"/>
          </a:xfrm>
        </p:spPr>
        <p:txBody>
          <a:bodyPr>
            <a:normAutofit/>
          </a:bodyPr>
          <a:lstStyle/>
          <a:p>
            <a:pPr eaLnBrk="1" hangingPunct="1"/>
            <a:r>
              <a:rPr lang="en-US" sz="2400" dirty="0">
                <a:latin typeface="+mj-lt"/>
              </a:rPr>
              <a:t>Clarify misinformation</a:t>
            </a:r>
          </a:p>
          <a:p>
            <a:pPr eaLnBrk="1" hangingPunct="1"/>
            <a:r>
              <a:rPr lang="en-US" sz="2400" dirty="0">
                <a:latin typeface="+mj-lt"/>
              </a:rPr>
              <a:t>Individualize</a:t>
            </a:r>
          </a:p>
          <a:p>
            <a:pPr eaLnBrk="1" hangingPunct="1"/>
            <a:r>
              <a:rPr lang="en-US" sz="2400" dirty="0">
                <a:latin typeface="+mj-lt"/>
              </a:rPr>
              <a:t>Difficult to change food attitudes</a:t>
            </a:r>
          </a:p>
          <a:p>
            <a:pPr lvl="1" eaLnBrk="1" hangingPunct="1"/>
            <a:r>
              <a:rPr lang="en-US" sz="2400" dirty="0">
                <a:latin typeface="+mj-lt"/>
              </a:rPr>
              <a:t>MORE LIKELY TO CHANGE EATING HABITS IF THEY UNDERSTAND THE RELATIONSHIP B/T THE DIET &amp; THEIR DISEASE</a:t>
            </a:r>
          </a:p>
          <a:p>
            <a:pPr lvl="1" eaLnBrk="1" hangingPunct="1"/>
            <a:endParaRPr lang="en-US" dirty="0">
              <a:latin typeface="+mj-lt"/>
            </a:endParaRPr>
          </a:p>
        </p:txBody>
      </p:sp>
      <p:sp>
        <p:nvSpPr>
          <p:cNvPr id="31752"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1FC195D-44EB-434C-B684-38273584145E}"/>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6192112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Therapeutic Diets: </a:t>
            </a:r>
            <a:br>
              <a:rPr lang="en-US">
                <a:solidFill>
                  <a:schemeClr val="tx1">
                    <a:lumMod val="85000"/>
                    <a:lumOff val="15000"/>
                  </a:schemeClr>
                </a:solidFill>
              </a:rPr>
            </a:br>
            <a:r>
              <a:rPr lang="en-US">
                <a:solidFill>
                  <a:schemeClr val="tx1">
                    <a:lumMod val="85000"/>
                    <a:lumOff val="15000"/>
                  </a:schemeClr>
                </a:solidFill>
              </a:rPr>
              <a:t>Altered Consistency</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864108"/>
            <a:ext cx="4608275" cy="5120640"/>
          </a:xfrm>
        </p:spPr>
        <p:txBody>
          <a:bodyPr>
            <a:normAutofit/>
          </a:bodyPr>
          <a:lstStyle/>
          <a:p>
            <a:r>
              <a:rPr lang="en-US" sz="2000" b="1" u="sng" dirty="0"/>
              <a:t>Clear Liquid Diet</a:t>
            </a:r>
          </a:p>
          <a:p>
            <a:r>
              <a:rPr lang="en-US" sz="2000" dirty="0">
                <a:latin typeface="+mj-lt"/>
              </a:rPr>
              <a:t>A progressive diet</a:t>
            </a:r>
          </a:p>
          <a:p>
            <a:pPr lvl="1"/>
            <a:r>
              <a:rPr lang="en-US" sz="2000" dirty="0">
                <a:latin typeface="+mj-lt"/>
              </a:rPr>
              <a:t>Easily absorbed: do not over-stimulate the digestive tract </a:t>
            </a:r>
          </a:p>
          <a:p>
            <a:pPr lvl="1"/>
            <a:r>
              <a:rPr lang="en-US" sz="2000" dirty="0">
                <a:latin typeface="+mj-lt"/>
              </a:rPr>
              <a:t>Liquid at room temperature</a:t>
            </a:r>
          </a:p>
          <a:p>
            <a:pPr lvl="1"/>
            <a:r>
              <a:rPr lang="en-US" sz="2000" dirty="0">
                <a:latin typeface="+mj-lt"/>
              </a:rPr>
              <a:t>Purpose:</a:t>
            </a:r>
          </a:p>
          <a:p>
            <a:pPr lvl="2"/>
            <a:r>
              <a:rPr lang="en-US" sz="2000" dirty="0">
                <a:latin typeface="+mj-lt"/>
              </a:rPr>
              <a:t>Provide an oral source of fluids, small amounts of calories, &amp; electrolytes</a:t>
            </a:r>
          </a:p>
          <a:p>
            <a:pPr lvl="2"/>
            <a:r>
              <a:rPr lang="en-US" sz="2000" dirty="0">
                <a:latin typeface="+mj-lt"/>
              </a:rPr>
              <a:t>Fiber free and fat free</a:t>
            </a:r>
          </a:p>
          <a:p>
            <a:pPr lvl="2"/>
            <a:r>
              <a:rPr lang="en-US" sz="2000" dirty="0">
                <a:latin typeface="+mj-lt"/>
              </a:rPr>
              <a:t>Prevent dehydration</a:t>
            </a:r>
          </a:p>
          <a:p>
            <a:pPr lvl="2"/>
            <a:r>
              <a:rPr lang="en-US" sz="2000" dirty="0">
                <a:latin typeface="+mj-lt"/>
              </a:rPr>
              <a:t>Reduce colonic residue</a:t>
            </a:r>
          </a:p>
          <a:p>
            <a:pPr lvl="2"/>
            <a:r>
              <a:rPr lang="en-US" sz="2000" dirty="0">
                <a:latin typeface="+mj-lt"/>
              </a:rPr>
              <a:t>Relieve extreme thirst</a:t>
            </a:r>
          </a:p>
          <a:p>
            <a:endParaRPr lang="en-US" b="1" u="sng" dirty="0"/>
          </a:p>
        </p:txBody>
      </p:sp>
      <p:sp>
        <p:nvSpPr>
          <p:cNvPr id="7" name="TextBox 6">
            <a:extLst>
              <a:ext uri="{FF2B5EF4-FFF2-40B4-BE49-F238E27FC236}">
                <a16:creationId xmlns:a16="http://schemas.microsoft.com/office/drawing/2014/main" id="{D5192832-07E0-4DC1-9ADF-C4FFF7636746}"/>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7665048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5602" name="Rectangle 2"/>
          <p:cNvSpPr>
            <a:spLocks noGrp="1" noChangeArrowheads="1"/>
          </p:cNvSpPr>
          <p:nvPr>
            <p:ph type="title"/>
          </p:nvPr>
        </p:nvSpPr>
        <p:spPr>
          <a:xfrm>
            <a:off x="1200565" y="1087374"/>
            <a:ext cx="6737617" cy="1000978"/>
          </a:xfrm>
        </p:spPr>
        <p:txBody>
          <a:bodyPr>
            <a:normAutofit/>
          </a:bodyPr>
          <a:lstStyle/>
          <a:p>
            <a:pPr eaLnBrk="1" hangingPunct="1"/>
            <a:r>
              <a:rPr lang="en-US" u="sng" dirty="0"/>
              <a:t>Clear Liquid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5603" name="Rectangle 3"/>
          <p:cNvSpPr>
            <a:spLocks noGrp="1" noChangeArrowheads="1"/>
          </p:cNvSpPr>
          <p:nvPr>
            <p:ph idx="1"/>
          </p:nvPr>
        </p:nvSpPr>
        <p:spPr>
          <a:xfrm>
            <a:off x="1200564" y="2535446"/>
            <a:ext cx="6737617" cy="3554457"/>
          </a:xfrm>
        </p:spPr>
        <p:txBody>
          <a:bodyPr>
            <a:normAutofit/>
          </a:bodyPr>
          <a:lstStyle/>
          <a:p>
            <a:pPr eaLnBrk="1" hangingPunct="1"/>
            <a:r>
              <a:rPr lang="en-US" sz="2000" u="sng" dirty="0">
                <a:solidFill>
                  <a:schemeClr val="tx1"/>
                </a:solidFill>
                <a:latin typeface="+mj-lt"/>
              </a:rPr>
              <a:t>Composition:</a:t>
            </a:r>
          </a:p>
          <a:p>
            <a:pPr lvl="1" eaLnBrk="1" hangingPunct="1"/>
            <a:r>
              <a:rPr lang="en-US" sz="2000" dirty="0">
                <a:solidFill>
                  <a:schemeClr val="tx1"/>
                </a:solidFill>
                <a:latin typeface="+mj-lt"/>
              </a:rPr>
              <a:t>Clear  “see-through” foods</a:t>
            </a:r>
          </a:p>
          <a:p>
            <a:pPr lvl="1" eaLnBrk="1" hangingPunct="1"/>
            <a:r>
              <a:rPr lang="en-US" sz="2000" dirty="0">
                <a:solidFill>
                  <a:schemeClr val="tx1"/>
                </a:solidFill>
                <a:latin typeface="+mj-lt"/>
              </a:rPr>
              <a:t> bouillon, broth, Tea, coffee</a:t>
            </a:r>
          </a:p>
          <a:p>
            <a:pPr lvl="1" eaLnBrk="1" hangingPunct="1"/>
            <a:r>
              <a:rPr lang="en-US" sz="2000" dirty="0">
                <a:solidFill>
                  <a:schemeClr val="tx1"/>
                </a:solidFill>
                <a:latin typeface="+mj-lt"/>
              </a:rPr>
              <a:t>Clear fruit juices: cranberry, apple, grape—No OJ or prune</a:t>
            </a:r>
          </a:p>
          <a:p>
            <a:pPr lvl="1" eaLnBrk="1" hangingPunct="1"/>
            <a:r>
              <a:rPr lang="en-US" sz="2000" dirty="0">
                <a:solidFill>
                  <a:schemeClr val="tx1"/>
                </a:solidFill>
                <a:latin typeface="+mj-lt"/>
              </a:rPr>
              <a:t>Jell-O</a:t>
            </a:r>
          </a:p>
          <a:p>
            <a:pPr lvl="1" eaLnBrk="1" hangingPunct="1"/>
            <a:r>
              <a:rPr lang="en-US" sz="2000" dirty="0">
                <a:solidFill>
                  <a:schemeClr val="tx1"/>
                </a:solidFill>
                <a:latin typeface="+mj-lt"/>
              </a:rPr>
              <a:t>Carbonated beverages</a:t>
            </a:r>
          </a:p>
          <a:p>
            <a:pPr lvl="1" eaLnBrk="1" hangingPunct="1"/>
            <a:r>
              <a:rPr lang="en-US" sz="2000" dirty="0">
                <a:solidFill>
                  <a:schemeClr val="tx1"/>
                </a:solidFill>
                <a:latin typeface="+mj-lt"/>
              </a:rPr>
              <a:t>Popsicles</a:t>
            </a:r>
          </a:p>
          <a:p>
            <a:pPr lvl="1" eaLnBrk="1" hangingPunct="1"/>
            <a:r>
              <a:rPr lang="en-US" sz="2000" dirty="0">
                <a:solidFill>
                  <a:schemeClr val="tx1"/>
                </a:solidFill>
                <a:latin typeface="+mj-lt"/>
              </a:rPr>
              <a:t>Honey, sugar, gumdrops, lemon for tea</a:t>
            </a:r>
          </a:p>
        </p:txBody>
      </p:sp>
      <p:sp>
        <p:nvSpPr>
          <p:cNvPr id="9" name="TextBox 8">
            <a:extLst>
              <a:ext uri="{FF2B5EF4-FFF2-40B4-BE49-F238E27FC236}">
                <a16:creationId xmlns:a16="http://schemas.microsoft.com/office/drawing/2014/main" id="{62485D23-EDAF-4864-8FF1-63FEDD77CF5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1759123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4578" name="Rectangle 2"/>
          <p:cNvSpPr>
            <a:spLocks noGrp="1" noChangeArrowheads="1"/>
          </p:cNvSpPr>
          <p:nvPr>
            <p:ph type="title"/>
          </p:nvPr>
        </p:nvSpPr>
        <p:spPr>
          <a:xfrm>
            <a:off x="1200565" y="1087374"/>
            <a:ext cx="6737617" cy="1000978"/>
          </a:xfrm>
        </p:spPr>
        <p:txBody>
          <a:bodyPr>
            <a:normAutofit/>
          </a:bodyPr>
          <a:lstStyle/>
          <a:p>
            <a:pPr eaLnBrk="1" hangingPunct="1"/>
            <a:r>
              <a:rPr lang="en-US" u="sng" dirty="0"/>
              <a:t>Clear Liquid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4579" name="Rectangle 3"/>
          <p:cNvSpPr>
            <a:spLocks noGrp="1" noChangeArrowheads="1"/>
          </p:cNvSpPr>
          <p:nvPr>
            <p:ph idx="1"/>
          </p:nvPr>
        </p:nvSpPr>
        <p:spPr>
          <a:xfrm>
            <a:off x="1200564" y="2535446"/>
            <a:ext cx="6737617" cy="3554457"/>
          </a:xfrm>
        </p:spPr>
        <p:txBody>
          <a:bodyPr>
            <a:normAutofit/>
          </a:bodyPr>
          <a:lstStyle/>
          <a:p>
            <a:pPr eaLnBrk="1" hangingPunct="1"/>
            <a:r>
              <a:rPr lang="en-US" sz="2400" u="sng" dirty="0">
                <a:solidFill>
                  <a:schemeClr val="tx1"/>
                </a:solidFill>
                <a:latin typeface="+mj-lt"/>
              </a:rPr>
              <a:t>Concerns:</a:t>
            </a:r>
          </a:p>
          <a:p>
            <a:pPr lvl="1" eaLnBrk="1" hangingPunct="1"/>
            <a:r>
              <a:rPr lang="en-US" sz="2400" dirty="0">
                <a:solidFill>
                  <a:schemeClr val="tx1"/>
                </a:solidFill>
                <a:latin typeface="+mj-lt"/>
              </a:rPr>
              <a:t>Monitor client tolerance to oral intake</a:t>
            </a:r>
          </a:p>
          <a:p>
            <a:pPr lvl="1" eaLnBrk="1" hangingPunct="1"/>
            <a:r>
              <a:rPr lang="en-US" sz="2400" dirty="0">
                <a:solidFill>
                  <a:schemeClr val="tx1"/>
                </a:solidFill>
                <a:latin typeface="+mj-lt"/>
              </a:rPr>
              <a:t>NOT NUTRITIONAL!! </a:t>
            </a:r>
          </a:p>
          <a:p>
            <a:pPr lvl="1" eaLnBrk="1" hangingPunct="1"/>
            <a:r>
              <a:rPr lang="en-US" sz="2400" dirty="0">
                <a:solidFill>
                  <a:schemeClr val="tx1"/>
                </a:solidFill>
                <a:latin typeface="+mj-lt"/>
              </a:rPr>
              <a:t>ONLY ADEQUATE FOR A 3-5 DAY MAXIMUM</a:t>
            </a:r>
          </a:p>
          <a:p>
            <a:pPr lvl="1" eaLnBrk="1" hangingPunct="1"/>
            <a:r>
              <a:rPr lang="en-US" sz="2400" dirty="0">
                <a:solidFill>
                  <a:schemeClr val="tx1"/>
                </a:solidFill>
                <a:latin typeface="+mj-lt"/>
              </a:rPr>
              <a:t>Very few to no vitamins, proteins, or nutrients</a:t>
            </a:r>
          </a:p>
          <a:p>
            <a:pPr lvl="1" eaLnBrk="1" hangingPunct="1"/>
            <a:r>
              <a:rPr lang="en-US" sz="2400" dirty="0">
                <a:solidFill>
                  <a:schemeClr val="tx1"/>
                </a:solidFill>
                <a:latin typeface="+mj-lt"/>
              </a:rPr>
              <a:t>Consider the diabetic clear liquids-no calories</a:t>
            </a:r>
          </a:p>
        </p:txBody>
      </p:sp>
      <p:sp>
        <p:nvSpPr>
          <p:cNvPr id="9" name="TextBox 8">
            <a:extLst>
              <a:ext uri="{FF2B5EF4-FFF2-40B4-BE49-F238E27FC236}">
                <a16:creationId xmlns:a16="http://schemas.microsoft.com/office/drawing/2014/main" id="{987A78A0-0793-4CFE-A4FF-AF0EA3AC64E0}"/>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448494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Therapeutic Diets: Altered Consistency</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864108"/>
            <a:ext cx="4608275" cy="5120640"/>
          </a:xfrm>
        </p:spPr>
        <p:txBody>
          <a:bodyPr>
            <a:normAutofit/>
          </a:bodyPr>
          <a:lstStyle/>
          <a:p>
            <a:r>
              <a:rPr lang="en-US" sz="2000" b="1" u="sng" dirty="0"/>
              <a:t>Full Liquid Diet</a:t>
            </a:r>
          </a:p>
          <a:p>
            <a:r>
              <a:rPr lang="en-US" sz="2000" dirty="0"/>
              <a:t>Considered a transition or progressive diet</a:t>
            </a:r>
          </a:p>
          <a:p>
            <a:pPr lvl="1"/>
            <a:r>
              <a:rPr lang="en-US" sz="2000" dirty="0">
                <a:latin typeface="+mj-lt"/>
              </a:rPr>
              <a:t>Liquids that can be poured at room temp</a:t>
            </a:r>
          </a:p>
          <a:p>
            <a:pPr lvl="1"/>
            <a:r>
              <a:rPr lang="en-US" sz="2000" dirty="0">
                <a:latin typeface="+mj-lt"/>
              </a:rPr>
              <a:t>Purpose: </a:t>
            </a:r>
          </a:p>
          <a:p>
            <a:pPr lvl="2"/>
            <a:r>
              <a:rPr lang="en-US" sz="2000" dirty="0">
                <a:latin typeface="+mj-lt"/>
              </a:rPr>
              <a:t>Provide oral nourishment (water, calories, protein, vitamins, minerals &amp; dairy products)</a:t>
            </a:r>
          </a:p>
          <a:p>
            <a:pPr lvl="2"/>
            <a:r>
              <a:rPr lang="en-US" sz="2000" dirty="0">
                <a:latin typeface="+mj-lt"/>
              </a:rPr>
              <a:t>Easily swallowed (except after a CVA)</a:t>
            </a:r>
          </a:p>
          <a:p>
            <a:pPr lvl="2"/>
            <a:r>
              <a:rPr lang="en-US" sz="2000" dirty="0">
                <a:latin typeface="+mj-lt"/>
              </a:rPr>
              <a:t>If use for &gt; 3 days, must provide supplements</a:t>
            </a:r>
          </a:p>
          <a:p>
            <a:endParaRPr lang="en-US" b="1" u="sng" dirty="0"/>
          </a:p>
        </p:txBody>
      </p:sp>
      <p:sp>
        <p:nvSpPr>
          <p:cNvPr id="7" name="TextBox 6">
            <a:extLst>
              <a:ext uri="{FF2B5EF4-FFF2-40B4-BE49-F238E27FC236}">
                <a16:creationId xmlns:a16="http://schemas.microsoft.com/office/drawing/2014/main" id="{E115CA7E-AAC1-4627-AC2F-02C7A581E870}"/>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5357534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8674" name="Rectangle 2"/>
          <p:cNvSpPr>
            <a:spLocks noGrp="1" noChangeArrowheads="1"/>
          </p:cNvSpPr>
          <p:nvPr>
            <p:ph type="title"/>
          </p:nvPr>
        </p:nvSpPr>
        <p:spPr>
          <a:xfrm>
            <a:off x="1200565" y="1087374"/>
            <a:ext cx="6737617" cy="1000978"/>
          </a:xfrm>
        </p:spPr>
        <p:txBody>
          <a:bodyPr>
            <a:normAutofit/>
          </a:bodyPr>
          <a:lstStyle/>
          <a:p>
            <a:pPr eaLnBrk="1" hangingPunct="1"/>
            <a:r>
              <a:rPr lang="en-US" u="sng" dirty="0"/>
              <a:t>Full Liquid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8675" name="Rectangle 3"/>
          <p:cNvSpPr>
            <a:spLocks noGrp="1" noChangeArrowheads="1"/>
          </p:cNvSpPr>
          <p:nvPr>
            <p:ph idx="1"/>
          </p:nvPr>
        </p:nvSpPr>
        <p:spPr>
          <a:xfrm>
            <a:off x="1200564" y="2535446"/>
            <a:ext cx="6737617" cy="3554457"/>
          </a:xfrm>
        </p:spPr>
        <p:txBody>
          <a:bodyPr>
            <a:normAutofit/>
          </a:bodyPr>
          <a:lstStyle/>
          <a:p>
            <a:pPr eaLnBrk="1" hangingPunct="1"/>
            <a:r>
              <a:rPr lang="en-US" sz="2000" dirty="0">
                <a:solidFill>
                  <a:schemeClr val="tx1"/>
                </a:solidFill>
                <a:latin typeface="+mj-lt"/>
              </a:rPr>
              <a:t>What’s for dinner?</a:t>
            </a:r>
          </a:p>
          <a:p>
            <a:pPr lvl="1" eaLnBrk="1" hangingPunct="1"/>
            <a:r>
              <a:rPr lang="en-US" sz="2000" dirty="0">
                <a:solidFill>
                  <a:schemeClr val="tx1"/>
                </a:solidFill>
                <a:latin typeface="+mj-lt"/>
              </a:rPr>
              <a:t>Any clear liquid</a:t>
            </a:r>
          </a:p>
          <a:p>
            <a:pPr lvl="1" eaLnBrk="1" hangingPunct="1"/>
            <a:r>
              <a:rPr lang="en-US" sz="2000" dirty="0">
                <a:solidFill>
                  <a:schemeClr val="tx1"/>
                </a:solidFill>
                <a:latin typeface="+mj-lt"/>
              </a:rPr>
              <a:t>Soups (creamed or strained)</a:t>
            </a:r>
          </a:p>
          <a:p>
            <a:pPr lvl="1" eaLnBrk="1" hangingPunct="1"/>
            <a:r>
              <a:rPr lang="en-US" sz="2000" dirty="0">
                <a:solidFill>
                  <a:schemeClr val="tx1"/>
                </a:solidFill>
                <a:latin typeface="+mj-lt"/>
              </a:rPr>
              <a:t>Milk, creams</a:t>
            </a:r>
          </a:p>
          <a:p>
            <a:pPr lvl="1" eaLnBrk="1" hangingPunct="1"/>
            <a:r>
              <a:rPr lang="en-US" sz="2000" dirty="0">
                <a:solidFill>
                  <a:schemeClr val="tx1"/>
                </a:solidFill>
                <a:latin typeface="+mj-lt"/>
              </a:rPr>
              <a:t>Sherbet, plain ice cream, yogurts</a:t>
            </a:r>
          </a:p>
          <a:p>
            <a:pPr lvl="1" eaLnBrk="1" hangingPunct="1"/>
            <a:r>
              <a:rPr lang="en-US" sz="2000" dirty="0">
                <a:solidFill>
                  <a:schemeClr val="tx1"/>
                </a:solidFill>
                <a:latin typeface="+mj-lt"/>
              </a:rPr>
              <a:t>All cooked cereal</a:t>
            </a:r>
          </a:p>
          <a:p>
            <a:pPr lvl="1" eaLnBrk="1" hangingPunct="1"/>
            <a:r>
              <a:rPr lang="en-US" sz="2000" dirty="0">
                <a:solidFill>
                  <a:schemeClr val="tx1"/>
                </a:solidFill>
                <a:latin typeface="+mj-lt"/>
              </a:rPr>
              <a:t>Custard, pudding, eggnog</a:t>
            </a:r>
          </a:p>
          <a:p>
            <a:pPr lvl="1" eaLnBrk="1" hangingPunct="1"/>
            <a:r>
              <a:rPr lang="en-US" sz="2000" dirty="0">
                <a:solidFill>
                  <a:schemeClr val="tx1"/>
                </a:solidFill>
                <a:latin typeface="+mj-lt"/>
              </a:rPr>
              <a:t>Vegetable &amp; strained fruit juice</a:t>
            </a:r>
          </a:p>
          <a:p>
            <a:pPr lvl="1" eaLnBrk="1" hangingPunct="1"/>
            <a:r>
              <a:rPr lang="en-US" sz="2000" dirty="0">
                <a:solidFill>
                  <a:schemeClr val="tx1"/>
                </a:solidFill>
                <a:latin typeface="+mj-lt"/>
              </a:rPr>
              <a:t>All prepared liquid formulas</a:t>
            </a:r>
          </a:p>
          <a:p>
            <a:pPr lvl="1" eaLnBrk="1" hangingPunct="1">
              <a:buNone/>
            </a:pPr>
            <a:r>
              <a:rPr lang="en-US" sz="2000" dirty="0">
                <a:solidFill>
                  <a:schemeClr val="tx1"/>
                </a:solidFill>
                <a:latin typeface="+mj-lt"/>
              </a:rPr>
              <a:t>*Lactose-intolerant clients may need lactose-free liquids</a:t>
            </a:r>
          </a:p>
        </p:txBody>
      </p:sp>
      <p:sp>
        <p:nvSpPr>
          <p:cNvPr id="9" name="TextBox 8">
            <a:extLst>
              <a:ext uri="{FF2B5EF4-FFF2-40B4-BE49-F238E27FC236}">
                <a16:creationId xmlns:a16="http://schemas.microsoft.com/office/drawing/2014/main" id="{C10C6E15-B9B0-4FEC-A7F4-DE21BEC85AC2}"/>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8216505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7650" name="Rectangle 2"/>
          <p:cNvSpPr>
            <a:spLocks noGrp="1" noChangeArrowheads="1"/>
          </p:cNvSpPr>
          <p:nvPr>
            <p:ph type="title"/>
          </p:nvPr>
        </p:nvSpPr>
        <p:spPr>
          <a:xfrm>
            <a:off x="1200565" y="1087374"/>
            <a:ext cx="6737617" cy="1000978"/>
          </a:xfrm>
        </p:spPr>
        <p:txBody>
          <a:bodyPr>
            <a:normAutofit/>
          </a:bodyPr>
          <a:lstStyle/>
          <a:p>
            <a:pPr eaLnBrk="1" hangingPunct="1"/>
            <a:r>
              <a:rPr lang="en-US" u="sng" dirty="0"/>
              <a:t>Full Liquid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7651" name="Rectangle 3"/>
          <p:cNvSpPr>
            <a:spLocks noGrp="1" noChangeArrowheads="1"/>
          </p:cNvSpPr>
          <p:nvPr>
            <p:ph idx="1"/>
          </p:nvPr>
        </p:nvSpPr>
        <p:spPr>
          <a:xfrm>
            <a:off x="1200564" y="2535446"/>
            <a:ext cx="6737617" cy="3554457"/>
          </a:xfrm>
        </p:spPr>
        <p:txBody>
          <a:bodyPr>
            <a:normAutofit/>
          </a:bodyPr>
          <a:lstStyle/>
          <a:p>
            <a:pPr eaLnBrk="1" hangingPunct="1"/>
            <a:r>
              <a:rPr lang="en-US" sz="2400" u="sng" dirty="0">
                <a:solidFill>
                  <a:schemeClr val="tx1"/>
                </a:solidFill>
                <a:latin typeface="+mj-lt"/>
              </a:rPr>
              <a:t>Concerns:</a:t>
            </a:r>
          </a:p>
          <a:p>
            <a:pPr lvl="1"/>
            <a:r>
              <a:rPr lang="en-US" sz="2400" dirty="0">
                <a:solidFill>
                  <a:schemeClr val="tx1"/>
                </a:solidFill>
                <a:latin typeface="+mj-lt"/>
              </a:rPr>
              <a:t>Monotonous: </a:t>
            </a:r>
            <a:r>
              <a:rPr lang="en-US" sz="2400" dirty="0"/>
              <a:t>dull, repetitious; lacking in variety and interest.</a:t>
            </a:r>
            <a:endParaRPr lang="en-US" sz="2400" dirty="0">
              <a:solidFill>
                <a:schemeClr val="tx1"/>
              </a:solidFill>
              <a:latin typeface="+mj-lt"/>
            </a:endParaRPr>
          </a:p>
          <a:p>
            <a:pPr lvl="1" eaLnBrk="1" hangingPunct="1"/>
            <a:r>
              <a:rPr lang="en-US" sz="2400" dirty="0">
                <a:solidFill>
                  <a:schemeClr val="tx1"/>
                </a:solidFill>
                <a:latin typeface="+mj-lt"/>
              </a:rPr>
              <a:t>Can be nutritionally inadequate</a:t>
            </a:r>
          </a:p>
          <a:p>
            <a:pPr lvl="1" eaLnBrk="1" hangingPunct="1"/>
            <a:r>
              <a:rPr lang="en-US" sz="2400" dirty="0">
                <a:solidFill>
                  <a:schemeClr val="tx1"/>
                </a:solidFill>
                <a:latin typeface="+mj-lt"/>
              </a:rPr>
              <a:t>Monitor for tolerance of feeding </a:t>
            </a:r>
          </a:p>
          <a:p>
            <a:pPr lvl="1" eaLnBrk="1" hangingPunct="1"/>
            <a:r>
              <a:rPr lang="en-US" sz="2400" dirty="0">
                <a:solidFill>
                  <a:schemeClr val="tx1"/>
                </a:solidFill>
                <a:latin typeface="+mj-lt"/>
              </a:rPr>
              <a:t>Diabetic—must be sugar free</a:t>
            </a:r>
          </a:p>
        </p:txBody>
      </p:sp>
      <p:sp>
        <p:nvSpPr>
          <p:cNvPr id="9" name="TextBox 8">
            <a:extLst>
              <a:ext uri="{FF2B5EF4-FFF2-40B4-BE49-F238E27FC236}">
                <a16:creationId xmlns:a16="http://schemas.microsoft.com/office/drawing/2014/main" id="{2751879E-92EC-4B1E-A2B1-31E798B27643}"/>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5809953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Therapeutic Diets: </a:t>
            </a:r>
            <a:br>
              <a:rPr lang="en-US">
                <a:solidFill>
                  <a:schemeClr val="tx1">
                    <a:lumMod val="85000"/>
                    <a:lumOff val="15000"/>
                  </a:schemeClr>
                </a:solidFill>
              </a:rPr>
            </a:br>
            <a:r>
              <a:rPr lang="en-US">
                <a:solidFill>
                  <a:schemeClr val="tx1">
                    <a:lumMod val="85000"/>
                    <a:lumOff val="15000"/>
                  </a:schemeClr>
                </a:solidFill>
              </a:rPr>
              <a:t>Altered Consistency</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864108"/>
            <a:ext cx="4608275" cy="5120640"/>
          </a:xfrm>
        </p:spPr>
        <p:txBody>
          <a:bodyPr>
            <a:normAutofit/>
          </a:bodyPr>
          <a:lstStyle/>
          <a:p>
            <a:r>
              <a:rPr lang="en-US" b="1" u="sng"/>
              <a:t>Pureed Diet</a:t>
            </a:r>
          </a:p>
          <a:p>
            <a:r>
              <a:rPr lang="en-US"/>
              <a:t>For clients who are unable to chew or swallow</a:t>
            </a:r>
          </a:p>
          <a:p>
            <a:r>
              <a:rPr lang="en-US"/>
              <a:t>It can be used as a long-term diet</a:t>
            </a:r>
          </a:p>
          <a:p>
            <a:r>
              <a:rPr lang="en-US"/>
              <a:t>Seasoning depends on individual client preferences</a:t>
            </a:r>
          </a:p>
          <a:p>
            <a:r>
              <a:rPr lang="en-US"/>
              <a:t>Typically, no raw eggs, nuts, whole breads, raw fruits or vegetables</a:t>
            </a:r>
          </a:p>
          <a:p>
            <a:r>
              <a:rPr lang="en-US"/>
              <a:t>No foods containing seeds</a:t>
            </a:r>
          </a:p>
          <a:p>
            <a:endParaRPr lang="en-US"/>
          </a:p>
          <a:p>
            <a:pPr>
              <a:buNone/>
            </a:pPr>
            <a:r>
              <a:rPr lang="en-US"/>
              <a:t>* Do not alter food any more than necessary</a:t>
            </a:r>
          </a:p>
        </p:txBody>
      </p:sp>
      <p:sp>
        <p:nvSpPr>
          <p:cNvPr id="7" name="TextBox 6">
            <a:extLst>
              <a:ext uri="{FF2B5EF4-FFF2-40B4-BE49-F238E27FC236}">
                <a16:creationId xmlns:a16="http://schemas.microsoft.com/office/drawing/2014/main" id="{1995772E-B6DA-4AA5-BD67-7A292CEF14EB}"/>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504237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Therapeutic Diets: Altered Consistency</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111809"/>
            <a:ext cx="5620208" cy="5872939"/>
          </a:xfrm>
        </p:spPr>
        <p:txBody>
          <a:bodyPr>
            <a:noAutofit/>
          </a:bodyPr>
          <a:lstStyle/>
          <a:p>
            <a:r>
              <a:rPr lang="en-US" sz="2000" b="1" u="sng" dirty="0"/>
              <a:t>Dysphagia Diets</a:t>
            </a:r>
          </a:p>
          <a:p>
            <a:r>
              <a:rPr lang="en-US" sz="2000" dirty="0"/>
              <a:t>For clients at risk for aspiration</a:t>
            </a:r>
          </a:p>
          <a:p>
            <a:pPr lvl="1"/>
            <a:r>
              <a:rPr lang="en-US" sz="2000" dirty="0"/>
              <a:t>Dysphagia Level 1-Pureed</a:t>
            </a:r>
          </a:p>
          <a:p>
            <a:pPr lvl="1"/>
            <a:r>
              <a:rPr lang="en-US" sz="2000" dirty="0"/>
              <a:t>Dysphagia Level 2- Mechanical Soft</a:t>
            </a:r>
          </a:p>
          <a:p>
            <a:pPr lvl="5"/>
            <a:r>
              <a:rPr lang="en-US" sz="2000" dirty="0"/>
              <a:t>Ground, minced meat</a:t>
            </a:r>
          </a:p>
          <a:p>
            <a:pPr lvl="5"/>
            <a:r>
              <a:rPr lang="en-US" sz="2000" dirty="0"/>
              <a:t>Fork-</a:t>
            </a:r>
            <a:r>
              <a:rPr lang="en-US" sz="2000" dirty="0" err="1"/>
              <a:t>mashable</a:t>
            </a:r>
            <a:r>
              <a:rPr lang="en-US" sz="2000" dirty="0"/>
              <a:t> foods, fruits &amp; Vegetables</a:t>
            </a:r>
          </a:p>
          <a:p>
            <a:pPr lvl="1"/>
            <a:r>
              <a:rPr lang="en-US" sz="2000" dirty="0"/>
              <a:t>Dysphagia Level 3-Advanced (soft-solid)</a:t>
            </a:r>
          </a:p>
          <a:p>
            <a:pPr lvl="5"/>
            <a:r>
              <a:rPr lang="en-US" sz="2000" dirty="0"/>
              <a:t>Easy-to-cut meats, fruits, vegetables</a:t>
            </a:r>
          </a:p>
          <a:p>
            <a:pPr lvl="5"/>
            <a:r>
              <a:rPr lang="en-US" sz="2000" dirty="0"/>
              <a:t>No sticky foods, Crunchy vegetables or very dry foods</a:t>
            </a:r>
          </a:p>
          <a:p>
            <a:pPr lvl="1"/>
            <a:r>
              <a:rPr lang="en-US" sz="2000" dirty="0"/>
              <a:t>Dysphagia Level 4- Regular Textures</a:t>
            </a:r>
          </a:p>
          <a:p>
            <a:pPr lvl="1"/>
            <a:endParaRPr lang="en-US" sz="2000" dirty="0"/>
          </a:p>
          <a:p>
            <a:pPr lvl="1">
              <a:buNone/>
            </a:pPr>
            <a:r>
              <a:rPr lang="en-US" sz="2000" dirty="0"/>
              <a:t>*Clients with dysphagia should be positioned </a:t>
            </a:r>
            <a:r>
              <a:rPr lang="en-US" sz="2000" u="sng" dirty="0"/>
              <a:t>at least</a:t>
            </a:r>
            <a:r>
              <a:rPr lang="en-US" sz="2000" dirty="0"/>
              <a:t> 30-35 degrees for meals and should be closely monitored.</a:t>
            </a:r>
          </a:p>
        </p:txBody>
      </p:sp>
      <p:sp>
        <p:nvSpPr>
          <p:cNvPr id="7" name="TextBox 6">
            <a:extLst>
              <a:ext uri="{FF2B5EF4-FFF2-40B4-BE49-F238E27FC236}">
                <a16:creationId xmlns:a16="http://schemas.microsoft.com/office/drawing/2014/main" id="{3BF9AA5C-4F57-4A14-B618-1BE4873E993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8000536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69721" y="299575"/>
            <a:ext cx="7886700" cy="1325563"/>
          </a:xfrm>
        </p:spPr>
        <p:txBody>
          <a:bodyPr>
            <a:normAutofit/>
          </a:bodyPr>
          <a:lstStyle/>
          <a:p>
            <a:r>
              <a:rPr lang="en-US" dirty="0">
                <a:solidFill>
                  <a:schemeClr val="tx1"/>
                </a:solidFill>
              </a:rPr>
              <a:t>Dysphagia &amp; Thickened Liquids</a:t>
            </a:r>
          </a:p>
        </p:txBody>
      </p:sp>
      <p:sp>
        <p:nvSpPr>
          <p:cNvPr id="2" name="Content Placeholder 1"/>
          <p:cNvSpPr>
            <a:spLocks noGrp="1"/>
          </p:cNvSpPr>
          <p:nvPr>
            <p:ph idx="1"/>
          </p:nvPr>
        </p:nvSpPr>
        <p:spPr>
          <a:xfrm>
            <a:off x="2628901" y="364671"/>
            <a:ext cx="5872843" cy="4805363"/>
          </a:xfrm>
        </p:spPr>
        <p:txBody>
          <a:bodyPr>
            <a:normAutofit/>
          </a:bodyPr>
          <a:lstStyle/>
          <a:p>
            <a:r>
              <a:rPr lang="en-US" sz="2800" dirty="0"/>
              <a:t>Patients with Dysphagia are at risk for aspiration.</a:t>
            </a:r>
          </a:p>
          <a:p>
            <a:r>
              <a:rPr lang="en-US" sz="2800" dirty="0"/>
              <a:t>Thickened liquids are provided for the management of dysphagia</a:t>
            </a:r>
          </a:p>
          <a:p>
            <a:r>
              <a:rPr lang="en-US" sz="2800" dirty="0"/>
              <a:t>Thin liquid consistencies can be aspirated into the airway.</a:t>
            </a:r>
          </a:p>
          <a:p>
            <a:endParaRPr lang="en-US" sz="2800" dirty="0"/>
          </a:p>
        </p:txBody>
      </p:sp>
      <p:graphicFrame>
        <p:nvGraphicFramePr>
          <p:cNvPr id="4" name="Content Placeholder 4"/>
          <p:cNvGraphicFramePr>
            <a:graphicFrameLocks/>
          </p:cNvGraphicFramePr>
          <p:nvPr>
            <p:extLst>
              <p:ext uri="{D42A27DB-BD31-4B8C-83A1-F6EECF244321}">
                <p14:modId xmlns:p14="http://schemas.microsoft.com/office/powerpoint/2010/main" val="2537876598"/>
              </p:ext>
            </p:extLst>
          </p:nvPr>
        </p:nvGraphicFramePr>
        <p:xfrm>
          <a:off x="2027464" y="3369128"/>
          <a:ext cx="7086600" cy="3492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D7CB5A4-0126-4E24-80AC-8CD2A9FC17A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3064146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ee the source image">
            <a:extLst>
              <a:ext uri="{FF2B5EF4-FFF2-40B4-BE49-F238E27FC236}">
                <a16:creationId xmlns:a16="http://schemas.microsoft.com/office/drawing/2014/main" id="{089C8B83-24B7-4ABF-83DF-EE53D1E0A7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975"/>
          <a:stretch/>
        </p:blipFill>
        <p:spPr bwMode="auto">
          <a:xfrm>
            <a:off x="457200" y="381001"/>
            <a:ext cx="83058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60382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Therapeutic Diets: </a:t>
            </a:r>
            <a:br>
              <a:rPr lang="en-US">
                <a:solidFill>
                  <a:schemeClr val="tx1">
                    <a:lumMod val="85000"/>
                    <a:lumOff val="15000"/>
                  </a:schemeClr>
                </a:solidFill>
              </a:rPr>
            </a:br>
            <a:r>
              <a:rPr lang="en-US">
                <a:solidFill>
                  <a:schemeClr val="tx1">
                    <a:lumMod val="85000"/>
                    <a:lumOff val="15000"/>
                  </a:schemeClr>
                </a:solidFill>
              </a:rPr>
              <a:t>Altered Consistency</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647143"/>
            <a:ext cx="4608275" cy="5337605"/>
          </a:xfrm>
        </p:spPr>
        <p:txBody>
          <a:bodyPr>
            <a:normAutofit lnSpcReduction="10000"/>
          </a:bodyPr>
          <a:lstStyle/>
          <a:p>
            <a:r>
              <a:rPr lang="en-US" sz="2400" b="1" u="sng" dirty="0"/>
              <a:t>Soft Diet (Bland Diet)</a:t>
            </a:r>
          </a:p>
          <a:p>
            <a:r>
              <a:rPr lang="en-US" sz="2000" dirty="0"/>
              <a:t>A modification of the Regular diet</a:t>
            </a:r>
          </a:p>
          <a:p>
            <a:pPr>
              <a:buNone/>
            </a:pPr>
            <a:r>
              <a:rPr lang="en-US" sz="2000" dirty="0"/>
              <a:t>	“Soft” easy to digest  foods that contain small amounts of seasoning</a:t>
            </a:r>
          </a:p>
          <a:p>
            <a:pPr>
              <a:buNone/>
            </a:pPr>
            <a:r>
              <a:rPr lang="en-US" sz="2000" dirty="0"/>
              <a:t>	Easy to chew, digest and absorb</a:t>
            </a:r>
          </a:p>
          <a:p>
            <a:pPr>
              <a:buNone/>
            </a:pPr>
            <a:r>
              <a:rPr lang="en-US" sz="2000" dirty="0"/>
              <a:t>	Moderate fiber content</a:t>
            </a:r>
          </a:p>
          <a:p>
            <a:r>
              <a:rPr lang="en-US" sz="2000" dirty="0"/>
              <a:t>Avoid: </a:t>
            </a:r>
          </a:p>
          <a:p>
            <a:pPr lvl="2"/>
            <a:r>
              <a:rPr lang="en-US" sz="2000" dirty="0">
                <a:latin typeface="+mj-lt"/>
              </a:rPr>
              <a:t>highly seasoned, fried, high fiber or any foods that may cause GI upset. </a:t>
            </a:r>
          </a:p>
          <a:p>
            <a:pPr lvl="2"/>
            <a:r>
              <a:rPr lang="en-US" sz="2000" dirty="0">
                <a:latin typeface="+mj-lt"/>
              </a:rPr>
              <a:t>Flatus causing foods</a:t>
            </a:r>
          </a:p>
          <a:p>
            <a:pPr lvl="2"/>
            <a:r>
              <a:rPr lang="en-US" sz="2000" dirty="0">
                <a:latin typeface="+mj-lt"/>
              </a:rPr>
              <a:t>No bran or unrefined grains</a:t>
            </a:r>
          </a:p>
          <a:p>
            <a:pPr lvl="2"/>
            <a:r>
              <a:rPr lang="en-US" sz="2000" dirty="0">
                <a:latin typeface="+mj-lt"/>
              </a:rPr>
              <a:t>No seeds, nuts, fresh fruit, coconut</a:t>
            </a:r>
          </a:p>
          <a:p>
            <a:pPr lvl="2"/>
            <a:r>
              <a:rPr lang="en-US" sz="2000" dirty="0">
                <a:latin typeface="+mj-lt"/>
              </a:rPr>
              <a:t>No spiced lunch meat</a:t>
            </a:r>
          </a:p>
          <a:p>
            <a:pPr>
              <a:buNone/>
            </a:pPr>
            <a:endParaRPr lang="en-US" dirty="0"/>
          </a:p>
        </p:txBody>
      </p:sp>
      <p:sp>
        <p:nvSpPr>
          <p:cNvPr id="7" name="TextBox 6">
            <a:extLst>
              <a:ext uri="{FF2B5EF4-FFF2-40B4-BE49-F238E27FC236}">
                <a16:creationId xmlns:a16="http://schemas.microsoft.com/office/drawing/2014/main" id="{D84C5DFD-5B0F-4DA1-AF72-47571DDDA54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9897749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1746" name="Rectangle 2"/>
          <p:cNvSpPr>
            <a:spLocks noGrp="1" noChangeArrowheads="1"/>
          </p:cNvSpPr>
          <p:nvPr>
            <p:ph type="title"/>
          </p:nvPr>
        </p:nvSpPr>
        <p:spPr>
          <a:xfrm>
            <a:off x="1200565" y="1087374"/>
            <a:ext cx="6737617" cy="1000978"/>
          </a:xfrm>
        </p:spPr>
        <p:txBody>
          <a:bodyPr>
            <a:normAutofit/>
          </a:bodyPr>
          <a:lstStyle/>
          <a:p>
            <a:pPr eaLnBrk="1" hangingPunct="1"/>
            <a:r>
              <a:rPr lang="en-US" dirty="0"/>
              <a:t>Soft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1747" name="Rectangle 3"/>
          <p:cNvSpPr>
            <a:spLocks noGrp="1" noChangeArrowheads="1"/>
          </p:cNvSpPr>
          <p:nvPr>
            <p:ph idx="1"/>
          </p:nvPr>
        </p:nvSpPr>
        <p:spPr>
          <a:xfrm>
            <a:off x="1200564" y="2535446"/>
            <a:ext cx="6737617" cy="3554457"/>
          </a:xfrm>
        </p:spPr>
        <p:txBody>
          <a:bodyPr>
            <a:noAutofit/>
          </a:bodyPr>
          <a:lstStyle/>
          <a:p>
            <a:r>
              <a:rPr lang="en-US" sz="1800" dirty="0">
                <a:solidFill>
                  <a:schemeClr val="tx1"/>
                </a:solidFill>
                <a:latin typeface="+mj-lt"/>
              </a:rPr>
              <a:t>Used for digestive problems</a:t>
            </a:r>
          </a:p>
          <a:p>
            <a:r>
              <a:rPr lang="en-US" sz="1800" dirty="0">
                <a:solidFill>
                  <a:schemeClr val="tx1"/>
                </a:solidFill>
                <a:latin typeface="+mj-lt"/>
              </a:rPr>
              <a:t>Purpose:</a:t>
            </a:r>
          </a:p>
          <a:p>
            <a:pPr lvl="1"/>
            <a:r>
              <a:rPr lang="en-US" sz="1800" dirty="0">
                <a:solidFill>
                  <a:schemeClr val="tx1"/>
                </a:solidFill>
                <a:latin typeface="+mj-lt"/>
              </a:rPr>
              <a:t>Provide transition food between liquid &amp; regular diet</a:t>
            </a:r>
          </a:p>
          <a:p>
            <a:pPr lvl="1"/>
            <a:r>
              <a:rPr lang="en-US" sz="1800" dirty="0">
                <a:solidFill>
                  <a:schemeClr val="tx1"/>
                </a:solidFill>
                <a:latin typeface="+mj-lt"/>
              </a:rPr>
              <a:t>All nutrients provided</a:t>
            </a:r>
          </a:p>
          <a:p>
            <a:pPr eaLnBrk="1" hangingPunct="1"/>
            <a:endParaRPr lang="en-US" sz="1800" dirty="0">
              <a:solidFill>
                <a:schemeClr val="tx1"/>
              </a:solidFill>
              <a:latin typeface="+mj-lt"/>
            </a:endParaRPr>
          </a:p>
          <a:p>
            <a:r>
              <a:rPr lang="en-US" sz="1800" dirty="0">
                <a:solidFill>
                  <a:schemeClr val="tx1"/>
                </a:solidFill>
                <a:latin typeface="+mj-lt"/>
              </a:rPr>
              <a:t>What’s for dinner?  (fork-mash able foods)</a:t>
            </a:r>
          </a:p>
          <a:p>
            <a:pPr lvl="1" eaLnBrk="1" hangingPunct="1"/>
            <a:r>
              <a:rPr lang="en-US" sz="1800" dirty="0">
                <a:solidFill>
                  <a:schemeClr val="tx1"/>
                </a:solidFill>
                <a:latin typeface="+mj-lt"/>
              </a:rPr>
              <a:t>Macaroni</a:t>
            </a:r>
          </a:p>
          <a:p>
            <a:pPr lvl="1" eaLnBrk="1" hangingPunct="1"/>
            <a:r>
              <a:rPr lang="en-US" sz="1800" dirty="0">
                <a:solidFill>
                  <a:schemeClr val="tx1"/>
                </a:solidFill>
                <a:latin typeface="+mj-lt"/>
              </a:rPr>
              <a:t>Soft chicken, turkey, fish fillet</a:t>
            </a:r>
          </a:p>
          <a:p>
            <a:pPr lvl="1" eaLnBrk="1" hangingPunct="1"/>
            <a:r>
              <a:rPr lang="en-US" sz="1800" dirty="0">
                <a:solidFill>
                  <a:schemeClr val="tx1"/>
                </a:solidFill>
                <a:latin typeface="+mj-lt"/>
              </a:rPr>
              <a:t>Mashed potatoes</a:t>
            </a:r>
          </a:p>
          <a:p>
            <a:pPr lvl="1" eaLnBrk="1" hangingPunct="1"/>
            <a:r>
              <a:rPr lang="en-US" sz="1800" dirty="0">
                <a:solidFill>
                  <a:schemeClr val="tx1"/>
                </a:solidFill>
                <a:latin typeface="+mj-lt"/>
              </a:rPr>
              <a:t>Jell-O, custard pie, angel food cake</a:t>
            </a:r>
          </a:p>
          <a:p>
            <a:pPr lvl="1" eaLnBrk="1" hangingPunct="1"/>
            <a:r>
              <a:rPr lang="en-US" sz="1800" dirty="0">
                <a:solidFill>
                  <a:schemeClr val="tx1"/>
                </a:solidFill>
                <a:latin typeface="+mj-lt"/>
              </a:rPr>
              <a:t>Applesauce, ice cream, pudding</a:t>
            </a:r>
          </a:p>
        </p:txBody>
      </p:sp>
      <p:sp>
        <p:nvSpPr>
          <p:cNvPr id="9" name="TextBox 8">
            <a:extLst>
              <a:ext uri="{FF2B5EF4-FFF2-40B4-BE49-F238E27FC236}">
                <a16:creationId xmlns:a16="http://schemas.microsoft.com/office/drawing/2014/main" id="{1F7C0583-A1E8-4A33-962B-48593A2FD538}"/>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1933378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82600" y="1123837"/>
            <a:ext cx="2305435" cy="4601183"/>
          </a:xfrm>
        </p:spPr>
        <p:txBody>
          <a:bodyPr>
            <a:normAutofit/>
          </a:bodyPr>
          <a:lstStyle/>
          <a:p>
            <a:pPr algn="r"/>
            <a:r>
              <a:rPr lang="en-US">
                <a:solidFill>
                  <a:schemeClr val="tx1">
                    <a:lumMod val="85000"/>
                    <a:lumOff val="15000"/>
                  </a:schemeClr>
                </a:solidFill>
              </a:rPr>
              <a:t>Therapeutic Diets: </a:t>
            </a:r>
            <a:br>
              <a:rPr lang="en-US">
                <a:solidFill>
                  <a:schemeClr val="tx1">
                    <a:lumMod val="85000"/>
                    <a:lumOff val="15000"/>
                  </a:schemeClr>
                </a:solidFill>
              </a:rPr>
            </a:br>
            <a:r>
              <a:rPr lang="en-US">
                <a:solidFill>
                  <a:schemeClr val="tx1">
                    <a:lumMod val="85000"/>
                    <a:lumOff val="15000"/>
                  </a:schemeClr>
                </a:solidFill>
              </a:rPr>
              <a:t>Restrictive/ Modified Diets</a:t>
            </a:r>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295185" y="864108"/>
            <a:ext cx="4608275" cy="5120640"/>
          </a:xfrm>
        </p:spPr>
        <p:txBody>
          <a:bodyPr>
            <a:normAutofit/>
          </a:bodyPr>
          <a:lstStyle/>
          <a:p>
            <a:r>
              <a:rPr lang="en-US" sz="2400" b="1" u="sng" dirty="0"/>
              <a:t>Carbohydrate-Controlled Diets</a:t>
            </a:r>
          </a:p>
          <a:p>
            <a:pPr lvl="1"/>
            <a:r>
              <a:rPr lang="en-US" sz="1800" dirty="0"/>
              <a:t>Considered for: </a:t>
            </a:r>
          </a:p>
          <a:p>
            <a:pPr lvl="2"/>
            <a:r>
              <a:rPr lang="en-US" sz="1800" dirty="0"/>
              <a:t>Type I &amp; II diabetics</a:t>
            </a:r>
          </a:p>
          <a:p>
            <a:pPr lvl="2"/>
            <a:r>
              <a:rPr lang="en-US" sz="1800" dirty="0"/>
              <a:t>Gestational Diabetic clients</a:t>
            </a:r>
          </a:p>
          <a:p>
            <a:pPr lvl="2"/>
            <a:r>
              <a:rPr lang="en-US" sz="1800" dirty="0"/>
              <a:t>Hypoglycemia (small frequent meals are needed to normalize blood sugar)</a:t>
            </a:r>
          </a:p>
        </p:txBody>
      </p:sp>
      <p:sp>
        <p:nvSpPr>
          <p:cNvPr id="7" name="TextBox 6">
            <a:extLst>
              <a:ext uri="{FF2B5EF4-FFF2-40B4-BE49-F238E27FC236}">
                <a16:creationId xmlns:a16="http://schemas.microsoft.com/office/drawing/2014/main" id="{E091CBEE-4984-4FD9-ACE7-8FB706E35B9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1880785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0898" name="Rectangle 2"/>
          <p:cNvSpPr>
            <a:spLocks noGrp="1" noChangeArrowheads="1"/>
          </p:cNvSpPr>
          <p:nvPr>
            <p:ph type="title"/>
          </p:nvPr>
        </p:nvSpPr>
        <p:spPr>
          <a:xfrm>
            <a:off x="1200565" y="1087374"/>
            <a:ext cx="6737617" cy="1000978"/>
          </a:xfrm>
        </p:spPr>
        <p:txBody>
          <a:bodyPr>
            <a:normAutofit/>
          </a:bodyPr>
          <a:lstStyle/>
          <a:p>
            <a:pPr eaLnBrk="1" hangingPunct="1"/>
            <a:r>
              <a:rPr lang="en-US" dirty="0"/>
              <a:t>Principles of ADA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0899" name="Rectangle 3"/>
          <p:cNvSpPr>
            <a:spLocks noGrp="1" noChangeArrowheads="1"/>
          </p:cNvSpPr>
          <p:nvPr>
            <p:ph idx="1"/>
          </p:nvPr>
        </p:nvSpPr>
        <p:spPr>
          <a:xfrm>
            <a:off x="1200564" y="2535446"/>
            <a:ext cx="6737617" cy="3554457"/>
          </a:xfrm>
        </p:spPr>
        <p:txBody>
          <a:bodyPr>
            <a:normAutofit/>
          </a:bodyPr>
          <a:lstStyle/>
          <a:p>
            <a:pPr eaLnBrk="1" hangingPunct="1"/>
            <a:r>
              <a:rPr lang="en-US" sz="1600">
                <a:solidFill>
                  <a:schemeClr val="tx1"/>
                </a:solidFill>
                <a:latin typeface="+mj-lt"/>
              </a:rPr>
              <a:t>All foods are placed in 1 of 6 exchange lists</a:t>
            </a:r>
          </a:p>
          <a:p>
            <a:pPr eaLnBrk="1" hangingPunct="1"/>
            <a:r>
              <a:rPr lang="en-US" sz="1600">
                <a:solidFill>
                  <a:schemeClr val="tx1"/>
                </a:solidFill>
                <a:latin typeface="+mj-lt"/>
              </a:rPr>
              <a:t>Assigned a caloric intake</a:t>
            </a:r>
          </a:p>
          <a:p>
            <a:pPr eaLnBrk="1" hangingPunct="1"/>
            <a:r>
              <a:rPr lang="en-US" sz="1600">
                <a:solidFill>
                  <a:schemeClr val="tx1"/>
                </a:solidFill>
                <a:latin typeface="+mj-lt"/>
              </a:rPr>
              <a:t>The client receives a certain kind &amp; number of those exchanges at each meal &amp; planned snacks</a:t>
            </a:r>
          </a:p>
          <a:p>
            <a:pPr eaLnBrk="1" hangingPunct="1"/>
            <a:r>
              <a:rPr lang="en-US" sz="1600">
                <a:solidFill>
                  <a:schemeClr val="tx1"/>
                </a:solidFill>
                <a:latin typeface="+mj-lt"/>
              </a:rPr>
              <a:t>Carbohydrates 50-60% /day of total calories</a:t>
            </a:r>
          </a:p>
          <a:p>
            <a:r>
              <a:rPr lang="en-US" sz="1600">
                <a:solidFill>
                  <a:schemeClr val="tx1"/>
                </a:solidFill>
                <a:latin typeface="+mj-lt"/>
              </a:rPr>
              <a:t>Proteins 10-  20%</a:t>
            </a:r>
            <a:r>
              <a:rPr lang="en-US" sz="1600">
                <a:solidFill>
                  <a:schemeClr val="tx1"/>
                </a:solidFill>
              </a:rPr>
              <a:t> /day of total calories</a:t>
            </a:r>
            <a:endParaRPr lang="en-US" sz="1600">
              <a:solidFill>
                <a:schemeClr val="tx1"/>
              </a:solidFill>
              <a:latin typeface="+mj-lt"/>
            </a:endParaRPr>
          </a:p>
          <a:p>
            <a:pPr eaLnBrk="1" hangingPunct="1"/>
            <a:r>
              <a:rPr lang="en-US" sz="1600">
                <a:solidFill>
                  <a:schemeClr val="tx1"/>
                </a:solidFill>
                <a:latin typeface="+mj-lt"/>
              </a:rPr>
              <a:t>Fats- Lipid source of less than 30%</a:t>
            </a:r>
          </a:p>
          <a:p>
            <a:pPr eaLnBrk="1" hangingPunct="1"/>
            <a:r>
              <a:rPr lang="en-US" sz="1600">
                <a:solidFill>
                  <a:schemeClr val="tx1"/>
                </a:solidFill>
                <a:latin typeface="+mj-lt"/>
              </a:rPr>
              <a:t>Recommended fiber intake 20-35 grams/day</a:t>
            </a:r>
          </a:p>
          <a:p>
            <a:pPr eaLnBrk="1" hangingPunct="1"/>
            <a:r>
              <a:rPr lang="en-US" sz="1600">
                <a:solidFill>
                  <a:schemeClr val="tx1"/>
                </a:solidFill>
                <a:latin typeface="+mj-lt"/>
              </a:rPr>
              <a:t>Limit processed foods &amp; concentrated sweets!</a:t>
            </a:r>
          </a:p>
          <a:p>
            <a:pPr eaLnBrk="1" hangingPunct="1"/>
            <a:r>
              <a:rPr lang="en-US" sz="1600">
                <a:solidFill>
                  <a:schemeClr val="tx1"/>
                </a:solidFill>
                <a:latin typeface="+mj-lt"/>
              </a:rPr>
              <a:t>Diet must be individualized.</a:t>
            </a:r>
          </a:p>
        </p:txBody>
      </p:sp>
      <p:sp>
        <p:nvSpPr>
          <p:cNvPr id="9" name="TextBox 8">
            <a:extLst>
              <a:ext uri="{FF2B5EF4-FFF2-40B4-BE49-F238E27FC236}">
                <a16:creationId xmlns:a16="http://schemas.microsoft.com/office/drawing/2014/main" id="{EC78E903-57F1-4EFE-A7A0-434F37A63DD7}"/>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9951635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9938" name="Rectangle 2"/>
          <p:cNvSpPr>
            <a:spLocks noGrp="1" noChangeArrowheads="1"/>
          </p:cNvSpPr>
          <p:nvPr>
            <p:ph type="title"/>
          </p:nvPr>
        </p:nvSpPr>
        <p:spPr>
          <a:xfrm>
            <a:off x="1200565" y="1087374"/>
            <a:ext cx="6737617" cy="1000978"/>
          </a:xfrm>
        </p:spPr>
        <p:txBody>
          <a:bodyPr>
            <a:normAutofit/>
          </a:bodyPr>
          <a:lstStyle/>
          <a:p>
            <a:pPr eaLnBrk="1" hangingPunct="1"/>
            <a:r>
              <a:rPr lang="en-US" dirty="0"/>
              <a:t>Principles of the ADA Diet</a:t>
            </a:r>
          </a:p>
        </p:txBody>
      </p:sp>
      <p:sp>
        <p:nvSpPr>
          <p:cNvPr id="76" name="Rectangle 75">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Rectangle 77">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 name="Rectangle 79">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9939" name="Rectangle 3"/>
          <p:cNvSpPr>
            <a:spLocks noGrp="1" noChangeArrowheads="1"/>
          </p:cNvSpPr>
          <p:nvPr>
            <p:ph idx="1"/>
          </p:nvPr>
        </p:nvSpPr>
        <p:spPr>
          <a:xfrm>
            <a:off x="1200564" y="2535446"/>
            <a:ext cx="6737617" cy="3554457"/>
          </a:xfrm>
        </p:spPr>
        <p:txBody>
          <a:bodyPr>
            <a:normAutofit/>
          </a:bodyPr>
          <a:lstStyle/>
          <a:p>
            <a:r>
              <a:rPr lang="en-US" dirty="0">
                <a:solidFill>
                  <a:schemeClr val="tx1"/>
                </a:solidFill>
                <a:latin typeface="+mj-lt"/>
              </a:rPr>
              <a:t>Exchange lists are foods in the list are assigned because they are similar in their protein, carb, fat, and calories.</a:t>
            </a:r>
          </a:p>
          <a:p>
            <a:pPr lvl="1" eaLnBrk="1" hangingPunct="1"/>
            <a:r>
              <a:rPr lang="en-US" dirty="0">
                <a:solidFill>
                  <a:schemeClr val="tx1"/>
                </a:solidFill>
                <a:latin typeface="+mj-lt"/>
              </a:rPr>
              <a:t>Milk</a:t>
            </a:r>
          </a:p>
          <a:p>
            <a:pPr lvl="1" eaLnBrk="1" hangingPunct="1"/>
            <a:r>
              <a:rPr lang="en-US" dirty="0">
                <a:solidFill>
                  <a:schemeClr val="tx1"/>
                </a:solidFill>
                <a:latin typeface="+mj-lt"/>
              </a:rPr>
              <a:t>Bread</a:t>
            </a:r>
          </a:p>
          <a:p>
            <a:pPr lvl="1" eaLnBrk="1" hangingPunct="1"/>
            <a:r>
              <a:rPr lang="en-US" dirty="0">
                <a:solidFill>
                  <a:schemeClr val="tx1"/>
                </a:solidFill>
                <a:latin typeface="+mj-lt"/>
              </a:rPr>
              <a:t>Meat</a:t>
            </a:r>
          </a:p>
          <a:p>
            <a:pPr lvl="1" eaLnBrk="1" hangingPunct="1"/>
            <a:r>
              <a:rPr lang="en-US" dirty="0">
                <a:solidFill>
                  <a:schemeClr val="tx1"/>
                </a:solidFill>
                <a:latin typeface="+mj-lt"/>
              </a:rPr>
              <a:t>Fruit</a:t>
            </a:r>
          </a:p>
          <a:p>
            <a:pPr lvl="1" eaLnBrk="1" hangingPunct="1"/>
            <a:r>
              <a:rPr lang="en-US" dirty="0">
                <a:solidFill>
                  <a:schemeClr val="tx1"/>
                </a:solidFill>
                <a:latin typeface="+mj-lt"/>
              </a:rPr>
              <a:t>Vegetable</a:t>
            </a:r>
          </a:p>
          <a:p>
            <a:pPr lvl="1" eaLnBrk="1" hangingPunct="1"/>
            <a:r>
              <a:rPr lang="en-US" dirty="0">
                <a:solidFill>
                  <a:schemeClr val="tx1"/>
                </a:solidFill>
                <a:latin typeface="+mj-lt"/>
              </a:rPr>
              <a:t>Fats</a:t>
            </a:r>
          </a:p>
        </p:txBody>
      </p:sp>
      <p:sp>
        <p:nvSpPr>
          <p:cNvPr id="9" name="TextBox 8">
            <a:extLst>
              <a:ext uri="{FF2B5EF4-FFF2-40B4-BE49-F238E27FC236}">
                <a16:creationId xmlns:a16="http://schemas.microsoft.com/office/drawing/2014/main" id="{7146E978-CB07-46C2-9D61-59F62E16DBA2}"/>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42364168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7" name="Title 2">
            <a:extLst>
              <a:ext uri="{FF2B5EF4-FFF2-40B4-BE49-F238E27FC236}">
                <a16:creationId xmlns:a16="http://schemas.microsoft.com/office/drawing/2014/main" id="{F17A70F9-E6FC-4ADE-BE47-12C22A7C4CFC}"/>
              </a:ext>
            </a:extLst>
          </p:cNvPr>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Therapeutic Diets: </a:t>
            </a:r>
            <a:br>
              <a:rPr lang="en-US">
                <a:solidFill>
                  <a:schemeClr val="tx1">
                    <a:lumMod val="85000"/>
                    <a:lumOff val="15000"/>
                  </a:schemeClr>
                </a:solidFill>
              </a:rPr>
            </a:br>
            <a:r>
              <a:rPr lang="en-US">
                <a:solidFill>
                  <a:schemeClr val="tx1">
                    <a:lumMod val="85000"/>
                    <a:lumOff val="15000"/>
                  </a:schemeClr>
                </a:solidFill>
              </a:rPr>
              <a:t>Restrictive/ Modified Diets</a:t>
            </a:r>
          </a:p>
        </p:txBody>
      </p:sp>
      <p:sp>
        <p:nvSpPr>
          <p:cNvPr id="14" name="Rectangle 1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6" name="Straight Connector 1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441A27-4909-4928-BDC0-17654CA1379D}"/>
              </a:ext>
            </a:extLst>
          </p:cNvPr>
          <p:cNvSpPr>
            <a:spLocks noGrp="1"/>
          </p:cNvSpPr>
          <p:nvPr>
            <p:ph idx="1"/>
          </p:nvPr>
        </p:nvSpPr>
        <p:spPr>
          <a:xfrm>
            <a:off x="3966921" y="864108"/>
            <a:ext cx="4433008" cy="5120640"/>
          </a:xfrm>
        </p:spPr>
        <p:txBody>
          <a:bodyPr>
            <a:normAutofit/>
          </a:bodyPr>
          <a:lstStyle/>
          <a:p>
            <a:r>
              <a:rPr lang="en-US" sz="2400" dirty="0">
                <a:ea typeface="+mn-lt"/>
                <a:cs typeface="+mn-lt"/>
              </a:rPr>
              <a:t>Low-Residue Diet</a:t>
            </a:r>
          </a:p>
          <a:p>
            <a:r>
              <a:rPr lang="en-US" dirty="0">
                <a:ea typeface="+mn-lt"/>
                <a:cs typeface="+mn-lt"/>
              </a:rPr>
              <a:t>Food items that minimize elimination pattern/reduce fecal volume</a:t>
            </a:r>
          </a:p>
          <a:p>
            <a:r>
              <a:rPr lang="en-US" dirty="0">
                <a:ea typeface="+mn-lt"/>
                <a:cs typeface="+mn-lt"/>
              </a:rPr>
              <a:t>Avoid high fiber foods, milk &amp; milk product</a:t>
            </a:r>
          </a:p>
          <a:p>
            <a:r>
              <a:rPr lang="en-US" dirty="0">
                <a:ea typeface="+mn-lt"/>
                <a:cs typeface="+mn-lt"/>
              </a:rPr>
              <a:t>Avoid foods that may cause GI upset ex. Dumping syndrome</a:t>
            </a:r>
            <a:endParaRPr lang="en-US" dirty="0"/>
          </a:p>
        </p:txBody>
      </p:sp>
      <p:sp>
        <p:nvSpPr>
          <p:cNvPr id="18" name="Rectangle 1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8E430F7-527C-4EBC-8E68-C263CC239E3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79350967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7" name="Title 2">
            <a:extLst>
              <a:ext uri="{FF2B5EF4-FFF2-40B4-BE49-F238E27FC236}">
                <a16:creationId xmlns:a16="http://schemas.microsoft.com/office/drawing/2014/main" id="{F17A70F9-E6FC-4ADE-BE47-12C22A7C4CFC}"/>
              </a:ext>
            </a:extLst>
          </p:cNvPr>
          <p:cNvSpPr>
            <a:spLocks noGrp="1"/>
          </p:cNvSpPr>
          <p:nvPr>
            <p:ph type="title"/>
          </p:nvPr>
        </p:nvSpPr>
        <p:spPr>
          <a:xfrm>
            <a:off x="1154337" y="864108"/>
            <a:ext cx="2305435" cy="5120639"/>
          </a:xfrm>
        </p:spPr>
        <p:txBody>
          <a:bodyPr>
            <a:normAutofit/>
          </a:bodyPr>
          <a:lstStyle/>
          <a:p>
            <a:pPr algn="r"/>
            <a:r>
              <a:rPr lang="en-US">
                <a:solidFill>
                  <a:schemeClr val="tx1">
                    <a:lumMod val="85000"/>
                    <a:lumOff val="15000"/>
                  </a:schemeClr>
                </a:solidFill>
              </a:rPr>
              <a:t>Therapeutic Diets: </a:t>
            </a:r>
            <a:br>
              <a:rPr lang="en-US">
                <a:solidFill>
                  <a:schemeClr val="tx1">
                    <a:lumMod val="85000"/>
                    <a:lumOff val="15000"/>
                  </a:schemeClr>
                </a:solidFill>
              </a:rPr>
            </a:br>
            <a:r>
              <a:rPr lang="en-US">
                <a:solidFill>
                  <a:schemeClr val="tx1">
                    <a:lumMod val="85000"/>
                    <a:lumOff val="15000"/>
                  </a:schemeClr>
                </a:solidFill>
              </a:rPr>
              <a:t>Restrictive/ Modified Diets</a:t>
            </a:r>
          </a:p>
        </p:txBody>
      </p:sp>
      <p:sp>
        <p:nvSpPr>
          <p:cNvPr id="14" name="Rectangle 1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6" name="Straight Connector 1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441A27-4909-4928-BDC0-17654CA1379D}"/>
              </a:ext>
            </a:extLst>
          </p:cNvPr>
          <p:cNvSpPr>
            <a:spLocks noGrp="1"/>
          </p:cNvSpPr>
          <p:nvPr>
            <p:ph idx="1"/>
          </p:nvPr>
        </p:nvSpPr>
        <p:spPr>
          <a:xfrm>
            <a:off x="3966921" y="864108"/>
            <a:ext cx="4433008" cy="5120640"/>
          </a:xfrm>
        </p:spPr>
        <p:txBody>
          <a:bodyPr>
            <a:normAutofit/>
          </a:bodyPr>
          <a:lstStyle/>
          <a:p>
            <a:r>
              <a:rPr lang="en-US" sz="2400" dirty="0">
                <a:ea typeface="+mn-lt"/>
                <a:cs typeface="+mn-lt"/>
              </a:rPr>
              <a:t>Gastric Bypass Diet</a:t>
            </a:r>
          </a:p>
          <a:p>
            <a:r>
              <a:rPr lang="en-US" dirty="0">
                <a:ea typeface="+mn-lt"/>
                <a:cs typeface="+mn-lt"/>
              </a:rPr>
              <a:t>Small frequent meals</a:t>
            </a:r>
          </a:p>
          <a:p>
            <a:r>
              <a:rPr lang="en-US" dirty="0">
                <a:ea typeface="+mn-lt"/>
                <a:cs typeface="+mn-lt"/>
              </a:rPr>
              <a:t>Nutrient-dense meals</a:t>
            </a:r>
          </a:p>
          <a:p>
            <a:r>
              <a:rPr lang="en-US" dirty="0">
                <a:ea typeface="+mn-lt"/>
                <a:cs typeface="+mn-lt"/>
              </a:rPr>
              <a:t>May need multi-vitamin supplements</a:t>
            </a:r>
          </a:p>
          <a:p>
            <a:r>
              <a:rPr lang="en-US" dirty="0">
                <a:ea typeface="+mn-lt"/>
                <a:cs typeface="+mn-lt"/>
              </a:rPr>
              <a:t>Low fat/ High protein</a:t>
            </a:r>
          </a:p>
          <a:p>
            <a:r>
              <a:rPr lang="en-US" dirty="0">
                <a:ea typeface="+mn-lt"/>
                <a:cs typeface="+mn-lt"/>
              </a:rPr>
              <a:t>Avoid carbonated drinks, simple CHOs, high residue foods</a:t>
            </a:r>
            <a:endParaRPr lang="en-US" dirty="0"/>
          </a:p>
        </p:txBody>
      </p:sp>
      <p:sp>
        <p:nvSpPr>
          <p:cNvPr id="18" name="Rectangle 1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F50D1D0-7D73-45F5-9D5D-61BEFEF9094C}"/>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3062411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93189" name="Rectangle 71">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3190" name="Rectangle 73">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3186" name="Rectangle 2"/>
          <p:cNvSpPr>
            <a:spLocks noGrp="1" noChangeArrowheads="1"/>
          </p:cNvSpPr>
          <p:nvPr>
            <p:ph type="title"/>
          </p:nvPr>
        </p:nvSpPr>
        <p:spPr>
          <a:xfrm>
            <a:off x="482600" y="1123837"/>
            <a:ext cx="2305435" cy="4601183"/>
          </a:xfrm>
        </p:spPr>
        <p:txBody>
          <a:bodyPr>
            <a:normAutofit/>
          </a:bodyPr>
          <a:lstStyle/>
          <a:p>
            <a:pPr algn="r"/>
            <a:r>
              <a:rPr lang="en-US" u="sng">
                <a:solidFill>
                  <a:schemeClr val="tx1">
                    <a:lumMod val="85000"/>
                    <a:lumOff val="15000"/>
                  </a:schemeClr>
                </a:solidFill>
              </a:rPr>
              <a:t>Sodium-Controlled Diets</a:t>
            </a:r>
            <a:endParaRPr lang="en-US">
              <a:solidFill>
                <a:schemeClr val="tx1">
                  <a:lumMod val="85000"/>
                  <a:lumOff val="15000"/>
                </a:schemeClr>
              </a:solidFill>
              <a:latin typeface="Comic Sans MS" pitchFamily="66" charset="0"/>
            </a:endParaRPr>
          </a:p>
        </p:txBody>
      </p:sp>
      <p:cxnSp>
        <p:nvCxnSpPr>
          <p:cNvPr id="93191"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3187" name="Rectangle 3"/>
          <p:cNvSpPr>
            <a:spLocks noGrp="1" noChangeArrowheads="1"/>
          </p:cNvSpPr>
          <p:nvPr>
            <p:ph idx="1"/>
          </p:nvPr>
        </p:nvSpPr>
        <p:spPr>
          <a:xfrm>
            <a:off x="3295185" y="864108"/>
            <a:ext cx="4608275" cy="5120640"/>
          </a:xfrm>
        </p:spPr>
        <p:txBody>
          <a:bodyPr>
            <a:normAutofit/>
          </a:bodyPr>
          <a:lstStyle/>
          <a:p>
            <a:pPr eaLnBrk="1" hangingPunct="1"/>
            <a:r>
              <a:rPr lang="en-US">
                <a:latin typeface="+mj-lt"/>
              </a:rPr>
              <a:t>Purpose:</a:t>
            </a:r>
          </a:p>
          <a:p>
            <a:pPr lvl="1" eaLnBrk="1" hangingPunct="1"/>
            <a:r>
              <a:rPr lang="en-US">
                <a:latin typeface="+mj-lt"/>
              </a:rPr>
              <a:t>Diet restricted in sodium but contains essentials of good nutrition</a:t>
            </a:r>
          </a:p>
          <a:p>
            <a:pPr lvl="1" eaLnBrk="1" hangingPunct="1"/>
            <a:r>
              <a:rPr lang="en-US">
                <a:latin typeface="+mj-lt"/>
              </a:rPr>
              <a:t>Hypertension </a:t>
            </a:r>
          </a:p>
          <a:p>
            <a:pPr lvl="1" eaLnBrk="1" hangingPunct="1"/>
            <a:r>
              <a:rPr lang="en-US">
                <a:latin typeface="+mj-lt"/>
              </a:rPr>
              <a:t>Edema</a:t>
            </a:r>
          </a:p>
          <a:p>
            <a:pPr lvl="1" eaLnBrk="1" hangingPunct="1"/>
            <a:r>
              <a:rPr lang="en-US">
                <a:latin typeface="+mj-lt"/>
              </a:rPr>
              <a:t>Renal disease</a:t>
            </a:r>
          </a:p>
          <a:p>
            <a:pPr lvl="1" eaLnBrk="1" hangingPunct="1"/>
            <a:r>
              <a:rPr lang="en-US">
                <a:latin typeface="+mj-lt"/>
              </a:rPr>
              <a:t>Liver disease</a:t>
            </a:r>
          </a:p>
          <a:p>
            <a:pPr lvl="1" eaLnBrk="1" hangingPunct="1"/>
            <a:r>
              <a:rPr lang="en-US">
                <a:latin typeface="+mj-lt"/>
              </a:rPr>
              <a:t>Congestive heart failure</a:t>
            </a:r>
          </a:p>
        </p:txBody>
      </p:sp>
      <p:sp>
        <p:nvSpPr>
          <p:cNvPr id="7" name="TextBox 6">
            <a:extLst>
              <a:ext uri="{FF2B5EF4-FFF2-40B4-BE49-F238E27FC236}">
                <a16:creationId xmlns:a16="http://schemas.microsoft.com/office/drawing/2014/main" id="{A4B6A3D7-1F6A-4A98-B72D-F2FAA8A72804}"/>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722320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74" name="Rectangle 73">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794" name="Rectangle 2"/>
          <p:cNvSpPr>
            <a:spLocks noGrp="1" noChangeArrowheads="1"/>
          </p:cNvSpPr>
          <p:nvPr>
            <p:ph type="title"/>
          </p:nvPr>
        </p:nvSpPr>
        <p:spPr>
          <a:xfrm>
            <a:off x="482600" y="1123837"/>
            <a:ext cx="2305435" cy="4601183"/>
          </a:xfrm>
        </p:spPr>
        <p:txBody>
          <a:bodyPr>
            <a:normAutofit/>
          </a:bodyPr>
          <a:lstStyle/>
          <a:p>
            <a:pPr algn="r"/>
            <a:r>
              <a:rPr lang="en-US" u="sng">
                <a:solidFill>
                  <a:schemeClr val="tx1">
                    <a:lumMod val="85000"/>
                    <a:lumOff val="15000"/>
                  </a:schemeClr>
                </a:solidFill>
              </a:rPr>
              <a:t>High-Fiber Diet</a:t>
            </a:r>
          </a:p>
        </p:txBody>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795" name="Rectangle 3"/>
          <p:cNvSpPr>
            <a:spLocks noGrp="1" noChangeArrowheads="1"/>
          </p:cNvSpPr>
          <p:nvPr>
            <p:ph idx="1"/>
          </p:nvPr>
        </p:nvSpPr>
        <p:spPr>
          <a:xfrm>
            <a:off x="3295185" y="864108"/>
            <a:ext cx="4608275" cy="5120640"/>
          </a:xfrm>
        </p:spPr>
        <p:txBody>
          <a:bodyPr>
            <a:normAutofit/>
          </a:bodyPr>
          <a:lstStyle/>
          <a:p>
            <a:r>
              <a:rPr lang="en-US">
                <a:latin typeface="+mj-lt"/>
              </a:rPr>
              <a:t>Purpose:</a:t>
            </a:r>
          </a:p>
          <a:p>
            <a:pPr lvl="1"/>
            <a:r>
              <a:rPr lang="en-US">
                <a:latin typeface="+mj-lt"/>
              </a:rPr>
              <a:t>Promotion of regularity</a:t>
            </a:r>
          </a:p>
          <a:p>
            <a:pPr lvl="1"/>
            <a:r>
              <a:rPr lang="en-US">
                <a:latin typeface="+mj-lt"/>
              </a:rPr>
              <a:t>Maintaining normal bowel function &amp; elimination pattern</a:t>
            </a:r>
          </a:p>
          <a:p>
            <a:pPr lvl="1"/>
            <a:r>
              <a:rPr lang="en-US">
                <a:latin typeface="+mj-lt"/>
              </a:rPr>
              <a:t>Creating mechanical stimulation of the GI tract (peristalsis)</a:t>
            </a:r>
          </a:p>
          <a:p>
            <a:pPr lvl="1"/>
            <a:r>
              <a:rPr lang="en-US">
                <a:latin typeface="+mj-lt"/>
              </a:rPr>
              <a:t>Treatment of constipation, hemorrhoids, diverticulosis</a:t>
            </a:r>
          </a:p>
          <a:p>
            <a:r>
              <a:rPr lang="en-US">
                <a:latin typeface="+mj-lt"/>
              </a:rPr>
              <a:t>Principles</a:t>
            </a:r>
          </a:p>
          <a:p>
            <a:pPr lvl="1"/>
            <a:r>
              <a:rPr lang="en-US">
                <a:latin typeface="+mj-lt"/>
              </a:rPr>
              <a:t>High fiber foods &amp; lots of fluid</a:t>
            </a:r>
          </a:p>
          <a:p>
            <a:pPr lvl="1"/>
            <a:r>
              <a:rPr lang="en-US">
                <a:latin typeface="+mj-lt"/>
              </a:rPr>
              <a:t>Foods high in complex CHOs &amp; low in fat</a:t>
            </a:r>
          </a:p>
          <a:p>
            <a:pPr lvl="1"/>
            <a:r>
              <a:rPr lang="en-US">
                <a:latin typeface="+mj-lt"/>
              </a:rPr>
              <a:t>Examples: legumes, whole grains, fruits &amp; vegetables</a:t>
            </a:r>
          </a:p>
        </p:txBody>
      </p:sp>
      <p:sp>
        <p:nvSpPr>
          <p:cNvPr id="7" name="TextBox 6">
            <a:extLst>
              <a:ext uri="{FF2B5EF4-FFF2-40B4-BE49-F238E27FC236}">
                <a16:creationId xmlns:a16="http://schemas.microsoft.com/office/drawing/2014/main" id="{5B98F4E9-2A66-44AF-9076-D42B6F148F9A}"/>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9296480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73730"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High Fiber Diet</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3731" name="Rectangle 3"/>
          <p:cNvSpPr>
            <a:spLocks noGrp="1" noChangeArrowheads="1"/>
          </p:cNvSpPr>
          <p:nvPr>
            <p:ph idx="1"/>
          </p:nvPr>
        </p:nvSpPr>
        <p:spPr>
          <a:xfrm>
            <a:off x="3966921" y="864108"/>
            <a:ext cx="4433008" cy="5120640"/>
          </a:xfrm>
        </p:spPr>
        <p:txBody>
          <a:bodyPr>
            <a:normAutofit/>
          </a:bodyPr>
          <a:lstStyle/>
          <a:p>
            <a:pPr eaLnBrk="1" hangingPunct="1"/>
            <a:r>
              <a:rPr lang="en-US">
                <a:latin typeface="+mj-lt"/>
              </a:rPr>
              <a:t>What’s cooking?</a:t>
            </a:r>
          </a:p>
          <a:p>
            <a:pPr lvl="1" eaLnBrk="1" hangingPunct="1"/>
            <a:r>
              <a:rPr lang="en-US">
                <a:latin typeface="+mj-lt"/>
              </a:rPr>
              <a:t>Fruits &amp; vegetables</a:t>
            </a:r>
          </a:p>
          <a:p>
            <a:pPr lvl="1" eaLnBrk="1" hangingPunct="1"/>
            <a:r>
              <a:rPr lang="en-US">
                <a:latin typeface="+mj-lt"/>
              </a:rPr>
              <a:t>Fruit juices</a:t>
            </a:r>
          </a:p>
          <a:p>
            <a:pPr lvl="1" eaLnBrk="1" hangingPunct="1"/>
            <a:r>
              <a:rPr lang="en-US">
                <a:latin typeface="+mj-lt"/>
              </a:rPr>
              <a:t>Whole grain cereals, breads</a:t>
            </a:r>
          </a:p>
          <a:p>
            <a:pPr lvl="1" eaLnBrk="1" hangingPunct="1"/>
            <a:r>
              <a:rPr lang="en-US">
                <a:latin typeface="+mj-lt"/>
              </a:rPr>
              <a:t>Does not exclude any food but encourage increased intake of high fiber foods &amp; increase in fluid intake</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E65054A-E420-4F31-A2C2-9F7EF38FA728}"/>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41345380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89689" y="1123837"/>
            <a:ext cx="2210611" cy="4601183"/>
          </a:xfrm>
        </p:spPr>
        <p:txBody>
          <a:bodyPr>
            <a:normAutofit/>
          </a:bodyPr>
          <a:lstStyle/>
          <a:p>
            <a:r>
              <a:rPr lang="en-US" dirty="0"/>
              <a:t>Post Surgical Diets</a:t>
            </a:r>
          </a:p>
        </p:txBody>
      </p:sp>
      <p:graphicFrame>
        <p:nvGraphicFramePr>
          <p:cNvPr id="4" name="Content Placeholder 3"/>
          <p:cNvGraphicFramePr>
            <a:graphicFrameLocks/>
          </p:cNvGraphicFramePr>
          <p:nvPr>
            <p:extLst>
              <p:ext uri="{D42A27DB-BD31-4B8C-83A1-F6EECF244321}">
                <p14:modId xmlns:p14="http://schemas.microsoft.com/office/powerpoint/2010/main" val="3018603452"/>
              </p:ext>
            </p:extLst>
          </p:nvPr>
        </p:nvGraphicFramePr>
        <p:xfrm>
          <a:off x="2819922" y="885459"/>
          <a:ext cx="5796200" cy="508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DE13A286-0DB5-48DA-A9D6-A3BAD0D98CE3}"/>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2551185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Nutrition</a:t>
            </a:r>
          </a:p>
        </p:txBody>
      </p:sp>
      <p:sp>
        <p:nvSpPr>
          <p:cNvPr id="3" name="Subtitle 2"/>
          <p:cNvSpPr>
            <a:spLocks noGrp="1"/>
          </p:cNvSpPr>
          <p:nvPr>
            <p:ph type="subTitle" idx="1"/>
          </p:nvPr>
        </p:nvSpPr>
        <p:spPr/>
        <p:txBody>
          <a:bodyPr>
            <a:normAutofit fontScale="92500" lnSpcReduction="20000"/>
          </a:bodyPr>
          <a:lstStyle/>
          <a:p>
            <a:r>
              <a:rPr lang="en-US" sz="3200" dirty="0">
                <a:solidFill>
                  <a:srgbClr val="FF0000"/>
                </a:solidFill>
              </a:rPr>
              <a:t>Nutrition Support Methods:</a:t>
            </a:r>
          </a:p>
          <a:p>
            <a:r>
              <a:rPr lang="en-US" sz="3200" dirty="0">
                <a:solidFill>
                  <a:srgbClr val="FF0000"/>
                </a:solidFill>
              </a:rPr>
              <a:t>Tube Feeding</a:t>
            </a:r>
          </a:p>
        </p:txBody>
      </p:sp>
      <p:sp>
        <p:nvSpPr>
          <p:cNvPr id="4" name="TextBox 3">
            <a:extLst>
              <a:ext uri="{FF2B5EF4-FFF2-40B4-BE49-F238E27FC236}">
                <a16:creationId xmlns:a16="http://schemas.microsoft.com/office/drawing/2014/main" id="{1A04F709-A3E9-44AB-BD5F-F0C04BF9976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65205432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637" name="Rectangle 71">
            <a:extLst>
              <a:ext uri="{FF2B5EF4-FFF2-40B4-BE49-F238E27FC236}">
                <a16:creationId xmlns:a16="http://schemas.microsoft.com/office/drawing/2014/main" id="{FF1D7602-6D2D-46C2-A7B2-434F3678D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69638" name="Rectangle 73">
            <a:extLst>
              <a:ext uri="{FF2B5EF4-FFF2-40B4-BE49-F238E27FC236}">
                <a16:creationId xmlns:a16="http://schemas.microsoft.com/office/drawing/2014/main" id="{35539253-EA7C-41D9-9930-0923683AA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9148581"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634" name="Rectangle 2"/>
          <p:cNvSpPr>
            <a:spLocks noGrp="1" noChangeArrowheads="1"/>
          </p:cNvSpPr>
          <p:nvPr>
            <p:ph type="title"/>
          </p:nvPr>
        </p:nvSpPr>
        <p:spPr>
          <a:xfrm>
            <a:off x="482600" y="1123837"/>
            <a:ext cx="2305435" cy="4601183"/>
          </a:xfrm>
        </p:spPr>
        <p:txBody>
          <a:bodyPr>
            <a:normAutofit/>
          </a:bodyPr>
          <a:lstStyle/>
          <a:p>
            <a:pPr algn="r" eaLnBrk="1" hangingPunct="1"/>
            <a:r>
              <a:rPr lang="en-US">
                <a:solidFill>
                  <a:schemeClr val="tx1">
                    <a:lumMod val="85000"/>
                    <a:lumOff val="15000"/>
                  </a:schemeClr>
                </a:solidFill>
              </a:rPr>
              <a:t>Alternative Feeding Methods</a:t>
            </a:r>
          </a:p>
        </p:txBody>
      </p:sp>
      <p:cxnSp>
        <p:nvCxnSpPr>
          <p:cNvPr id="69639"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610" y="2085681"/>
            <a:ext cx="0" cy="26866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635" name="Rectangle 3"/>
          <p:cNvSpPr>
            <a:spLocks noGrp="1" noChangeArrowheads="1"/>
          </p:cNvSpPr>
          <p:nvPr>
            <p:ph idx="1"/>
          </p:nvPr>
        </p:nvSpPr>
        <p:spPr>
          <a:xfrm>
            <a:off x="3295185" y="864108"/>
            <a:ext cx="4608275" cy="5120640"/>
          </a:xfrm>
        </p:spPr>
        <p:txBody>
          <a:bodyPr>
            <a:normAutofit/>
          </a:bodyPr>
          <a:lstStyle/>
          <a:p>
            <a:pPr eaLnBrk="1" hangingPunct="1">
              <a:buFontTx/>
              <a:buChar char="•"/>
            </a:pPr>
            <a:endParaRPr lang="en-US" dirty="0"/>
          </a:p>
          <a:p>
            <a:pPr eaLnBrk="1" hangingPunct="1">
              <a:buFontTx/>
              <a:buChar char="•"/>
            </a:pPr>
            <a:r>
              <a:rPr lang="en-US" sz="2400" dirty="0"/>
              <a:t>IF THE GUT WORKS, USE IT!!</a:t>
            </a:r>
          </a:p>
          <a:p>
            <a:pPr eaLnBrk="1" hangingPunct="1">
              <a:buFontTx/>
              <a:buChar char="•"/>
            </a:pPr>
            <a:r>
              <a:rPr lang="en-US" sz="2400" dirty="0"/>
              <a:t>What if oral feeding is not possible?</a:t>
            </a:r>
          </a:p>
          <a:p>
            <a:pPr marL="365760" lvl="1" indent="-256032">
              <a:spcBef>
                <a:spcPts val="400"/>
              </a:spcBef>
              <a:buSzPct val="68000"/>
              <a:buNone/>
            </a:pPr>
            <a:r>
              <a:rPr lang="en-US" sz="2400" dirty="0"/>
              <a:t>	 Formulas can be delivered to the GI tract </a:t>
            </a:r>
          </a:p>
          <a:p>
            <a:pPr marL="365760" lvl="1" indent="-256032">
              <a:spcBef>
                <a:spcPts val="400"/>
              </a:spcBef>
              <a:buSzPct val="68000"/>
              <a:buNone/>
            </a:pPr>
            <a:r>
              <a:rPr lang="en-US" sz="2400" dirty="0"/>
              <a:t>	(Enteral Feedings)</a:t>
            </a:r>
          </a:p>
          <a:p>
            <a:pPr eaLnBrk="1" hangingPunct="1">
              <a:buFontTx/>
              <a:buChar char="•"/>
            </a:pPr>
            <a:r>
              <a:rPr lang="en-US" sz="2400" dirty="0"/>
              <a:t>What if the gut doesn’t work?</a:t>
            </a:r>
          </a:p>
          <a:p>
            <a:pPr lvl="1" eaLnBrk="1" hangingPunct="1">
              <a:buNone/>
            </a:pPr>
            <a:r>
              <a:rPr lang="en-US" sz="2400" dirty="0"/>
              <a:t>Glucose, amino acids, lipids can be delivered into the vascular system </a:t>
            </a:r>
          </a:p>
          <a:p>
            <a:pPr lvl="1" eaLnBrk="1" hangingPunct="1">
              <a:buNone/>
            </a:pPr>
            <a:r>
              <a:rPr lang="en-US" sz="2400" dirty="0"/>
              <a:t>(Parenteral Nutrition)</a:t>
            </a:r>
          </a:p>
        </p:txBody>
      </p:sp>
      <p:sp>
        <p:nvSpPr>
          <p:cNvPr id="7" name="TextBox 6">
            <a:extLst>
              <a:ext uri="{FF2B5EF4-FFF2-40B4-BE49-F238E27FC236}">
                <a16:creationId xmlns:a16="http://schemas.microsoft.com/office/drawing/2014/main" id="{1A562291-36CA-4A2F-AAA2-3CD7AC5313B9}"/>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16603335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70658" name="Rectangle 2"/>
          <p:cNvSpPr>
            <a:spLocks noGrp="1" noChangeArrowheads="1"/>
          </p:cNvSpPr>
          <p:nvPr>
            <p:ph type="title"/>
          </p:nvPr>
        </p:nvSpPr>
        <p:spPr>
          <a:xfrm>
            <a:off x="1154337" y="864108"/>
            <a:ext cx="2305435" cy="5120639"/>
          </a:xfrm>
        </p:spPr>
        <p:txBody>
          <a:bodyPr>
            <a:normAutofit/>
          </a:bodyPr>
          <a:lstStyle/>
          <a:p>
            <a:pPr algn="r" eaLnBrk="1" hangingPunct="1"/>
            <a:r>
              <a:rPr lang="en-US">
                <a:solidFill>
                  <a:schemeClr val="tx1">
                    <a:lumMod val="85000"/>
                    <a:lumOff val="15000"/>
                  </a:schemeClr>
                </a:solidFill>
              </a:rPr>
              <a:t>Enteral Feedings</a:t>
            </a:r>
          </a:p>
        </p:txBody>
      </p:sp>
      <p:sp>
        <p:nvSpPr>
          <p:cNvPr id="74" name="Rectangle 73">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0659" name="Rectangle 3"/>
          <p:cNvSpPr>
            <a:spLocks noGrp="1" noChangeArrowheads="1"/>
          </p:cNvSpPr>
          <p:nvPr>
            <p:ph idx="1"/>
          </p:nvPr>
        </p:nvSpPr>
        <p:spPr>
          <a:xfrm>
            <a:off x="3966921" y="864108"/>
            <a:ext cx="4433008" cy="5120640"/>
          </a:xfrm>
        </p:spPr>
        <p:txBody>
          <a:bodyPr>
            <a:normAutofit/>
          </a:bodyPr>
          <a:lstStyle/>
          <a:p>
            <a:pPr eaLnBrk="1" hangingPunct="1">
              <a:buFontTx/>
              <a:buChar char="•"/>
            </a:pPr>
            <a:r>
              <a:rPr lang="en-US" sz="2400" dirty="0">
                <a:latin typeface="+mj-lt"/>
              </a:rPr>
              <a:t>Feeding by way of the GI tract</a:t>
            </a:r>
          </a:p>
          <a:p>
            <a:pPr eaLnBrk="1" hangingPunct="1">
              <a:buFontTx/>
              <a:buChar char="•"/>
            </a:pPr>
            <a:r>
              <a:rPr lang="en-US" sz="2400" dirty="0">
                <a:latin typeface="+mj-lt"/>
              </a:rPr>
              <a:t>Inability to take food orally</a:t>
            </a:r>
          </a:p>
          <a:p>
            <a:pPr eaLnBrk="1" hangingPunct="1">
              <a:buFontTx/>
              <a:buChar char="•"/>
            </a:pPr>
            <a:r>
              <a:rPr lang="en-US" sz="2400" dirty="0">
                <a:latin typeface="+mj-lt"/>
              </a:rPr>
              <a:t>The patient must have a functioning GI tract</a:t>
            </a:r>
          </a:p>
          <a:p>
            <a:pPr eaLnBrk="1" hangingPunct="1">
              <a:buFontTx/>
              <a:buChar char="•"/>
            </a:pPr>
            <a:endParaRPr lang="en-US" sz="2400" dirty="0">
              <a:latin typeface="+mj-lt"/>
            </a:endParaRPr>
          </a:p>
          <a:p>
            <a:pPr eaLnBrk="1" hangingPunct="1">
              <a:buFontTx/>
              <a:buChar char="•"/>
            </a:pPr>
            <a:r>
              <a:rPr lang="en-US" sz="2400" dirty="0">
                <a:latin typeface="+mj-lt"/>
              </a:rPr>
              <a:t>ADVANTAGES</a:t>
            </a:r>
          </a:p>
          <a:p>
            <a:pPr lvl="1" eaLnBrk="1" hangingPunct="1">
              <a:buFontTx/>
              <a:buChar char="•"/>
            </a:pPr>
            <a:r>
              <a:rPr lang="en-US" sz="2400" dirty="0">
                <a:latin typeface="+mj-lt"/>
              </a:rPr>
              <a:t>Less expensive</a:t>
            </a:r>
          </a:p>
          <a:p>
            <a:pPr lvl="1" eaLnBrk="1" hangingPunct="1">
              <a:buFontTx/>
              <a:buChar char="•"/>
            </a:pPr>
            <a:r>
              <a:rPr lang="en-US" sz="2400" dirty="0">
                <a:latin typeface="+mj-lt"/>
              </a:rPr>
              <a:t>Less risk for sepsis</a:t>
            </a:r>
          </a:p>
          <a:p>
            <a:pPr lvl="1" eaLnBrk="1" hangingPunct="1">
              <a:buFontTx/>
              <a:buChar char="•"/>
            </a:pPr>
            <a:r>
              <a:rPr lang="en-US" sz="2400" dirty="0">
                <a:latin typeface="+mj-lt"/>
              </a:rPr>
              <a:t>Maintain integrity of the intestinal mucosa</a:t>
            </a:r>
          </a:p>
        </p:txBody>
      </p:sp>
      <p:sp>
        <p:nvSpPr>
          <p:cNvPr id="78" name="Rectangle 77">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7515C30-98A2-4CF0-8213-6F0CFE30935D}"/>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7831627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Enteral Feedings Methods</a:t>
            </a:r>
          </a:p>
        </p:txBody>
      </p:sp>
      <p:sp>
        <p:nvSpPr>
          <p:cNvPr id="2" name="Content Placeholder 1"/>
          <p:cNvSpPr>
            <a:spLocks noGrp="1"/>
          </p:cNvSpPr>
          <p:nvPr>
            <p:ph idx="1"/>
          </p:nvPr>
        </p:nvSpPr>
        <p:spPr/>
        <p:txBody>
          <a:bodyPr/>
          <a:lstStyle/>
          <a:p>
            <a:pPr marL="624078" indent="-514350">
              <a:buFont typeface="+mj-lt"/>
              <a:buAutoNum type="arabicPeriod"/>
            </a:pPr>
            <a:r>
              <a:rPr lang="en-US" sz="4000" dirty="0"/>
              <a:t>Nasogastric tube</a:t>
            </a:r>
          </a:p>
          <a:p>
            <a:pPr marL="624078" indent="-514350">
              <a:buFont typeface="+mj-lt"/>
              <a:buAutoNum type="arabicPeriod"/>
            </a:pPr>
            <a:r>
              <a:rPr lang="en-US" sz="4000" dirty="0"/>
              <a:t>Orogastric tubes</a:t>
            </a:r>
          </a:p>
          <a:p>
            <a:pPr marL="624078" indent="-514350">
              <a:buFont typeface="+mj-lt"/>
              <a:buAutoNum type="arabicPeriod"/>
            </a:pPr>
            <a:r>
              <a:rPr lang="en-US" sz="4000" dirty="0"/>
              <a:t>Enterostomy ex PEG</a:t>
            </a:r>
          </a:p>
        </p:txBody>
      </p:sp>
      <p:sp>
        <p:nvSpPr>
          <p:cNvPr id="4" name="TextBox 3">
            <a:extLst>
              <a:ext uri="{FF2B5EF4-FFF2-40B4-BE49-F238E27FC236}">
                <a16:creationId xmlns:a16="http://schemas.microsoft.com/office/drawing/2014/main" id="{A034F30F-C955-4649-89D4-36FF7A945F31}"/>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352286437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CD1CF1-61AB-4E43-A393-A53B187E94AF}"/>
              </a:ext>
            </a:extLst>
          </p:cNvPr>
          <p:cNvPicPr>
            <a:picLocks noChangeAspect="1"/>
          </p:cNvPicPr>
          <p:nvPr/>
        </p:nvPicPr>
        <p:blipFill>
          <a:blip r:embed="rId3"/>
          <a:stretch>
            <a:fillRect/>
          </a:stretch>
        </p:blipFill>
        <p:spPr>
          <a:xfrm>
            <a:off x="609600" y="381000"/>
            <a:ext cx="8229600" cy="6172200"/>
          </a:xfrm>
          <a:prstGeom prst="rect">
            <a:avLst/>
          </a:prstGeom>
        </p:spPr>
      </p:pic>
      <p:sp>
        <p:nvSpPr>
          <p:cNvPr id="5" name="TextBox 4">
            <a:extLst>
              <a:ext uri="{FF2B5EF4-FFF2-40B4-BE49-F238E27FC236}">
                <a16:creationId xmlns:a16="http://schemas.microsoft.com/office/drawing/2014/main" id="{C16D5814-05C0-4494-B8AD-E4069366C844}"/>
              </a:ext>
            </a:extLst>
          </p:cNvPr>
          <p:cNvSpPr txBox="1"/>
          <p:nvPr/>
        </p:nvSpPr>
        <p:spPr>
          <a:xfrm>
            <a:off x="7315200" y="6499970"/>
            <a:ext cx="1763624" cy="246221"/>
          </a:xfrm>
          <a:prstGeom prst="rect">
            <a:avLst/>
          </a:prstGeom>
          <a:noFill/>
        </p:spPr>
        <p:txBody>
          <a:bodyPr wrap="none" rtlCol="0">
            <a:spAutoFit/>
          </a:bodyPr>
          <a:lstStyle/>
          <a:p>
            <a:r>
              <a:rPr lang="en-US" sz="1000" dirty="0"/>
              <a:t>VNSG 1577 NURG Care 1 </a:t>
            </a:r>
            <a:r>
              <a:rPr lang="en-US" sz="1000" dirty="0" err="1"/>
              <a:t>Wk</a:t>
            </a:r>
            <a:r>
              <a:rPr lang="en-US" sz="1000" dirty="0"/>
              <a:t> 3</a:t>
            </a:r>
          </a:p>
        </p:txBody>
      </p:sp>
    </p:spTree>
    <p:extLst>
      <p:ext uri="{BB962C8B-B14F-4D97-AF65-F5344CB8AC3E}">
        <p14:creationId xmlns:p14="http://schemas.microsoft.com/office/powerpoint/2010/main" val="28280194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025C2B7F-CE0F-4A84-B255-1775C7B3DF2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52" t="3247" r="5712" b="25325"/>
          <a:stretch/>
        </p:blipFill>
        <p:spPr bwMode="auto">
          <a:xfrm>
            <a:off x="381000" y="838200"/>
            <a:ext cx="4953001" cy="472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id="{A3017325-57A4-41AA-B326-F8D2520787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1" y="1409700"/>
            <a:ext cx="3276599" cy="3581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8613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40EA-1B53-44C0-A194-7E5367BAE735}"/>
              </a:ext>
            </a:extLst>
          </p:cNvPr>
          <p:cNvSpPr>
            <a:spLocks noGrp="1"/>
          </p:cNvSpPr>
          <p:nvPr>
            <p:ph type="title"/>
          </p:nvPr>
        </p:nvSpPr>
        <p:spPr/>
        <p:txBody>
          <a:bodyPr/>
          <a:lstStyle/>
          <a:p>
            <a:r>
              <a:rPr lang="en-US" dirty="0"/>
              <a:t>Foods High</a:t>
            </a:r>
            <a:br>
              <a:rPr lang="en-US" dirty="0"/>
            </a:br>
            <a:r>
              <a:rPr lang="en-US" dirty="0"/>
              <a:t>         In:</a:t>
            </a:r>
          </a:p>
        </p:txBody>
      </p:sp>
      <p:sp>
        <p:nvSpPr>
          <p:cNvPr id="3" name="Text Placeholder 2">
            <a:extLst>
              <a:ext uri="{FF2B5EF4-FFF2-40B4-BE49-F238E27FC236}">
                <a16:creationId xmlns:a16="http://schemas.microsoft.com/office/drawing/2014/main" id="{A400E2C3-2584-40B2-96B2-3345048D4504}"/>
              </a:ext>
            </a:extLst>
          </p:cNvPr>
          <p:cNvSpPr>
            <a:spLocks noGrp="1"/>
          </p:cNvSpPr>
          <p:nvPr>
            <p:ph type="body" idx="1"/>
          </p:nvPr>
        </p:nvSpPr>
        <p:spPr/>
        <p:txBody>
          <a:bodyPr/>
          <a:lstStyle/>
          <a:p>
            <a:endParaRPr lang="en-US"/>
          </a:p>
        </p:txBody>
      </p:sp>
      <p:sp>
        <p:nvSpPr>
          <p:cNvPr id="4" name="Content Placeholder 3">
            <a:extLst>
              <a:ext uri="{FF2B5EF4-FFF2-40B4-BE49-F238E27FC236}">
                <a16:creationId xmlns:a16="http://schemas.microsoft.com/office/drawing/2014/main" id="{F792F443-A4D5-49DF-8E7B-2B5064101D57}"/>
              </a:ext>
            </a:extLst>
          </p:cNvPr>
          <p:cNvSpPr>
            <a:spLocks noGrp="1"/>
          </p:cNvSpPr>
          <p:nvPr>
            <p:ph sz="half" idx="2"/>
          </p:nvPr>
        </p:nvSpPr>
        <p:spPr/>
        <p:txBody>
          <a:bodyPr/>
          <a:lstStyle/>
          <a:p>
            <a:r>
              <a:rPr lang="en-US" dirty="0"/>
              <a:t>Protein</a:t>
            </a:r>
          </a:p>
          <a:p>
            <a:r>
              <a:rPr lang="en-US" dirty="0"/>
              <a:t>Fats</a:t>
            </a:r>
          </a:p>
          <a:p>
            <a:r>
              <a:rPr lang="en-US" dirty="0"/>
              <a:t>Potassium</a:t>
            </a:r>
          </a:p>
          <a:p>
            <a:r>
              <a:rPr lang="en-US" dirty="0"/>
              <a:t>Magnesium</a:t>
            </a:r>
          </a:p>
          <a:p>
            <a:r>
              <a:rPr lang="en-US" dirty="0"/>
              <a:t>Vitamin B’s</a:t>
            </a:r>
          </a:p>
          <a:p>
            <a:r>
              <a:rPr lang="en-US" dirty="0"/>
              <a:t>Vitamin D</a:t>
            </a:r>
          </a:p>
        </p:txBody>
      </p:sp>
      <p:sp>
        <p:nvSpPr>
          <p:cNvPr id="5" name="Text Placeholder 4">
            <a:extLst>
              <a:ext uri="{FF2B5EF4-FFF2-40B4-BE49-F238E27FC236}">
                <a16:creationId xmlns:a16="http://schemas.microsoft.com/office/drawing/2014/main" id="{F17F1B30-AD8E-4A6D-97A5-6C8BC0010702}"/>
              </a:ext>
            </a:extLst>
          </p:cNvPr>
          <p:cNvSpPr>
            <a:spLocks noGrp="1"/>
          </p:cNvSpPr>
          <p:nvPr>
            <p:ph type="body" sz="quarter" idx="3"/>
          </p:nvPr>
        </p:nvSpPr>
        <p:spPr/>
        <p:txBody>
          <a:bodyPr/>
          <a:lstStyle/>
          <a:p>
            <a:endParaRPr lang="en-US"/>
          </a:p>
        </p:txBody>
      </p:sp>
      <p:sp>
        <p:nvSpPr>
          <p:cNvPr id="6" name="Content Placeholder 5">
            <a:extLst>
              <a:ext uri="{FF2B5EF4-FFF2-40B4-BE49-F238E27FC236}">
                <a16:creationId xmlns:a16="http://schemas.microsoft.com/office/drawing/2014/main" id="{43B08F2C-84DF-4B73-82CB-1AB5B3BADDFF}"/>
              </a:ext>
            </a:extLst>
          </p:cNvPr>
          <p:cNvSpPr>
            <a:spLocks noGrp="1"/>
          </p:cNvSpPr>
          <p:nvPr>
            <p:ph sz="quarter" idx="4"/>
          </p:nvPr>
        </p:nvSpPr>
        <p:spPr/>
        <p:txBody>
          <a:bodyPr/>
          <a:lstStyle/>
          <a:p>
            <a:r>
              <a:rPr lang="en-US" dirty="0"/>
              <a:t>Carbohydrates</a:t>
            </a:r>
          </a:p>
          <a:p>
            <a:r>
              <a:rPr lang="en-US" dirty="0"/>
              <a:t>Sodium</a:t>
            </a:r>
          </a:p>
          <a:p>
            <a:r>
              <a:rPr lang="en-US" dirty="0" err="1"/>
              <a:t>Valcium</a:t>
            </a:r>
            <a:endParaRPr lang="en-US" dirty="0"/>
          </a:p>
          <a:p>
            <a:r>
              <a:rPr lang="en-US" dirty="0"/>
              <a:t>Vitamin A</a:t>
            </a:r>
          </a:p>
          <a:p>
            <a:r>
              <a:rPr lang="en-US" dirty="0"/>
              <a:t>Vitamin C</a:t>
            </a:r>
          </a:p>
          <a:p>
            <a:r>
              <a:rPr lang="en-US" dirty="0"/>
              <a:t>Vitamin E</a:t>
            </a:r>
          </a:p>
        </p:txBody>
      </p:sp>
      <p:sp>
        <p:nvSpPr>
          <p:cNvPr id="7" name="TextBox 6">
            <a:extLst>
              <a:ext uri="{FF2B5EF4-FFF2-40B4-BE49-F238E27FC236}">
                <a16:creationId xmlns:a16="http://schemas.microsoft.com/office/drawing/2014/main" id="{4C7B5AD2-31A7-4EE8-878D-02C8DE12E16C}"/>
              </a:ext>
            </a:extLst>
          </p:cNvPr>
          <p:cNvSpPr txBox="1"/>
          <p:nvPr/>
        </p:nvSpPr>
        <p:spPr>
          <a:xfrm>
            <a:off x="2900934" y="5562600"/>
            <a:ext cx="5568953" cy="646331"/>
          </a:xfrm>
          <a:prstGeom prst="rect">
            <a:avLst/>
          </a:prstGeom>
          <a:noFill/>
        </p:spPr>
        <p:txBody>
          <a:bodyPr wrap="square" rtlCol="0">
            <a:spAutoFit/>
          </a:bodyPr>
          <a:lstStyle/>
          <a:p>
            <a:r>
              <a:rPr lang="en-US" dirty="0"/>
              <a:t>Please go over these and know which foods fall into which categories!</a:t>
            </a:r>
          </a:p>
        </p:txBody>
      </p:sp>
    </p:spTree>
    <p:extLst>
      <p:ext uri="{BB962C8B-B14F-4D97-AF65-F5344CB8AC3E}">
        <p14:creationId xmlns:p14="http://schemas.microsoft.com/office/powerpoint/2010/main" val="193040468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AA608D3-E763-4DF5-B141-4800654B8983}"/>
              </a:ext>
            </a:extLst>
          </p:cNvPr>
          <p:cNvSpPr>
            <a:spLocks noGrp="1"/>
          </p:cNvSpPr>
          <p:nvPr>
            <p:ph type="title"/>
          </p:nvPr>
        </p:nvSpPr>
        <p:spPr/>
        <p:txBody>
          <a:bodyPr/>
          <a:lstStyle/>
          <a:p>
            <a:r>
              <a:rPr lang="en-US" dirty="0"/>
              <a:t>Test Hints!</a:t>
            </a:r>
          </a:p>
        </p:txBody>
      </p:sp>
      <p:sp>
        <p:nvSpPr>
          <p:cNvPr id="8" name="Content Placeholder 7">
            <a:extLst>
              <a:ext uri="{FF2B5EF4-FFF2-40B4-BE49-F238E27FC236}">
                <a16:creationId xmlns:a16="http://schemas.microsoft.com/office/drawing/2014/main" id="{59BA3492-3253-422C-9244-2551300BFEFA}"/>
              </a:ext>
            </a:extLst>
          </p:cNvPr>
          <p:cNvSpPr>
            <a:spLocks noGrp="1"/>
          </p:cNvSpPr>
          <p:nvPr>
            <p:ph idx="1"/>
          </p:nvPr>
        </p:nvSpPr>
        <p:spPr>
          <a:xfrm>
            <a:off x="2901951" y="228600"/>
            <a:ext cx="5486400" cy="6477000"/>
          </a:xfrm>
        </p:spPr>
        <p:txBody>
          <a:bodyPr>
            <a:normAutofit/>
          </a:bodyPr>
          <a:lstStyle/>
          <a:p>
            <a:r>
              <a:rPr lang="en-US" b="1" dirty="0"/>
              <a:t>Anemia – is there more than one kind?  What does it look like?</a:t>
            </a:r>
          </a:p>
          <a:p>
            <a:r>
              <a:rPr lang="en-US" b="1" dirty="0"/>
              <a:t>Immunization Schedules – Pediatric and Adult.  How long are certain immunizations good for?  Ex: How many years is a tetanus or pneumococcal vaccine good for?</a:t>
            </a:r>
          </a:p>
          <a:p>
            <a:r>
              <a:rPr lang="en-US" b="1" dirty="0"/>
              <a:t>Vectors</a:t>
            </a:r>
          </a:p>
          <a:p>
            <a:r>
              <a:rPr lang="en-US" b="1" dirty="0"/>
              <a:t>Major Bacteria’s and where you typically see them. Ex:  UTI’s?  Central Lines? </a:t>
            </a:r>
          </a:p>
          <a:p>
            <a:r>
              <a:rPr lang="en-US" b="1" dirty="0"/>
              <a:t>Serum Sickness</a:t>
            </a:r>
          </a:p>
          <a:p>
            <a:r>
              <a:rPr lang="en-US" b="1" dirty="0"/>
              <a:t>Blood Transfusions</a:t>
            </a:r>
          </a:p>
          <a:p>
            <a:r>
              <a:rPr lang="en-US" b="1" dirty="0"/>
              <a:t>Different types of Isolation Precautions</a:t>
            </a:r>
          </a:p>
          <a:p>
            <a:r>
              <a:rPr lang="en-US" b="1" dirty="0"/>
              <a:t>Different types of fluid drainage and what it looks like? Ex: serous, serosanguinous, purulent?</a:t>
            </a:r>
          </a:p>
          <a:p>
            <a:r>
              <a:rPr lang="en-US" b="1" dirty="0"/>
              <a:t>Enteral feeding types</a:t>
            </a:r>
          </a:p>
          <a:p>
            <a:r>
              <a:rPr lang="en-US" b="1" dirty="0"/>
              <a:t>Types of Immunity</a:t>
            </a:r>
          </a:p>
          <a:p>
            <a:r>
              <a:rPr lang="en-US" b="1" dirty="0"/>
              <a:t>Types of Diets</a:t>
            </a:r>
          </a:p>
        </p:txBody>
      </p:sp>
    </p:spTree>
    <p:extLst>
      <p:ext uri="{BB962C8B-B14F-4D97-AF65-F5344CB8AC3E}">
        <p14:creationId xmlns:p14="http://schemas.microsoft.com/office/powerpoint/2010/main" val="1810797173"/>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3191</TotalTime>
  <Words>11006</Words>
  <Application>Microsoft Office PowerPoint</Application>
  <PresentationFormat>On-screen Show (4:3)</PresentationFormat>
  <Paragraphs>1361</Paragraphs>
  <Slides>123</Slides>
  <Notes>100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123</vt:i4>
      </vt:variant>
    </vt:vector>
  </HeadingPairs>
  <TitlesOfParts>
    <vt:vector size="134" baseType="lpstr">
      <vt:lpstr>Arial</vt:lpstr>
      <vt:lpstr>Arial Rounded MT Bold</vt:lpstr>
      <vt:lpstr>Calibri</vt:lpstr>
      <vt:lpstr>Comic Sans MS</vt:lpstr>
      <vt:lpstr>Corbel</vt:lpstr>
      <vt:lpstr>Google Sans</vt:lpstr>
      <vt:lpstr>Roboto</vt:lpstr>
      <vt:lpstr>Times New Roman</vt:lpstr>
      <vt:lpstr>Wingdings</vt:lpstr>
      <vt:lpstr>Wingdings 2</vt:lpstr>
      <vt:lpstr>Frame</vt:lpstr>
      <vt:lpstr>Nutrition Lecture 1 VNSG 1577 Concept Based Nursing Care I </vt:lpstr>
      <vt:lpstr>PowerPoint Presentation</vt:lpstr>
      <vt:lpstr>NUTRITION Overview</vt:lpstr>
      <vt:lpstr>Basal Metabolic Rate (BMR)</vt:lpstr>
      <vt:lpstr>Basal Metabolic Rate (BMR)</vt:lpstr>
      <vt:lpstr>Body Mass Index  Body mass index (BMI) is calculated to measure body fat and used along with waist-to-hip ratio measurements to determine the patient’s health risk factors (Table 32.4).</vt:lpstr>
      <vt:lpstr>PowerPoint Presentation</vt:lpstr>
      <vt:lpstr>Essential Nutrients Macronutrients</vt:lpstr>
      <vt:lpstr>Carbohydrates (CHOs)</vt:lpstr>
      <vt:lpstr>PowerPoint Presentation</vt:lpstr>
      <vt:lpstr>Proteins</vt:lpstr>
      <vt:lpstr>Lipids (fats)</vt:lpstr>
      <vt:lpstr>Essential Nutrients Micronutrients</vt:lpstr>
      <vt:lpstr>Minerals Micronutrients</vt:lpstr>
      <vt:lpstr>PowerPoint Presentation</vt:lpstr>
      <vt:lpstr>PowerPoint Presentation</vt:lpstr>
      <vt:lpstr>Water Box 23.6</vt:lpstr>
      <vt:lpstr>Population Guidelines</vt:lpstr>
      <vt:lpstr>Nutrition</vt:lpstr>
      <vt:lpstr>Preconceptual Nutrition</vt:lpstr>
      <vt:lpstr>Nutrition &amp; Pregnancy</vt:lpstr>
      <vt:lpstr>Nutrition &amp; Pregnancy</vt:lpstr>
      <vt:lpstr>Nutrition &amp; Pregnancy</vt:lpstr>
      <vt:lpstr>PowerPoint Presentation</vt:lpstr>
      <vt:lpstr>PowerPoint Presentation</vt:lpstr>
      <vt:lpstr>PowerPoint Presentation</vt:lpstr>
      <vt:lpstr>PowerPoint Presentation</vt:lpstr>
      <vt:lpstr>FORMULA-FEEDING  </vt:lpstr>
      <vt:lpstr>PowerPoint Presentation</vt:lpstr>
      <vt:lpstr>PowerPoint Presentation</vt:lpstr>
      <vt:lpstr>Infant Nutrition  0-12 months</vt:lpstr>
      <vt:lpstr>Infant Nutrition (0-12 months)</vt:lpstr>
      <vt:lpstr>Cleft Lip/ Cleft Palate</vt:lpstr>
      <vt:lpstr>Childhood Nutrition (1-5 years) Preschoolers</vt:lpstr>
      <vt:lpstr>Childhood Nutrition (1-5 years) Preschoolers</vt:lpstr>
      <vt:lpstr>Childhood Nutrition (6-10 years) School age</vt:lpstr>
      <vt:lpstr>Adolescent Nutrition (11-18 years)</vt:lpstr>
      <vt:lpstr>Adult Nutrition (18-64 years)</vt:lpstr>
      <vt:lpstr>Geriatric Nutrition (65 + years)</vt:lpstr>
      <vt:lpstr>Geriatric Nutrition (65 + years)</vt:lpstr>
      <vt:lpstr>Geriatric Nutrition (65 + years)</vt:lpstr>
      <vt:lpstr>Geriatric Nutrition (65 + years)</vt:lpstr>
      <vt:lpstr>Geriatric Nutrition (65 + years)</vt:lpstr>
      <vt:lpstr>Obesity</vt:lpstr>
      <vt:lpstr>Malnutrition</vt:lpstr>
      <vt:lpstr>Nutrition &amp; Cultural Considerations:</vt:lpstr>
      <vt:lpstr>Serving Food</vt:lpstr>
      <vt:lpstr>Serving Food</vt:lpstr>
      <vt:lpstr>Stimulating Appetite</vt:lpstr>
      <vt:lpstr>Assistance with Feeding</vt:lpstr>
      <vt:lpstr>Assistance with Feeding</vt:lpstr>
      <vt:lpstr>Dentition</vt:lpstr>
      <vt:lpstr>Dysphagia</vt:lpstr>
      <vt:lpstr>Dysphagia</vt:lpstr>
      <vt:lpstr>Dysphagia</vt:lpstr>
      <vt:lpstr>PowerPoint Presentation</vt:lpstr>
      <vt:lpstr>Alterations in nutritional intake</vt:lpstr>
      <vt:lpstr>PowerPoint Presentation</vt:lpstr>
      <vt:lpstr>Intestinal Gas</vt:lpstr>
      <vt:lpstr>PowerPoint Presentation</vt:lpstr>
      <vt:lpstr>Constipation</vt:lpstr>
      <vt:lpstr>PowerPoint Presentation</vt:lpstr>
      <vt:lpstr>Nutrition Therapy for Eating Disorders</vt:lpstr>
      <vt:lpstr>PowerPoint Presentation</vt:lpstr>
      <vt:lpstr>Nutrition Therapy for Eating Disorders</vt:lpstr>
      <vt:lpstr>PowerPoint Presentation</vt:lpstr>
      <vt:lpstr>PowerPoint Presentation</vt:lpstr>
      <vt:lpstr>PowerPoint Presentation</vt:lpstr>
      <vt:lpstr>PowerPoint Presentation</vt:lpstr>
      <vt:lpstr>PowerPoint Presentation</vt:lpstr>
      <vt:lpstr>PowerPoint Presentation</vt:lpstr>
      <vt:lpstr>PKU - Phyenylketonuria</vt:lpstr>
      <vt:lpstr>Xerophthalmia</vt:lpstr>
      <vt:lpstr>Osteomalacia</vt:lpstr>
      <vt:lpstr>Beriberi – A Vitamin B1 (Thiamine) deficiency.  </vt:lpstr>
      <vt:lpstr>PowerPoint Presentation</vt:lpstr>
      <vt:lpstr>PowerPoint Presentation</vt:lpstr>
      <vt:lpstr>Nutrition </vt:lpstr>
      <vt:lpstr>Subjective Assessment</vt:lpstr>
      <vt:lpstr>Subjective Assessment</vt:lpstr>
      <vt:lpstr>Subjective Assessment</vt:lpstr>
      <vt:lpstr>Objective Assessment</vt:lpstr>
      <vt:lpstr>Objective Assessment</vt:lpstr>
      <vt:lpstr>Nutrition</vt:lpstr>
      <vt:lpstr> INFLUENCES ON NUTRITION</vt:lpstr>
      <vt:lpstr>Regular Diet</vt:lpstr>
      <vt:lpstr>Types of Nutritional Support Methods</vt:lpstr>
      <vt:lpstr>THERAPEUTIC DIET CONSIDERATIONS</vt:lpstr>
      <vt:lpstr>Reasons for a Therapeutic Diet</vt:lpstr>
      <vt:lpstr>Reasons for a Therapeutic Diet</vt:lpstr>
      <vt:lpstr>Preparing a Patient for a Therapeutic Diet:</vt:lpstr>
      <vt:lpstr>Reading Nutrition labels Figure 23.1</vt:lpstr>
      <vt:lpstr>PowerPoint Presentation</vt:lpstr>
      <vt:lpstr>Helping A Patient Accept A Therapeutic Diet Table 24.1</vt:lpstr>
      <vt:lpstr>Therapeutic Diets:  Altered Consistency</vt:lpstr>
      <vt:lpstr>Clear Liquid Diet</vt:lpstr>
      <vt:lpstr>Clear Liquid Diet</vt:lpstr>
      <vt:lpstr>Therapeutic Diets: Altered Consistency</vt:lpstr>
      <vt:lpstr>Full Liquid Diet</vt:lpstr>
      <vt:lpstr>Full Liquid Diet</vt:lpstr>
      <vt:lpstr>Therapeutic Diets:  Altered Consistency</vt:lpstr>
      <vt:lpstr>Therapeutic Diets: Altered Consistency</vt:lpstr>
      <vt:lpstr>Dysphagia &amp; Thickened Liquids</vt:lpstr>
      <vt:lpstr>PowerPoint Presentation</vt:lpstr>
      <vt:lpstr>Therapeutic Diets:  Altered Consistency</vt:lpstr>
      <vt:lpstr>Soft Diet</vt:lpstr>
      <vt:lpstr>Therapeutic Diets:  Restrictive/ Modified Diets</vt:lpstr>
      <vt:lpstr>Principles of ADA Diet</vt:lpstr>
      <vt:lpstr>Principles of the ADA Diet</vt:lpstr>
      <vt:lpstr>Therapeutic Diets:  Restrictive/ Modified Diets</vt:lpstr>
      <vt:lpstr>Therapeutic Diets:  Restrictive/ Modified Diets</vt:lpstr>
      <vt:lpstr>Sodium-Controlled Diets</vt:lpstr>
      <vt:lpstr>High-Fiber Diet</vt:lpstr>
      <vt:lpstr>High Fiber Diet</vt:lpstr>
      <vt:lpstr>Post Surgical Diets</vt:lpstr>
      <vt:lpstr>Nutrition</vt:lpstr>
      <vt:lpstr>Alternative Feeding Methods</vt:lpstr>
      <vt:lpstr>Enteral Feedings</vt:lpstr>
      <vt:lpstr>Enteral Feedings Methods</vt:lpstr>
      <vt:lpstr>PowerPoint Presentation</vt:lpstr>
      <vt:lpstr>PowerPoint Presentation</vt:lpstr>
      <vt:lpstr>Foods High          In:</vt:lpstr>
      <vt:lpstr>Test Hints!</vt:lpstr>
    </vt:vector>
  </TitlesOfParts>
  <Company>Ozarks Technical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Nutrition Taylor Chapter 42</dc:title>
  <dc:creator>wheatlek</dc:creator>
  <cp:lastModifiedBy>Monica Nicholson</cp:lastModifiedBy>
  <cp:revision>754</cp:revision>
  <cp:lastPrinted>2018-02-14T15:56:16Z</cp:lastPrinted>
  <dcterms:created xsi:type="dcterms:W3CDTF">2008-02-07T19:40:52Z</dcterms:created>
  <dcterms:modified xsi:type="dcterms:W3CDTF">2024-01-29T15:58:30Z</dcterms:modified>
</cp:coreProperties>
</file>