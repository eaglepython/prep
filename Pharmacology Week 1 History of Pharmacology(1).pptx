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0" r:id="rId6"/>
    <p:sldId id="262" r:id="rId7"/>
    <p:sldId id="261" r:id="rId8"/>
    <p:sldId id="263" r:id="rId9"/>
    <p:sldId id="264" r:id="rId10"/>
    <p:sldId id="265" r:id="rId11"/>
    <p:sldId id="267" r:id="rId12"/>
    <p:sldId id="266"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0" d="100"/>
          <a:sy n="90" d="100"/>
        </p:scale>
        <p:origin x="57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15E19E-0B20-4230-A9BE-577A16B549B8}" type="datetimeFigureOut">
              <a:rPr lang="en-US" smtClean="0"/>
              <a:t>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B73A32-1CBC-4049-982A-AF82FFECED55}" type="slidenum">
              <a:rPr lang="en-US" smtClean="0"/>
              <a:t>‹#›</a:t>
            </a:fld>
            <a:endParaRPr lang="en-US"/>
          </a:p>
        </p:txBody>
      </p:sp>
    </p:spTree>
    <p:extLst>
      <p:ext uri="{BB962C8B-B14F-4D97-AF65-F5344CB8AC3E}">
        <p14:creationId xmlns:p14="http://schemas.microsoft.com/office/powerpoint/2010/main" val="1971575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B7865-9F16-49C6-926A-0686E570AC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C630018-A224-4950-9460-BFF5D7F302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C62B939-DB52-4722-8C8B-89CA309C8CF8}"/>
              </a:ext>
            </a:extLst>
          </p:cNvPr>
          <p:cNvSpPr>
            <a:spLocks noGrp="1"/>
          </p:cNvSpPr>
          <p:nvPr>
            <p:ph type="dt" sz="half" idx="10"/>
          </p:nvPr>
        </p:nvSpPr>
        <p:spPr/>
        <p:txBody>
          <a:bodyPr/>
          <a:lstStyle/>
          <a:p>
            <a:fld id="{9267F204-6113-491F-97CC-44F0963F5271}" type="datetime1">
              <a:rPr lang="en-US" smtClean="0"/>
              <a:t>1/5/2023</a:t>
            </a:fld>
            <a:endParaRPr lang="en-US"/>
          </a:p>
        </p:txBody>
      </p:sp>
      <p:sp>
        <p:nvSpPr>
          <p:cNvPr id="5" name="Footer Placeholder 4">
            <a:extLst>
              <a:ext uri="{FF2B5EF4-FFF2-40B4-BE49-F238E27FC236}">
                <a16:creationId xmlns:a16="http://schemas.microsoft.com/office/drawing/2014/main" id="{58BBF184-B3B8-480D-A2D0-A053EEA089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4CB2FF-5F66-4CD3-886B-FA510A0EB0D4}"/>
              </a:ext>
            </a:extLst>
          </p:cNvPr>
          <p:cNvSpPr>
            <a:spLocks noGrp="1"/>
          </p:cNvSpPr>
          <p:nvPr>
            <p:ph type="sldNum" sz="quarter" idx="12"/>
          </p:nvPr>
        </p:nvSpPr>
        <p:spPr/>
        <p:txBody>
          <a:bodyPr/>
          <a:lstStyle/>
          <a:p>
            <a:fld id="{F3F21C36-1BA9-4333-87E5-4E5D23EC055B}" type="slidenum">
              <a:rPr lang="en-US" smtClean="0"/>
              <a:t>‹#›</a:t>
            </a:fld>
            <a:endParaRPr lang="en-US"/>
          </a:p>
        </p:txBody>
      </p:sp>
    </p:spTree>
    <p:extLst>
      <p:ext uri="{BB962C8B-B14F-4D97-AF65-F5344CB8AC3E}">
        <p14:creationId xmlns:p14="http://schemas.microsoft.com/office/powerpoint/2010/main" val="1194263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6059E-D56F-4E02-96CA-A9CE0F25CC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5644EF-3849-4557-B486-A0F9B730352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0BBDC7-D215-4FE7-97E0-2BBD60878285}"/>
              </a:ext>
            </a:extLst>
          </p:cNvPr>
          <p:cNvSpPr>
            <a:spLocks noGrp="1"/>
          </p:cNvSpPr>
          <p:nvPr>
            <p:ph type="dt" sz="half" idx="10"/>
          </p:nvPr>
        </p:nvSpPr>
        <p:spPr/>
        <p:txBody>
          <a:bodyPr/>
          <a:lstStyle/>
          <a:p>
            <a:fld id="{0C72D049-AE8F-4F11-BAEE-E6755C9F6A6F}" type="datetime1">
              <a:rPr lang="en-US" smtClean="0"/>
              <a:t>1/5/2023</a:t>
            </a:fld>
            <a:endParaRPr lang="en-US"/>
          </a:p>
        </p:txBody>
      </p:sp>
      <p:sp>
        <p:nvSpPr>
          <p:cNvPr id="5" name="Footer Placeholder 4">
            <a:extLst>
              <a:ext uri="{FF2B5EF4-FFF2-40B4-BE49-F238E27FC236}">
                <a16:creationId xmlns:a16="http://schemas.microsoft.com/office/drawing/2014/main" id="{031DD633-33A4-4A5F-B0B8-70E914D044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7A80AB-6AEC-4B61-A75B-387E628614C3}"/>
              </a:ext>
            </a:extLst>
          </p:cNvPr>
          <p:cNvSpPr>
            <a:spLocks noGrp="1"/>
          </p:cNvSpPr>
          <p:nvPr>
            <p:ph type="sldNum" sz="quarter" idx="12"/>
          </p:nvPr>
        </p:nvSpPr>
        <p:spPr/>
        <p:txBody>
          <a:bodyPr/>
          <a:lstStyle/>
          <a:p>
            <a:fld id="{F3F21C36-1BA9-4333-87E5-4E5D23EC055B}" type="slidenum">
              <a:rPr lang="en-US" smtClean="0"/>
              <a:t>‹#›</a:t>
            </a:fld>
            <a:endParaRPr lang="en-US"/>
          </a:p>
        </p:txBody>
      </p:sp>
    </p:spTree>
    <p:extLst>
      <p:ext uri="{BB962C8B-B14F-4D97-AF65-F5344CB8AC3E}">
        <p14:creationId xmlns:p14="http://schemas.microsoft.com/office/powerpoint/2010/main" val="3789232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12E41-3B8F-4452-85D3-E68E85348B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253293D-CCFD-4B82-8D0B-31C6E58E3A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3EB47EC-1C25-4F1D-A8F6-9B7830934F1D}"/>
              </a:ext>
            </a:extLst>
          </p:cNvPr>
          <p:cNvSpPr>
            <a:spLocks noGrp="1"/>
          </p:cNvSpPr>
          <p:nvPr>
            <p:ph type="dt" sz="half" idx="10"/>
          </p:nvPr>
        </p:nvSpPr>
        <p:spPr/>
        <p:txBody>
          <a:bodyPr/>
          <a:lstStyle/>
          <a:p>
            <a:fld id="{FDBF1F57-650F-44F2-817D-026B3A2BA8E7}" type="datetime1">
              <a:rPr lang="en-US" smtClean="0"/>
              <a:t>1/5/2023</a:t>
            </a:fld>
            <a:endParaRPr lang="en-US"/>
          </a:p>
        </p:txBody>
      </p:sp>
      <p:sp>
        <p:nvSpPr>
          <p:cNvPr id="5" name="Footer Placeholder 4">
            <a:extLst>
              <a:ext uri="{FF2B5EF4-FFF2-40B4-BE49-F238E27FC236}">
                <a16:creationId xmlns:a16="http://schemas.microsoft.com/office/drawing/2014/main" id="{62349A65-8FC9-46EA-BE99-6B5F216A3A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BC5CEA-7C86-46AA-93E9-B21D38B134AE}"/>
              </a:ext>
            </a:extLst>
          </p:cNvPr>
          <p:cNvSpPr>
            <a:spLocks noGrp="1"/>
          </p:cNvSpPr>
          <p:nvPr>
            <p:ph type="sldNum" sz="quarter" idx="12"/>
          </p:nvPr>
        </p:nvSpPr>
        <p:spPr/>
        <p:txBody>
          <a:bodyPr/>
          <a:lstStyle/>
          <a:p>
            <a:fld id="{F3F21C36-1BA9-4333-87E5-4E5D23EC055B}" type="slidenum">
              <a:rPr lang="en-US" smtClean="0"/>
              <a:t>‹#›</a:t>
            </a:fld>
            <a:endParaRPr lang="en-US"/>
          </a:p>
        </p:txBody>
      </p:sp>
    </p:spTree>
    <p:extLst>
      <p:ext uri="{BB962C8B-B14F-4D97-AF65-F5344CB8AC3E}">
        <p14:creationId xmlns:p14="http://schemas.microsoft.com/office/powerpoint/2010/main" val="1353156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62484-E5A6-428C-ACE4-26AE3980B5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057886-C6A8-4CD2-9260-C3889821C1A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BA0A78-55F9-4286-B2C0-37B01203353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57676E3-DFE9-41F1-998A-1CDEA5ECCEA6}"/>
              </a:ext>
            </a:extLst>
          </p:cNvPr>
          <p:cNvSpPr>
            <a:spLocks noGrp="1"/>
          </p:cNvSpPr>
          <p:nvPr>
            <p:ph type="dt" sz="half" idx="10"/>
          </p:nvPr>
        </p:nvSpPr>
        <p:spPr/>
        <p:txBody>
          <a:bodyPr/>
          <a:lstStyle/>
          <a:p>
            <a:fld id="{92635D13-0F5F-4909-AF49-724C2BF20362}" type="datetime1">
              <a:rPr lang="en-US" smtClean="0"/>
              <a:t>1/5/2023</a:t>
            </a:fld>
            <a:endParaRPr lang="en-US"/>
          </a:p>
        </p:txBody>
      </p:sp>
      <p:sp>
        <p:nvSpPr>
          <p:cNvPr id="6" name="Footer Placeholder 5">
            <a:extLst>
              <a:ext uri="{FF2B5EF4-FFF2-40B4-BE49-F238E27FC236}">
                <a16:creationId xmlns:a16="http://schemas.microsoft.com/office/drawing/2014/main" id="{67C1EA07-C350-4291-AD23-56C9666011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BCD6B1-C0B3-41BF-9471-B8CAAC423694}"/>
              </a:ext>
            </a:extLst>
          </p:cNvPr>
          <p:cNvSpPr>
            <a:spLocks noGrp="1"/>
          </p:cNvSpPr>
          <p:nvPr>
            <p:ph type="sldNum" sz="quarter" idx="12"/>
          </p:nvPr>
        </p:nvSpPr>
        <p:spPr/>
        <p:txBody>
          <a:bodyPr/>
          <a:lstStyle/>
          <a:p>
            <a:fld id="{F3F21C36-1BA9-4333-87E5-4E5D23EC055B}" type="slidenum">
              <a:rPr lang="en-US" smtClean="0"/>
              <a:t>‹#›</a:t>
            </a:fld>
            <a:endParaRPr lang="en-US"/>
          </a:p>
        </p:txBody>
      </p:sp>
    </p:spTree>
    <p:extLst>
      <p:ext uri="{BB962C8B-B14F-4D97-AF65-F5344CB8AC3E}">
        <p14:creationId xmlns:p14="http://schemas.microsoft.com/office/powerpoint/2010/main" val="1954937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E3CA0-5383-485F-AD84-900A19EBE4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114856B-A378-49A1-B174-1F549BDC28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654C750-5459-44C9-80E7-369A4AB6602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722460-F496-465C-BF05-5A0DAF5E68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21556A8-A650-4E28-94F7-FF32202E7EF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ACA934-4519-47FF-9B40-AE7C16370363}"/>
              </a:ext>
            </a:extLst>
          </p:cNvPr>
          <p:cNvSpPr>
            <a:spLocks noGrp="1"/>
          </p:cNvSpPr>
          <p:nvPr>
            <p:ph type="dt" sz="half" idx="10"/>
          </p:nvPr>
        </p:nvSpPr>
        <p:spPr/>
        <p:txBody>
          <a:bodyPr/>
          <a:lstStyle/>
          <a:p>
            <a:fld id="{4F685EF5-349E-4B80-A2B5-59B22B762581}" type="datetime1">
              <a:rPr lang="en-US" smtClean="0"/>
              <a:t>1/5/2023</a:t>
            </a:fld>
            <a:endParaRPr lang="en-US"/>
          </a:p>
        </p:txBody>
      </p:sp>
      <p:sp>
        <p:nvSpPr>
          <p:cNvPr id="8" name="Footer Placeholder 7">
            <a:extLst>
              <a:ext uri="{FF2B5EF4-FFF2-40B4-BE49-F238E27FC236}">
                <a16:creationId xmlns:a16="http://schemas.microsoft.com/office/drawing/2014/main" id="{76755BAD-4B31-4803-B6EE-7EBE08E4ED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30C17E9-F039-4555-BAA1-CFAD88739D6E}"/>
              </a:ext>
            </a:extLst>
          </p:cNvPr>
          <p:cNvSpPr>
            <a:spLocks noGrp="1"/>
          </p:cNvSpPr>
          <p:nvPr>
            <p:ph type="sldNum" sz="quarter" idx="12"/>
          </p:nvPr>
        </p:nvSpPr>
        <p:spPr/>
        <p:txBody>
          <a:bodyPr/>
          <a:lstStyle/>
          <a:p>
            <a:fld id="{F3F21C36-1BA9-4333-87E5-4E5D23EC055B}" type="slidenum">
              <a:rPr lang="en-US" smtClean="0"/>
              <a:t>‹#›</a:t>
            </a:fld>
            <a:endParaRPr lang="en-US"/>
          </a:p>
        </p:txBody>
      </p:sp>
    </p:spTree>
    <p:extLst>
      <p:ext uri="{BB962C8B-B14F-4D97-AF65-F5344CB8AC3E}">
        <p14:creationId xmlns:p14="http://schemas.microsoft.com/office/powerpoint/2010/main" val="2510735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AC4AA-A41E-4382-82ED-474E3F3F6E3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805258-5FA6-4C9A-9EFD-EE51C7ACB109}"/>
              </a:ext>
            </a:extLst>
          </p:cNvPr>
          <p:cNvSpPr>
            <a:spLocks noGrp="1"/>
          </p:cNvSpPr>
          <p:nvPr>
            <p:ph type="dt" sz="half" idx="10"/>
          </p:nvPr>
        </p:nvSpPr>
        <p:spPr/>
        <p:txBody>
          <a:bodyPr/>
          <a:lstStyle/>
          <a:p>
            <a:fld id="{9DDF7476-48D7-47F5-8792-797AC375F031}" type="datetime1">
              <a:rPr lang="en-US" smtClean="0"/>
              <a:t>1/5/2023</a:t>
            </a:fld>
            <a:endParaRPr lang="en-US"/>
          </a:p>
        </p:txBody>
      </p:sp>
      <p:sp>
        <p:nvSpPr>
          <p:cNvPr id="4" name="Footer Placeholder 3">
            <a:extLst>
              <a:ext uri="{FF2B5EF4-FFF2-40B4-BE49-F238E27FC236}">
                <a16:creationId xmlns:a16="http://schemas.microsoft.com/office/drawing/2014/main" id="{7BD4CEA5-599A-4FED-BFFC-CF0FC0DABEF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FC5FB39-49C1-4822-9C40-2D1B80143895}"/>
              </a:ext>
            </a:extLst>
          </p:cNvPr>
          <p:cNvSpPr>
            <a:spLocks noGrp="1"/>
          </p:cNvSpPr>
          <p:nvPr>
            <p:ph type="sldNum" sz="quarter" idx="12"/>
          </p:nvPr>
        </p:nvSpPr>
        <p:spPr/>
        <p:txBody>
          <a:bodyPr/>
          <a:lstStyle/>
          <a:p>
            <a:fld id="{F3F21C36-1BA9-4333-87E5-4E5D23EC055B}" type="slidenum">
              <a:rPr lang="en-US" smtClean="0"/>
              <a:t>‹#›</a:t>
            </a:fld>
            <a:endParaRPr lang="en-US"/>
          </a:p>
        </p:txBody>
      </p:sp>
    </p:spTree>
    <p:extLst>
      <p:ext uri="{BB962C8B-B14F-4D97-AF65-F5344CB8AC3E}">
        <p14:creationId xmlns:p14="http://schemas.microsoft.com/office/powerpoint/2010/main" val="3229777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BC46BC-5D28-4032-9BBD-A80B8FF7EE19}"/>
              </a:ext>
            </a:extLst>
          </p:cNvPr>
          <p:cNvSpPr>
            <a:spLocks noGrp="1"/>
          </p:cNvSpPr>
          <p:nvPr>
            <p:ph type="dt" sz="half" idx="10"/>
          </p:nvPr>
        </p:nvSpPr>
        <p:spPr/>
        <p:txBody>
          <a:bodyPr/>
          <a:lstStyle/>
          <a:p>
            <a:fld id="{C7882844-4511-454F-846D-21A8E0DEB36D}" type="datetime1">
              <a:rPr lang="en-US" smtClean="0"/>
              <a:t>1/5/2023</a:t>
            </a:fld>
            <a:endParaRPr lang="en-US"/>
          </a:p>
        </p:txBody>
      </p:sp>
      <p:sp>
        <p:nvSpPr>
          <p:cNvPr id="3" name="Footer Placeholder 2">
            <a:extLst>
              <a:ext uri="{FF2B5EF4-FFF2-40B4-BE49-F238E27FC236}">
                <a16:creationId xmlns:a16="http://schemas.microsoft.com/office/drawing/2014/main" id="{0C17E1F4-4A8F-44BE-BB37-63691ED1F11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FBFD22-1CC6-4E4B-8F43-3E2485EFFD47}"/>
              </a:ext>
            </a:extLst>
          </p:cNvPr>
          <p:cNvSpPr>
            <a:spLocks noGrp="1"/>
          </p:cNvSpPr>
          <p:nvPr>
            <p:ph type="sldNum" sz="quarter" idx="12"/>
          </p:nvPr>
        </p:nvSpPr>
        <p:spPr/>
        <p:txBody>
          <a:bodyPr/>
          <a:lstStyle/>
          <a:p>
            <a:fld id="{F3F21C36-1BA9-4333-87E5-4E5D23EC055B}" type="slidenum">
              <a:rPr lang="en-US" smtClean="0"/>
              <a:t>‹#›</a:t>
            </a:fld>
            <a:endParaRPr lang="en-US"/>
          </a:p>
        </p:txBody>
      </p:sp>
    </p:spTree>
    <p:extLst>
      <p:ext uri="{BB962C8B-B14F-4D97-AF65-F5344CB8AC3E}">
        <p14:creationId xmlns:p14="http://schemas.microsoft.com/office/powerpoint/2010/main" val="3383518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5BA3F-31F5-4C20-8120-65186E7932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B47FAE-71C1-48DF-861D-67B213B72A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31A111-CA2D-4266-AC77-72052CF4E2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68DD633-4972-4F0C-A4CB-C94DAD3A06E8}"/>
              </a:ext>
            </a:extLst>
          </p:cNvPr>
          <p:cNvSpPr>
            <a:spLocks noGrp="1"/>
          </p:cNvSpPr>
          <p:nvPr>
            <p:ph type="dt" sz="half" idx="10"/>
          </p:nvPr>
        </p:nvSpPr>
        <p:spPr/>
        <p:txBody>
          <a:bodyPr/>
          <a:lstStyle/>
          <a:p>
            <a:fld id="{919EE518-FAE1-4BF1-88E0-AB06D38D228B}" type="datetime1">
              <a:rPr lang="en-US" smtClean="0"/>
              <a:t>1/5/2023</a:t>
            </a:fld>
            <a:endParaRPr lang="en-US"/>
          </a:p>
        </p:txBody>
      </p:sp>
      <p:sp>
        <p:nvSpPr>
          <p:cNvPr id="6" name="Footer Placeholder 5">
            <a:extLst>
              <a:ext uri="{FF2B5EF4-FFF2-40B4-BE49-F238E27FC236}">
                <a16:creationId xmlns:a16="http://schemas.microsoft.com/office/drawing/2014/main" id="{ED3F0C73-D6BA-4548-A69B-1CA30BB233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EF6C06-7923-471E-AF86-5B519143967F}"/>
              </a:ext>
            </a:extLst>
          </p:cNvPr>
          <p:cNvSpPr>
            <a:spLocks noGrp="1"/>
          </p:cNvSpPr>
          <p:nvPr>
            <p:ph type="sldNum" sz="quarter" idx="12"/>
          </p:nvPr>
        </p:nvSpPr>
        <p:spPr/>
        <p:txBody>
          <a:bodyPr/>
          <a:lstStyle/>
          <a:p>
            <a:fld id="{F3F21C36-1BA9-4333-87E5-4E5D23EC055B}" type="slidenum">
              <a:rPr lang="en-US" smtClean="0"/>
              <a:t>‹#›</a:t>
            </a:fld>
            <a:endParaRPr lang="en-US"/>
          </a:p>
        </p:txBody>
      </p:sp>
    </p:spTree>
    <p:extLst>
      <p:ext uri="{BB962C8B-B14F-4D97-AF65-F5344CB8AC3E}">
        <p14:creationId xmlns:p14="http://schemas.microsoft.com/office/powerpoint/2010/main" val="3749304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002DA-ABE6-4E97-AA3A-61A21915D2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81515C-9253-4F2D-A943-E1B7989F39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4FCD29-9580-4E6A-8EE7-DCDF56F601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9FC15F1-523E-4930-9789-94B40267F6AC}"/>
              </a:ext>
            </a:extLst>
          </p:cNvPr>
          <p:cNvSpPr>
            <a:spLocks noGrp="1"/>
          </p:cNvSpPr>
          <p:nvPr>
            <p:ph type="dt" sz="half" idx="10"/>
          </p:nvPr>
        </p:nvSpPr>
        <p:spPr/>
        <p:txBody>
          <a:bodyPr/>
          <a:lstStyle/>
          <a:p>
            <a:fld id="{39E122B8-50F5-4FCF-B6AB-6B3992DD3847}" type="datetime1">
              <a:rPr lang="en-US" smtClean="0"/>
              <a:t>1/5/2023</a:t>
            </a:fld>
            <a:endParaRPr lang="en-US"/>
          </a:p>
        </p:txBody>
      </p:sp>
      <p:sp>
        <p:nvSpPr>
          <p:cNvPr id="6" name="Footer Placeholder 5">
            <a:extLst>
              <a:ext uri="{FF2B5EF4-FFF2-40B4-BE49-F238E27FC236}">
                <a16:creationId xmlns:a16="http://schemas.microsoft.com/office/drawing/2014/main" id="{486BDA00-BE3F-4B79-8F51-45BD493035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0D39BD-D73B-4F08-BBD4-985A9022D0AA}"/>
              </a:ext>
            </a:extLst>
          </p:cNvPr>
          <p:cNvSpPr>
            <a:spLocks noGrp="1"/>
          </p:cNvSpPr>
          <p:nvPr>
            <p:ph type="sldNum" sz="quarter" idx="12"/>
          </p:nvPr>
        </p:nvSpPr>
        <p:spPr/>
        <p:txBody>
          <a:bodyPr/>
          <a:lstStyle/>
          <a:p>
            <a:fld id="{F3F21C36-1BA9-4333-87E5-4E5D23EC055B}" type="slidenum">
              <a:rPr lang="en-US" smtClean="0"/>
              <a:t>‹#›</a:t>
            </a:fld>
            <a:endParaRPr lang="en-US"/>
          </a:p>
        </p:txBody>
      </p:sp>
    </p:spTree>
    <p:extLst>
      <p:ext uri="{BB962C8B-B14F-4D97-AF65-F5344CB8AC3E}">
        <p14:creationId xmlns:p14="http://schemas.microsoft.com/office/powerpoint/2010/main" val="4066771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482FD-C561-4932-A736-4B3B09B39A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463BDD9-F037-41E8-B86B-67FE8AEB2B4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67E1C1-17E4-4247-8F87-C549925CCE1C}"/>
              </a:ext>
            </a:extLst>
          </p:cNvPr>
          <p:cNvSpPr>
            <a:spLocks noGrp="1"/>
          </p:cNvSpPr>
          <p:nvPr>
            <p:ph type="dt" sz="half" idx="10"/>
          </p:nvPr>
        </p:nvSpPr>
        <p:spPr/>
        <p:txBody>
          <a:bodyPr/>
          <a:lstStyle/>
          <a:p>
            <a:fld id="{66A3CD57-F2DD-422B-A0E0-DEA39659313D}" type="datetime1">
              <a:rPr lang="en-US" smtClean="0"/>
              <a:t>1/5/2023</a:t>
            </a:fld>
            <a:endParaRPr lang="en-US"/>
          </a:p>
        </p:txBody>
      </p:sp>
      <p:sp>
        <p:nvSpPr>
          <p:cNvPr id="5" name="Footer Placeholder 4">
            <a:extLst>
              <a:ext uri="{FF2B5EF4-FFF2-40B4-BE49-F238E27FC236}">
                <a16:creationId xmlns:a16="http://schemas.microsoft.com/office/drawing/2014/main" id="{183B2937-582C-449E-BD93-4C549A65AF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980BA7-F702-462C-972E-D97AA92A27E1}"/>
              </a:ext>
            </a:extLst>
          </p:cNvPr>
          <p:cNvSpPr>
            <a:spLocks noGrp="1"/>
          </p:cNvSpPr>
          <p:nvPr>
            <p:ph type="sldNum" sz="quarter" idx="12"/>
          </p:nvPr>
        </p:nvSpPr>
        <p:spPr/>
        <p:txBody>
          <a:bodyPr/>
          <a:lstStyle/>
          <a:p>
            <a:fld id="{F3F21C36-1BA9-4333-87E5-4E5D23EC055B}" type="slidenum">
              <a:rPr lang="en-US" smtClean="0"/>
              <a:t>‹#›</a:t>
            </a:fld>
            <a:endParaRPr lang="en-US"/>
          </a:p>
        </p:txBody>
      </p:sp>
    </p:spTree>
    <p:extLst>
      <p:ext uri="{BB962C8B-B14F-4D97-AF65-F5344CB8AC3E}">
        <p14:creationId xmlns:p14="http://schemas.microsoft.com/office/powerpoint/2010/main" val="2431188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3550A5-15F2-4337-8557-B54977A4A98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D501D98-7981-4B57-B6C0-EF59F1AB96E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C05417-6560-42E5-BE01-60AE3900AD1F}"/>
              </a:ext>
            </a:extLst>
          </p:cNvPr>
          <p:cNvSpPr>
            <a:spLocks noGrp="1"/>
          </p:cNvSpPr>
          <p:nvPr>
            <p:ph type="dt" sz="half" idx="10"/>
          </p:nvPr>
        </p:nvSpPr>
        <p:spPr/>
        <p:txBody>
          <a:bodyPr/>
          <a:lstStyle/>
          <a:p>
            <a:fld id="{D5296342-C3B2-4471-8C9E-836B329194B1}" type="datetime1">
              <a:rPr lang="en-US" smtClean="0"/>
              <a:t>1/5/2023</a:t>
            </a:fld>
            <a:endParaRPr lang="en-US"/>
          </a:p>
        </p:txBody>
      </p:sp>
      <p:sp>
        <p:nvSpPr>
          <p:cNvPr id="5" name="Footer Placeholder 4">
            <a:extLst>
              <a:ext uri="{FF2B5EF4-FFF2-40B4-BE49-F238E27FC236}">
                <a16:creationId xmlns:a16="http://schemas.microsoft.com/office/drawing/2014/main" id="{7FBCCFF9-06F1-4B70-9C12-8F76044FBC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ED6F13-698E-47F8-8614-86896D80F0EB}"/>
              </a:ext>
            </a:extLst>
          </p:cNvPr>
          <p:cNvSpPr>
            <a:spLocks noGrp="1"/>
          </p:cNvSpPr>
          <p:nvPr>
            <p:ph type="sldNum" sz="quarter" idx="12"/>
          </p:nvPr>
        </p:nvSpPr>
        <p:spPr/>
        <p:txBody>
          <a:bodyPr/>
          <a:lstStyle/>
          <a:p>
            <a:fld id="{F3F21C36-1BA9-4333-87E5-4E5D23EC055B}" type="slidenum">
              <a:rPr lang="en-US" smtClean="0"/>
              <a:t>‹#›</a:t>
            </a:fld>
            <a:endParaRPr lang="en-US"/>
          </a:p>
        </p:txBody>
      </p:sp>
    </p:spTree>
    <p:extLst>
      <p:ext uri="{BB962C8B-B14F-4D97-AF65-F5344CB8AC3E}">
        <p14:creationId xmlns:p14="http://schemas.microsoft.com/office/powerpoint/2010/main" val="3770157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091748-B8D2-4D0F-8FAB-10EBF76195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A4B65CC-D5AC-4135-8209-712281EFF0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D78E1A-42F5-4E8E-8E82-81467B6CF3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92BD19-5875-4A3B-A0E9-CA10E222AF09}" type="datetime1">
              <a:rPr lang="en-US" smtClean="0"/>
              <a:t>1/5/2023</a:t>
            </a:fld>
            <a:endParaRPr lang="en-US"/>
          </a:p>
        </p:txBody>
      </p:sp>
      <p:sp>
        <p:nvSpPr>
          <p:cNvPr id="5" name="Footer Placeholder 4">
            <a:extLst>
              <a:ext uri="{FF2B5EF4-FFF2-40B4-BE49-F238E27FC236}">
                <a16:creationId xmlns:a16="http://schemas.microsoft.com/office/drawing/2014/main" id="{67FF0F62-43FB-4A07-A342-6B9A971A11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DD23A5C-0DFA-44FA-884D-CFCBB24200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F21C36-1BA9-4333-87E5-4E5D23EC055B}" type="slidenum">
              <a:rPr lang="en-US" smtClean="0"/>
              <a:t>‹#›</a:t>
            </a:fld>
            <a:endParaRPr lang="en-US"/>
          </a:p>
        </p:txBody>
      </p:sp>
    </p:spTree>
    <p:extLst>
      <p:ext uri="{BB962C8B-B14F-4D97-AF65-F5344CB8AC3E}">
        <p14:creationId xmlns:p14="http://schemas.microsoft.com/office/powerpoint/2010/main" val="9456807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E63952-F993-4E05-B0B4-489DADBA5870}"/>
              </a:ext>
            </a:extLst>
          </p:cNvPr>
          <p:cNvPicPr>
            <a:picLocks noChangeAspect="1"/>
          </p:cNvPicPr>
          <p:nvPr/>
        </p:nvPicPr>
        <p:blipFill>
          <a:blip r:embed="rId2"/>
          <a:stretch>
            <a:fillRect/>
          </a:stretch>
        </p:blipFill>
        <p:spPr>
          <a:xfrm>
            <a:off x="497150" y="328474"/>
            <a:ext cx="11452194" cy="6143347"/>
          </a:xfrm>
          <a:prstGeom prst="rect">
            <a:avLst/>
          </a:prstGeom>
        </p:spPr>
      </p:pic>
      <p:sp>
        <p:nvSpPr>
          <p:cNvPr id="5" name="TextBox 4">
            <a:extLst>
              <a:ext uri="{FF2B5EF4-FFF2-40B4-BE49-F238E27FC236}">
                <a16:creationId xmlns:a16="http://schemas.microsoft.com/office/drawing/2014/main" id="{47618DEF-D1FC-47B0-8E9C-AEBBCF533ED4}"/>
              </a:ext>
            </a:extLst>
          </p:cNvPr>
          <p:cNvSpPr txBox="1"/>
          <p:nvPr/>
        </p:nvSpPr>
        <p:spPr>
          <a:xfrm>
            <a:off x="1296139" y="5655076"/>
            <a:ext cx="6045694" cy="369332"/>
          </a:xfrm>
          <a:prstGeom prst="rect">
            <a:avLst/>
          </a:prstGeom>
          <a:noFill/>
        </p:spPr>
        <p:txBody>
          <a:bodyPr wrap="square" rtlCol="0">
            <a:spAutoFit/>
          </a:bodyPr>
          <a:lstStyle/>
          <a:p>
            <a:pPr algn="ctr"/>
            <a:r>
              <a:rPr lang="en-US" dirty="0"/>
              <a:t>Chapter 1 Vocational Nursing Pharmacology </a:t>
            </a:r>
          </a:p>
        </p:txBody>
      </p:sp>
      <p:sp>
        <p:nvSpPr>
          <p:cNvPr id="2" name="Slide Number Placeholder 1">
            <a:extLst>
              <a:ext uri="{FF2B5EF4-FFF2-40B4-BE49-F238E27FC236}">
                <a16:creationId xmlns:a16="http://schemas.microsoft.com/office/drawing/2014/main" id="{6C897FAC-0803-2B30-B7EB-EBF17C86A255}"/>
              </a:ext>
            </a:extLst>
          </p:cNvPr>
          <p:cNvSpPr>
            <a:spLocks noGrp="1"/>
          </p:cNvSpPr>
          <p:nvPr>
            <p:ph type="sldNum" sz="quarter" idx="12"/>
          </p:nvPr>
        </p:nvSpPr>
        <p:spPr/>
        <p:txBody>
          <a:bodyPr/>
          <a:lstStyle/>
          <a:p>
            <a:fld id="{F3F21C36-1BA9-4333-87E5-4E5D23EC055B}" type="slidenum">
              <a:rPr lang="en-US" smtClean="0"/>
              <a:t>1</a:t>
            </a:fld>
            <a:endParaRPr lang="en-US"/>
          </a:p>
        </p:txBody>
      </p:sp>
    </p:spTree>
    <p:extLst>
      <p:ext uri="{BB962C8B-B14F-4D97-AF65-F5344CB8AC3E}">
        <p14:creationId xmlns:p14="http://schemas.microsoft.com/office/powerpoint/2010/main" val="646025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4B75A-EA71-4DF4-F284-20B6B66B09ED}"/>
              </a:ext>
            </a:extLst>
          </p:cNvPr>
          <p:cNvSpPr>
            <a:spLocks noGrp="1"/>
          </p:cNvSpPr>
          <p:nvPr>
            <p:ph type="title"/>
          </p:nvPr>
        </p:nvSpPr>
        <p:spPr>
          <a:xfrm>
            <a:off x="357051" y="365125"/>
            <a:ext cx="11495315" cy="596409"/>
          </a:xfrm>
          <a:ln>
            <a:solidFill>
              <a:srgbClr val="7030A0"/>
            </a:solidFill>
          </a:ln>
        </p:spPr>
        <p:txBody>
          <a:bodyPr>
            <a:normAutofit/>
          </a:bodyPr>
          <a:lstStyle/>
          <a:p>
            <a:r>
              <a:rPr lang="en-US" sz="2800" dirty="0"/>
              <a:t>Pharmacology  Chapter 1</a:t>
            </a:r>
          </a:p>
        </p:txBody>
      </p:sp>
      <p:sp>
        <p:nvSpPr>
          <p:cNvPr id="3" name="Content Placeholder 2">
            <a:extLst>
              <a:ext uri="{FF2B5EF4-FFF2-40B4-BE49-F238E27FC236}">
                <a16:creationId xmlns:a16="http://schemas.microsoft.com/office/drawing/2014/main" id="{330BF139-248B-46D2-A1FA-E8CED7BC58E0}"/>
              </a:ext>
            </a:extLst>
          </p:cNvPr>
          <p:cNvSpPr>
            <a:spLocks noGrp="1"/>
          </p:cNvSpPr>
          <p:nvPr>
            <p:ph idx="1"/>
          </p:nvPr>
        </p:nvSpPr>
        <p:spPr>
          <a:xfrm>
            <a:off x="357051" y="1319753"/>
            <a:ext cx="11495315" cy="4857210"/>
          </a:xfrm>
          <a:ln w="28575">
            <a:solidFill>
              <a:srgbClr val="7030A0"/>
            </a:solidFill>
          </a:ln>
        </p:spPr>
        <p:txBody>
          <a:bodyPr numCol="3">
            <a:normAutofit/>
          </a:bodyPr>
          <a:lstStyle/>
          <a:p>
            <a:pPr marL="0" indent="0">
              <a:buNone/>
            </a:pPr>
            <a:r>
              <a:rPr lang="en-US" sz="1800" dirty="0"/>
              <a:t>KEY TERMS</a:t>
            </a:r>
          </a:p>
          <a:p>
            <a:pPr marL="0" indent="0">
              <a:buNone/>
            </a:pPr>
            <a:endParaRPr lang="en-US" sz="1800" dirty="0"/>
          </a:p>
          <a:p>
            <a:pPr marL="0" indent="0">
              <a:buNone/>
            </a:pPr>
            <a:r>
              <a:rPr lang="en-US" sz="1800" dirty="0"/>
              <a:t>Al-</a:t>
            </a:r>
            <a:r>
              <a:rPr lang="en-US" sz="1800" dirty="0" err="1"/>
              <a:t>Hawi</a:t>
            </a:r>
            <a:endParaRPr lang="en-US" sz="1800" dirty="0"/>
          </a:p>
          <a:p>
            <a:pPr marL="0" indent="0">
              <a:buNone/>
            </a:pPr>
            <a:endParaRPr lang="en-US" sz="1800" dirty="0"/>
          </a:p>
          <a:p>
            <a:pPr marL="0" indent="0">
              <a:buNone/>
            </a:pPr>
            <a:r>
              <a:rPr lang="en-US" sz="1800" dirty="0"/>
              <a:t>Alternative medicine (al-</a:t>
            </a:r>
            <a:r>
              <a:rPr lang="en-US" sz="1800" dirty="0" err="1"/>
              <a:t>tĕr</a:t>
            </a:r>
            <a:r>
              <a:rPr lang="en-US" sz="1800" dirty="0"/>
              <a:t>-</a:t>
            </a:r>
            <a:r>
              <a:rPr lang="en-US" sz="1800" dirty="0" err="1"/>
              <a:t>nā´tuvmed´ĭ</a:t>
            </a:r>
            <a:r>
              <a:rPr lang="en-US" sz="1800" dirty="0"/>
              <a:t>-sin)</a:t>
            </a:r>
          </a:p>
          <a:p>
            <a:pPr marL="0" indent="0">
              <a:buNone/>
            </a:pPr>
            <a:endParaRPr lang="en-US" sz="1800" dirty="0"/>
          </a:p>
          <a:p>
            <a:pPr marL="0" indent="0">
              <a:buNone/>
            </a:pPr>
            <a:r>
              <a:rPr lang="en-US" sz="1800" dirty="0"/>
              <a:t>Antineoplastic (ant´´</a:t>
            </a:r>
            <a:r>
              <a:rPr lang="en-US" sz="1800" dirty="0" err="1"/>
              <a:t>i-nē</a:t>
            </a:r>
            <a:r>
              <a:rPr lang="en-US" sz="1800" dirty="0"/>
              <a:t>´´ŏ-</a:t>
            </a:r>
            <a:r>
              <a:rPr lang="en-US" sz="1800" dirty="0" err="1"/>
              <a:t>plas´tik</a:t>
            </a:r>
            <a:r>
              <a:rPr lang="en-US" sz="1800" dirty="0"/>
              <a:t>)</a:t>
            </a:r>
          </a:p>
          <a:p>
            <a:pPr marL="0" indent="0">
              <a:buNone/>
            </a:pPr>
            <a:endParaRPr lang="en-US" sz="1800" dirty="0"/>
          </a:p>
          <a:p>
            <a:pPr marL="0" indent="0">
              <a:buNone/>
            </a:pPr>
            <a:r>
              <a:rPr lang="en-US" sz="1800" dirty="0"/>
              <a:t>Bovine (</a:t>
            </a:r>
            <a:r>
              <a:rPr lang="en-US" sz="1800" dirty="0" err="1"/>
              <a:t>bō´vīn</a:t>
            </a:r>
            <a:r>
              <a:rPr lang="en-US" sz="1800" dirty="0"/>
              <a:t>)</a:t>
            </a:r>
          </a:p>
          <a:p>
            <a:pPr marL="0" indent="0">
              <a:buNone/>
            </a:pPr>
            <a:endParaRPr lang="en-US" sz="1800" dirty="0"/>
          </a:p>
          <a:p>
            <a:pPr marL="0" indent="0">
              <a:buNone/>
            </a:pPr>
            <a:r>
              <a:rPr lang="en-US" sz="1800" dirty="0"/>
              <a:t>Curative (</a:t>
            </a:r>
            <a:r>
              <a:rPr lang="en-US" sz="1800" dirty="0" err="1"/>
              <a:t>kū´ră-tĭv</a:t>
            </a:r>
            <a:r>
              <a:rPr lang="en-US" sz="1800" dirty="0"/>
              <a:t>)</a:t>
            </a:r>
          </a:p>
          <a:p>
            <a:pPr marL="0" indent="0">
              <a:buNone/>
            </a:pPr>
            <a:endParaRPr lang="en-US" sz="1800" dirty="0"/>
          </a:p>
          <a:p>
            <a:pPr marL="0" indent="0">
              <a:buNone/>
            </a:pPr>
            <a:r>
              <a:rPr lang="en-US" sz="1800" dirty="0"/>
              <a:t>Destructive (</a:t>
            </a:r>
            <a:r>
              <a:rPr lang="en-US" sz="1800" dirty="0" err="1"/>
              <a:t>duh·struhk·tuhv</a:t>
            </a:r>
            <a:r>
              <a:rPr lang="en-US" sz="1800" dirty="0"/>
              <a:t>)</a:t>
            </a:r>
          </a:p>
          <a:p>
            <a:pPr marL="0" indent="0">
              <a:buNone/>
            </a:pPr>
            <a:endParaRPr lang="en-US" sz="1800" dirty="0"/>
          </a:p>
          <a:p>
            <a:pPr marL="0" indent="0">
              <a:buNone/>
            </a:pPr>
            <a:r>
              <a:rPr lang="en-US" sz="1800" dirty="0"/>
              <a:t>Diagnostic (</a:t>
            </a:r>
            <a:r>
              <a:rPr lang="en-US" sz="1800" dirty="0" err="1"/>
              <a:t>dī</a:t>
            </a:r>
            <a:r>
              <a:rPr lang="en-US" sz="1800" dirty="0"/>
              <a:t>´´ </a:t>
            </a:r>
            <a:r>
              <a:rPr lang="en-US" sz="1800" dirty="0" err="1"/>
              <a:t>ăg-nos´tik</a:t>
            </a:r>
            <a:r>
              <a:rPr lang="en-US" sz="1800" dirty="0"/>
              <a:t>)</a:t>
            </a:r>
          </a:p>
          <a:p>
            <a:pPr marL="0" indent="0">
              <a:buNone/>
            </a:pPr>
            <a:endParaRPr lang="en-US" sz="1800" dirty="0"/>
          </a:p>
          <a:p>
            <a:pPr marL="0" indent="0">
              <a:buNone/>
            </a:pPr>
            <a:r>
              <a:rPr lang="en-US" sz="1800" dirty="0"/>
              <a:t>Drug/</a:t>
            </a:r>
            <a:r>
              <a:rPr lang="en-US" sz="1800" dirty="0" err="1"/>
              <a:t>droog</a:t>
            </a:r>
            <a:r>
              <a:rPr lang="en-US" sz="1800" dirty="0"/>
              <a:t> (</a:t>
            </a:r>
            <a:r>
              <a:rPr lang="en-US" sz="1800" dirty="0" err="1"/>
              <a:t>drŭg</a:t>
            </a:r>
            <a:r>
              <a:rPr lang="en-US" sz="1800" dirty="0"/>
              <a:t>/</a:t>
            </a:r>
            <a:r>
              <a:rPr lang="en-US" sz="1800" dirty="0" err="1"/>
              <a:t>drôge</a:t>
            </a:r>
            <a:r>
              <a:rPr lang="en-US" sz="1800" dirty="0"/>
              <a:t>)</a:t>
            </a:r>
          </a:p>
          <a:p>
            <a:pPr marL="0" indent="0">
              <a:buNone/>
            </a:pPr>
            <a:endParaRPr lang="en-US" sz="1800" dirty="0"/>
          </a:p>
          <a:p>
            <a:pPr marL="0" indent="0">
              <a:buNone/>
            </a:pPr>
            <a:r>
              <a:rPr lang="en-US" sz="1800" dirty="0" err="1"/>
              <a:t>Ebers</a:t>
            </a:r>
            <a:r>
              <a:rPr lang="en-US" sz="1800" dirty="0"/>
              <a:t> papyrus (</a:t>
            </a:r>
            <a:r>
              <a:rPr lang="en-US" sz="1800" dirty="0" err="1"/>
              <a:t>Ebers</a:t>
            </a:r>
            <a:r>
              <a:rPr lang="en-US" sz="1800" dirty="0"/>
              <a:t> </a:t>
            </a:r>
            <a:r>
              <a:rPr lang="en-US" sz="1800" dirty="0" err="1"/>
              <a:t>puh·pai·ruhs</a:t>
            </a:r>
            <a:r>
              <a:rPr lang="en-US" sz="1800" dirty="0"/>
              <a:t>)</a:t>
            </a:r>
          </a:p>
          <a:p>
            <a:pPr marL="0" indent="0">
              <a:buNone/>
            </a:pPr>
            <a:endParaRPr lang="en-US" sz="1800" dirty="0"/>
          </a:p>
          <a:p>
            <a:pPr marL="0" indent="0">
              <a:buNone/>
            </a:pPr>
            <a:r>
              <a:rPr lang="en-US" sz="1800" dirty="0"/>
              <a:t>Palliative (păl´ē-ā´´</a:t>
            </a:r>
            <a:r>
              <a:rPr lang="en-US" sz="1800" dirty="0" err="1"/>
              <a:t>tĭv</a:t>
            </a:r>
            <a:r>
              <a:rPr lang="en-US" sz="1800" dirty="0"/>
              <a:t>)</a:t>
            </a:r>
          </a:p>
          <a:p>
            <a:pPr marL="0" indent="0">
              <a:buNone/>
            </a:pPr>
            <a:endParaRPr lang="en-US" sz="1800" dirty="0"/>
          </a:p>
          <a:p>
            <a:pPr marL="0" indent="0">
              <a:buNone/>
            </a:pPr>
            <a:r>
              <a:rPr lang="en-US" sz="1800" dirty="0"/>
              <a:t>Pharmacodynamics (</a:t>
            </a:r>
            <a:r>
              <a:rPr lang="en-US" sz="1800" dirty="0" err="1"/>
              <a:t>făr</a:t>
            </a:r>
            <a:r>
              <a:rPr lang="en-US" sz="1800" dirty="0"/>
              <a:t>´´</a:t>
            </a:r>
            <a:r>
              <a:rPr lang="en-US" sz="1800" dirty="0" err="1"/>
              <a:t>mă-kō-dī-năm´ĭks</a:t>
            </a:r>
            <a:r>
              <a:rPr lang="en-US" sz="1800" dirty="0"/>
              <a:t>)</a:t>
            </a:r>
          </a:p>
          <a:p>
            <a:pPr marL="0" indent="0">
              <a:buNone/>
            </a:pPr>
            <a:endParaRPr lang="en-US" sz="1800" dirty="0"/>
          </a:p>
          <a:p>
            <a:pPr marL="0" indent="0">
              <a:buNone/>
            </a:pPr>
            <a:r>
              <a:rPr lang="en-US" sz="1800" dirty="0"/>
              <a:t>Pharmakon (</a:t>
            </a:r>
            <a:r>
              <a:rPr lang="en-US" sz="1800" dirty="0" err="1"/>
              <a:t>făr</a:t>
            </a:r>
            <a:r>
              <a:rPr lang="en-US" sz="1800" dirty="0"/>
              <a:t>´´</a:t>
            </a:r>
            <a:r>
              <a:rPr lang="en-US" sz="1800" dirty="0" err="1"/>
              <a:t>mă-kn</a:t>
            </a:r>
            <a:r>
              <a:rPr lang="en-US" sz="1800" dirty="0"/>
              <a:t>)</a:t>
            </a:r>
          </a:p>
          <a:p>
            <a:pPr marL="0" indent="0">
              <a:buNone/>
            </a:pPr>
            <a:endParaRPr lang="en-US" sz="1800" dirty="0"/>
          </a:p>
          <a:p>
            <a:pPr marL="0" indent="0">
              <a:buNone/>
            </a:pPr>
            <a:r>
              <a:rPr lang="en-US" sz="1800" dirty="0"/>
              <a:t>Porcine (</a:t>
            </a:r>
            <a:r>
              <a:rPr lang="en-US" sz="1800" dirty="0" err="1"/>
              <a:t>por´sīn</a:t>
            </a:r>
            <a:r>
              <a:rPr lang="en-US" sz="1800" dirty="0"/>
              <a:t>´´)</a:t>
            </a:r>
          </a:p>
          <a:p>
            <a:pPr marL="0" indent="0">
              <a:buNone/>
            </a:pPr>
            <a:endParaRPr lang="en-US" sz="1800" dirty="0"/>
          </a:p>
          <a:p>
            <a:pPr marL="0" indent="0">
              <a:buNone/>
            </a:pPr>
            <a:r>
              <a:rPr lang="en-US" sz="1800" dirty="0"/>
              <a:t>Prophylactic (</a:t>
            </a:r>
            <a:r>
              <a:rPr lang="en-US" sz="1800" dirty="0" err="1"/>
              <a:t>prō</a:t>
            </a:r>
            <a:r>
              <a:rPr lang="en-US" sz="1800" dirty="0"/>
              <a:t>´´</a:t>
            </a:r>
            <a:r>
              <a:rPr lang="en-US" sz="1800" dirty="0" err="1"/>
              <a:t>fī-lak´tik</a:t>
            </a:r>
            <a:r>
              <a:rPr lang="en-US" sz="1800" dirty="0"/>
              <a:t>)</a:t>
            </a:r>
          </a:p>
          <a:p>
            <a:pPr marL="0" indent="0">
              <a:buNone/>
            </a:pPr>
            <a:endParaRPr lang="en-US" sz="1800" dirty="0"/>
          </a:p>
          <a:p>
            <a:pPr marL="0" indent="0">
              <a:buNone/>
            </a:pPr>
            <a:r>
              <a:rPr lang="en-US" sz="1800" dirty="0"/>
              <a:t>Replacement drugs (</a:t>
            </a:r>
            <a:r>
              <a:rPr lang="en-US" sz="1800" dirty="0" err="1"/>
              <a:t>ri-plās´mĕnt</a:t>
            </a:r>
            <a:r>
              <a:rPr lang="en-US" sz="1800" dirty="0"/>
              <a:t> </a:t>
            </a:r>
            <a:r>
              <a:rPr lang="en-US" sz="1800" dirty="0" err="1"/>
              <a:t>drŭgs</a:t>
            </a:r>
            <a:r>
              <a:rPr lang="en-US" sz="1800" dirty="0"/>
              <a:t>)</a:t>
            </a:r>
          </a:p>
          <a:p>
            <a:pPr marL="0" indent="0">
              <a:buNone/>
            </a:pPr>
            <a:endParaRPr lang="en-US" sz="1800" dirty="0"/>
          </a:p>
          <a:p>
            <a:pPr marL="0" indent="0">
              <a:buNone/>
            </a:pPr>
            <a:r>
              <a:rPr lang="en-US" sz="1800" dirty="0"/>
              <a:t>Synthetic drugs (</a:t>
            </a:r>
            <a:r>
              <a:rPr lang="en-US" sz="1800" dirty="0" err="1"/>
              <a:t>sĭn-thĕt´ĭk</a:t>
            </a:r>
            <a:r>
              <a:rPr lang="en-US" sz="1800" dirty="0"/>
              <a:t> </a:t>
            </a:r>
            <a:r>
              <a:rPr lang="en-US" sz="1800" dirty="0" err="1"/>
              <a:t>drŭgs</a:t>
            </a:r>
            <a:r>
              <a:rPr lang="en-US" sz="1800" dirty="0"/>
              <a:t>)</a:t>
            </a:r>
          </a:p>
        </p:txBody>
      </p:sp>
      <p:sp>
        <p:nvSpPr>
          <p:cNvPr id="4" name="Slide Number Placeholder 3">
            <a:extLst>
              <a:ext uri="{FF2B5EF4-FFF2-40B4-BE49-F238E27FC236}">
                <a16:creationId xmlns:a16="http://schemas.microsoft.com/office/drawing/2014/main" id="{49D3D0D2-90B3-E3CA-21EF-73746418A5DD}"/>
              </a:ext>
            </a:extLst>
          </p:cNvPr>
          <p:cNvSpPr>
            <a:spLocks noGrp="1"/>
          </p:cNvSpPr>
          <p:nvPr>
            <p:ph type="sldNum" sz="quarter" idx="12"/>
          </p:nvPr>
        </p:nvSpPr>
        <p:spPr/>
        <p:txBody>
          <a:bodyPr/>
          <a:lstStyle/>
          <a:p>
            <a:fld id="{F3F21C36-1BA9-4333-87E5-4E5D23EC055B}" type="slidenum">
              <a:rPr lang="en-US" smtClean="0"/>
              <a:t>2</a:t>
            </a:fld>
            <a:endParaRPr lang="en-US"/>
          </a:p>
        </p:txBody>
      </p:sp>
    </p:spTree>
    <p:extLst>
      <p:ext uri="{BB962C8B-B14F-4D97-AF65-F5344CB8AC3E}">
        <p14:creationId xmlns:p14="http://schemas.microsoft.com/office/powerpoint/2010/main" val="1786820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EAB09-B8E7-2B9B-22E6-94F5BB7F4D27}"/>
              </a:ext>
            </a:extLst>
          </p:cNvPr>
          <p:cNvSpPr>
            <a:spLocks noGrp="1"/>
          </p:cNvSpPr>
          <p:nvPr>
            <p:ph type="title"/>
          </p:nvPr>
        </p:nvSpPr>
        <p:spPr>
          <a:xfrm>
            <a:off x="409303" y="200297"/>
            <a:ext cx="10944497" cy="644435"/>
          </a:xfrm>
        </p:spPr>
        <p:txBody>
          <a:bodyPr>
            <a:normAutofit/>
          </a:bodyPr>
          <a:lstStyle/>
          <a:p>
            <a:r>
              <a:rPr lang="en-US" sz="2400" dirty="0"/>
              <a:t>History of Pharmacology</a:t>
            </a:r>
          </a:p>
        </p:txBody>
      </p:sp>
      <p:sp>
        <p:nvSpPr>
          <p:cNvPr id="3" name="Content Placeholder 2">
            <a:extLst>
              <a:ext uri="{FF2B5EF4-FFF2-40B4-BE49-F238E27FC236}">
                <a16:creationId xmlns:a16="http://schemas.microsoft.com/office/drawing/2014/main" id="{68FCCF13-59DE-552B-C73A-FA5D427AC1D3}"/>
              </a:ext>
            </a:extLst>
          </p:cNvPr>
          <p:cNvSpPr>
            <a:spLocks noGrp="1"/>
          </p:cNvSpPr>
          <p:nvPr>
            <p:ph idx="1"/>
          </p:nvPr>
        </p:nvSpPr>
        <p:spPr>
          <a:xfrm>
            <a:off x="409303" y="844732"/>
            <a:ext cx="11408228" cy="5332231"/>
          </a:xfrm>
        </p:spPr>
        <p:txBody>
          <a:bodyPr>
            <a:normAutofit/>
          </a:bodyPr>
          <a:lstStyle/>
          <a:p>
            <a:pPr marL="0" indent="0">
              <a:buNone/>
            </a:pPr>
            <a:r>
              <a:rPr lang="en-US" sz="1600" dirty="0"/>
              <a:t>In this lecture, you will learn about the history of pharmacology and sources used for developing drugs; the acceptance of alternative medicine, and its place in medicine; and the six main categories of drugs and their uses.</a:t>
            </a:r>
          </a:p>
          <a:p>
            <a:pPr marL="0" indent="0">
              <a:buNone/>
            </a:pPr>
            <a:endParaRPr lang="en-US" sz="1600" dirty="0"/>
          </a:p>
          <a:p>
            <a:pPr marL="0" indent="0">
              <a:buNone/>
            </a:pPr>
            <a:r>
              <a:rPr lang="en-US" sz="1600" dirty="0"/>
              <a:t>Many ancient cultures have contributed to the knowledge base and evolution of pharmacology, including Greek, Chinese, Egyptian, Persian, and Arabic. The healers were called by many names, but all shared extensive knowledge of plants, minerals, and animal products. </a:t>
            </a:r>
          </a:p>
          <a:p>
            <a:pPr marL="0" indent="0">
              <a:buNone/>
            </a:pPr>
            <a:r>
              <a:rPr lang="en-US" sz="1600" dirty="0"/>
              <a:t>“Healers” were known as wise men, shamans, witch doctors, medicine men and women, and so on (Fig. 1-1), depending on the culture, and were chosen based on their knowledge of which plants or other substance to use, how to prepare it, and how much to give the patient.</a:t>
            </a:r>
          </a:p>
          <a:p>
            <a:pPr marL="0" indent="0">
              <a:buNone/>
            </a:pPr>
            <a:endParaRPr lang="en-US" sz="1600" dirty="0"/>
          </a:p>
          <a:p>
            <a:pPr marL="0" indent="0">
              <a:buNone/>
            </a:pPr>
            <a:r>
              <a:rPr lang="en-US" sz="1600" dirty="0"/>
              <a:t>The term pharmacology is of Greek origin from two words: </a:t>
            </a:r>
            <a:r>
              <a:rPr lang="en-US" sz="1600" u="sng" dirty="0">
                <a:solidFill>
                  <a:srgbClr val="FF0000"/>
                </a:solidFill>
              </a:rPr>
              <a:t>pharmakon</a:t>
            </a:r>
            <a:r>
              <a:rPr lang="en-US" sz="1600" dirty="0"/>
              <a:t>, meaning “medicine,” and ology, meaning “the study of.”</a:t>
            </a:r>
          </a:p>
          <a:p>
            <a:pPr marL="0" indent="0">
              <a:buNone/>
            </a:pPr>
            <a:r>
              <a:rPr lang="en-US" sz="1600" dirty="0"/>
              <a:t>Pharmakon also meant </a:t>
            </a:r>
            <a:r>
              <a:rPr lang="en-US" sz="1600" u="sng" dirty="0"/>
              <a:t>poison</a:t>
            </a:r>
            <a:r>
              <a:rPr lang="en-US" sz="1600" dirty="0"/>
              <a:t> and </a:t>
            </a:r>
            <a:r>
              <a:rPr lang="en-US" sz="1600" u="sng" dirty="0"/>
              <a:t>remedy</a:t>
            </a:r>
            <a:r>
              <a:rPr lang="en-US" sz="1600" dirty="0"/>
              <a:t>, poison because some of the early medicines were toxic enough to kill, and remedy because, at times, early medicines cured the illness. The word drug has a Dutch origin in which </a:t>
            </a:r>
            <a:r>
              <a:rPr lang="en-US" sz="1600" u="sng" dirty="0" err="1">
                <a:solidFill>
                  <a:srgbClr val="FF0000"/>
                </a:solidFill>
              </a:rPr>
              <a:t>droog</a:t>
            </a:r>
            <a:r>
              <a:rPr lang="en-US" sz="1600" dirty="0"/>
              <a:t> meant “dry” as in the use of dry herbs.</a:t>
            </a:r>
            <a:endParaRPr lang="en-US" sz="2000" dirty="0"/>
          </a:p>
          <a:p>
            <a:pPr marL="0" indent="0">
              <a:buNone/>
            </a:pPr>
            <a:r>
              <a:rPr lang="en-US" sz="1600" u="sng" dirty="0">
                <a:solidFill>
                  <a:srgbClr val="FF0000"/>
                </a:solidFill>
              </a:rPr>
              <a:t>Alternative medicine</a:t>
            </a:r>
            <a:r>
              <a:rPr lang="en-US" sz="1600" dirty="0"/>
              <a:t>: the practice of using natural healing in conjunction with mainstream medicine. Some examples are acupuncture, massage therapy, and aromatherapy.</a:t>
            </a:r>
          </a:p>
          <a:p>
            <a:pPr marL="0" indent="0">
              <a:buNone/>
            </a:pPr>
            <a:endParaRPr lang="en-US" sz="1600" dirty="0"/>
          </a:p>
        </p:txBody>
      </p:sp>
      <p:sp>
        <p:nvSpPr>
          <p:cNvPr id="4" name="Slide Number Placeholder 3">
            <a:extLst>
              <a:ext uri="{FF2B5EF4-FFF2-40B4-BE49-F238E27FC236}">
                <a16:creationId xmlns:a16="http://schemas.microsoft.com/office/drawing/2014/main" id="{96A61C21-AFED-A280-F04E-303E6839A964}"/>
              </a:ext>
            </a:extLst>
          </p:cNvPr>
          <p:cNvSpPr>
            <a:spLocks noGrp="1"/>
          </p:cNvSpPr>
          <p:nvPr>
            <p:ph type="sldNum" sz="quarter" idx="12"/>
          </p:nvPr>
        </p:nvSpPr>
        <p:spPr/>
        <p:txBody>
          <a:bodyPr/>
          <a:lstStyle/>
          <a:p>
            <a:fld id="{F3F21C36-1BA9-4333-87E5-4E5D23EC055B}" type="slidenum">
              <a:rPr lang="en-US" smtClean="0"/>
              <a:t>3</a:t>
            </a:fld>
            <a:endParaRPr lang="en-US"/>
          </a:p>
        </p:txBody>
      </p:sp>
    </p:spTree>
    <p:extLst>
      <p:ext uri="{BB962C8B-B14F-4D97-AF65-F5344CB8AC3E}">
        <p14:creationId xmlns:p14="http://schemas.microsoft.com/office/powerpoint/2010/main" val="928703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1C7245-032D-F78D-4694-981579D6520B}"/>
              </a:ext>
            </a:extLst>
          </p:cNvPr>
          <p:cNvSpPr>
            <a:spLocks noGrp="1"/>
          </p:cNvSpPr>
          <p:nvPr>
            <p:ph type="title"/>
          </p:nvPr>
        </p:nvSpPr>
        <p:spPr>
          <a:xfrm>
            <a:off x="4965430" y="629268"/>
            <a:ext cx="6586491" cy="1286160"/>
          </a:xfrm>
        </p:spPr>
        <p:txBody>
          <a:bodyPr anchor="b">
            <a:normAutofit/>
          </a:bodyPr>
          <a:lstStyle/>
          <a:p>
            <a:r>
              <a:rPr lang="en-US" sz="4100"/>
              <a:t>Pharmacology in Ancient Times and Cultures</a:t>
            </a:r>
          </a:p>
        </p:txBody>
      </p:sp>
      <p:sp>
        <p:nvSpPr>
          <p:cNvPr id="5" name="Content Placeholder 4">
            <a:extLst>
              <a:ext uri="{FF2B5EF4-FFF2-40B4-BE49-F238E27FC236}">
                <a16:creationId xmlns:a16="http://schemas.microsoft.com/office/drawing/2014/main" id="{CD5CA9FD-66FA-A87F-5FA5-DE0235552A13}"/>
              </a:ext>
            </a:extLst>
          </p:cNvPr>
          <p:cNvSpPr>
            <a:spLocks noGrp="1"/>
          </p:cNvSpPr>
          <p:nvPr>
            <p:ph idx="1"/>
          </p:nvPr>
        </p:nvSpPr>
        <p:spPr>
          <a:xfrm>
            <a:off x="4965431" y="2438400"/>
            <a:ext cx="6586489" cy="3785419"/>
          </a:xfrm>
        </p:spPr>
        <p:txBody>
          <a:bodyPr>
            <a:normAutofit/>
          </a:bodyPr>
          <a:lstStyle/>
          <a:p>
            <a:pPr marL="0" indent="0">
              <a:buNone/>
            </a:pPr>
            <a:r>
              <a:rPr lang="en-US" sz="1700" dirty="0"/>
              <a:t>“The Yellow Emperors’ Inner Classic,” a Chinese document, was a very early discussion of yin-yang and acupuncture. The first Chinese manual on pharmacology was written in the first century AD and included 365 medicines, 252 of which were herbs. </a:t>
            </a:r>
          </a:p>
          <a:p>
            <a:pPr marL="0" indent="0">
              <a:buNone/>
            </a:pPr>
            <a:endParaRPr lang="en-US" sz="1700" dirty="0"/>
          </a:p>
          <a:p>
            <a:pPr marL="0" indent="0">
              <a:buNone/>
            </a:pPr>
            <a:r>
              <a:rPr lang="en-US" sz="1700" dirty="0"/>
              <a:t>In Egypt, a medical document called the </a:t>
            </a:r>
            <a:r>
              <a:rPr lang="en-US" sz="1700" u="sng" dirty="0" err="1">
                <a:solidFill>
                  <a:srgbClr val="FF0000"/>
                </a:solidFill>
              </a:rPr>
              <a:t>Ebers</a:t>
            </a:r>
            <a:r>
              <a:rPr lang="en-US" sz="1700" u="sng" dirty="0">
                <a:solidFill>
                  <a:srgbClr val="FF0000"/>
                </a:solidFill>
              </a:rPr>
              <a:t> Papyrus </a:t>
            </a:r>
            <a:r>
              <a:rPr lang="en-US" sz="1700" dirty="0"/>
              <a:t>was written circa 1550 BC and lists about 700 “recipes” for a host of illnesses, from crocodile bites to psychiatric illnesses. </a:t>
            </a:r>
          </a:p>
          <a:p>
            <a:pPr marL="0" indent="0">
              <a:buNone/>
            </a:pPr>
            <a:endParaRPr lang="en-US" sz="1700" dirty="0"/>
          </a:p>
          <a:p>
            <a:pPr marL="0" indent="0">
              <a:buNone/>
            </a:pPr>
            <a:r>
              <a:rPr lang="en-US" sz="1700" dirty="0"/>
              <a:t>The </a:t>
            </a:r>
            <a:r>
              <a:rPr lang="en-US" sz="1700" u="sng" dirty="0">
                <a:solidFill>
                  <a:srgbClr val="FF0000"/>
                </a:solidFill>
              </a:rPr>
              <a:t>Al-</a:t>
            </a:r>
            <a:r>
              <a:rPr lang="en-US" sz="1700" u="sng" dirty="0" err="1">
                <a:solidFill>
                  <a:srgbClr val="FF0000"/>
                </a:solidFill>
              </a:rPr>
              <a:t>Hawi</a:t>
            </a:r>
            <a:r>
              <a:rPr lang="en-US" sz="1700" dirty="0"/>
              <a:t>, is a large, 20-volume medical book written by the physician Al-Razi in ancient Persia (Iran). It was translated into Latin in the 13th century and greatly influenced medicine in medieval Europe.</a:t>
            </a:r>
          </a:p>
        </p:txBody>
      </p:sp>
      <p:pic>
        <p:nvPicPr>
          <p:cNvPr id="6" name="Picture 5">
            <a:extLst>
              <a:ext uri="{FF2B5EF4-FFF2-40B4-BE49-F238E27FC236}">
                <a16:creationId xmlns:a16="http://schemas.microsoft.com/office/drawing/2014/main" id="{EE7C93EA-F170-B63B-5DCB-2F257648B2EA}"/>
              </a:ext>
            </a:extLst>
          </p:cNvPr>
          <p:cNvPicPr>
            <a:picLocks noChangeAspect="1"/>
          </p:cNvPicPr>
          <p:nvPr/>
        </p:nvPicPr>
        <p:blipFill rotWithShape="1">
          <a:blip r:embed="rId2"/>
          <a:srcRect t="1488" r="2" b="7899"/>
          <a:stretch/>
        </p:blipFill>
        <p:spPr>
          <a:xfrm>
            <a:off x="20" y="10"/>
            <a:ext cx="4635571" cy="6857990"/>
          </a:xfrm>
          <a:prstGeom prst="rect">
            <a:avLst/>
          </a:prstGeom>
          <a:effectLst/>
        </p:spPr>
      </p:pic>
      <p:cxnSp>
        <p:nvCxnSpPr>
          <p:cNvPr id="11" name="Straight Connector 10">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A3C40C3-B89B-3B85-99A4-EA23AEBDBBB4}"/>
              </a:ext>
            </a:extLst>
          </p:cNvPr>
          <p:cNvSpPr txBox="1"/>
          <p:nvPr/>
        </p:nvSpPr>
        <p:spPr>
          <a:xfrm>
            <a:off x="4871813" y="6223819"/>
            <a:ext cx="6773724" cy="261610"/>
          </a:xfrm>
          <a:prstGeom prst="rect">
            <a:avLst/>
          </a:prstGeom>
          <a:noFill/>
        </p:spPr>
        <p:txBody>
          <a:bodyPr wrap="square">
            <a:spAutoFit/>
          </a:bodyPr>
          <a:lstStyle/>
          <a:p>
            <a:r>
              <a:rPr lang="en-US" sz="1100" dirty="0"/>
              <a:t>FIGURE 1-1 Eskimo medicine man. (From the Library of Congress Prints and Photographs Division, Washington, D.C.)</a:t>
            </a:r>
          </a:p>
        </p:txBody>
      </p:sp>
      <p:sp>
        <p:nvSpPr>
          <p:cNvPr id="2" name="Slide Number Placeholder 1">
            <a:extLst>
              <a:ext uri="{FF2B5EF4-FFF2-40B4-BE49-F238E27FC236}">
                <a16:creationId xmlns:a16="http://schemas.microsoft.com/office/drawing/2014/main" id="{35E59A7F-69EE-F250-33E9-10425954BE6B}"/>
              </a:ext>
            </a:extLst>
          </p:cNvPr>
          <p:cNvSpPr>
            <a:spLocks noGrp="1"/>
          </p:cNvSpPr>
          <p:nvPr>
            <p:ph type="sldNum" sz="quarter" idx="12"/>
          </p:nvPr>
        </p:nvSpPr>
        <p:spPr/>
        <p:txBody>
          <a:bodyPr/>
          <a:lstStyle/>
          <a:p>
            <a:fld id="{F3F21C36-1BA9-4333-87E5-4E5D23EC055B}" type="slidenum">
              <a:rPr lang="en-US" smtClean="0"/>
              <a:t>4</a:t>
            </a:fld>
            <a:endParaRPr lang="en-US"/>
          </a:p>
        </p:txBody>
      </p:sp>
    </p:spTree>
    <p:extLst>
      <p:ext uri="{BB962C8B-B14F-4D97-AF65-F5344CB8AC3E}">
        <p14:creationId xmlns:p14="http://schemas.microsoft.com/office/powerpoint/2010/main" val="3341976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7081D-4FE0-686C-0F9C-0EE5AB9F7B5A}"/>
              </a:ext>
            </a:extLst>
          </p:cNvPr>
          <p:cNvSpPr>
            <a:spLocks noGrp="1"/>
          </p:cNvSpPr>
          <p:nvPr>
            <p:ph type="title"/>
          </p:nvPr>
        </p:nvSpPr>
        <p:spPr>
          <a:xfrm>
            <a:off x="357051" y="365125"/>
            <a:ext cx="11530149" cy="706029"/>
          </a:xfrm>
        </p:spPr>
        <p:txBody>
          <a:bodyPr>
            <a:noAutofit/>
          </a:bodyPr>
          <a:lstStyle/>
          <a:p>
            <a:r>
              <a:rPr lang="en-US" sz="3200" dirty="0"/>
              <a:t>Pharmacological Advances Through the 19th and 20th Centuries</a:t>
            </a:r>
          </a:p>
        </p:txBody>
      </p:sp>
      <p:sp>
        <p:nvSpPr>
          <p:cNvPr id="3" name="Content Placeholder 2">
            <a:extLst>
              <a:ext uri="{FF2B5EF4-FFF2-40B4-BE49-F238E27FC236}">
                <a16:creationId xmlns:a16="http://schemas.microsoft.com/office/drawing/2014/main" id="{768B1717-177D-E87A-C9AD-68ED892D441F}"/>
              </a:ext>
            </a:extLst>
          </p:cNvPr>
          <p:cNvSpPr>
            <a:spLocks noGrp="1"/>
          </p:cNvSpPr>
          <p:nvPr>
            <p:ph idx="1"/>
          </p:nvPr>
        </p:nvSpPr>
        <p:spPr>
          <a:xfrm>
            <a:off x="357051" y="1262743"/>
            <a:ext cx="10996749" cy="4914220"/>
          </a:xfrm>
        </p:spPr>
        <p:txBody>
          <a:bodyPr>
            <a:normAutofit/>
          </a:bodyPr>
          <a:lstStyle/>
          <a:p>
            <a:pPr marL="0" indent="0">
              <a:buNone/>
            </a:pPr>
            <a:r>
              <a:rPr lang="en-US" sz="1600" dirty="0"/>
              <a:t>The contributions from these cultures led to the advancement of pharmacology. When treatments for many conditions were discovered, the findings were recorded on papyrus or paper to pass on to future generations. </a:t>
            </a:r>
          </a:p>
          <a:p>
            <a:pPr marL="0" indent="0">
              <a:buNone/>
            </a:pPr>
            <a:r>
              <a:rPr lang="en-US" sz="1600" dirty="0"/>
              <a:t>Documenting this early information was extremely important, as belief systems changed over time. Without these earlier writings, traditional oral knowledge might have been lost or suppressed and much progress could not have been made.</a:t>
            </a:r>
          </a:p>
          <a:p>
            <a:pPr marL="0" indent="0">
              <a:buNone/>
            </a:pPr>
            <a:endParaRPr lang="en-US" sz="1600" dirty="0"/>
          </a:p>
          <a:p>
            <a:pPr marL="0" indent="0">
              <a:buNone/>
            </a:pPr>
            <a:r>
              <a:rPr lang="en-US" sz="1600" dirty="0"/>
              <a:t>During the 1800s, chemists were able to identify and then isolate the active ingredients (those pure chemicals in the plants that had the actual therapeutic properties). They were also able to determine how the drug acted on the body. This marked the beginning of modern pharmacology.</a:t>
            </a:r>
          </a:p>
          <a:p>
            <a:pPr marL="0" indent="0">
              <a:buNone/>
            </a:pPr>
            <a:endParaRPr lang="en-US" sz="1600" dirty="0"/>
          </a:p>
          <a:p>
            <a:pPr marL="0" indent="0">
              <a:buNone/>
            </a:pPr>
            <a:r>
              <a:rPr lang="en-US" sz="1600" dirty="0"/>
              <a:t>Not until World War II (1939 to 1945) did the mass production of medicine begin (Fig. 1-3). </a:t>
            </a:r>
          </a:p>
          <a:p>
            <a:pPr marL="0" indent="0">
              <a:buNone/>
            </a:pPr>
            <a:r>
              <a:rPr lang="en-US" sz="1600" dirty="0"/>
              <a:t>More U.S. soldiers died in World War I from infection and accidents than from actual combat injuries; however, the mass production of penicillin minimized the number of deaths from infection during World War II (Table 1-1). </a:t>
            </a:r>
          </a:p>
          <a:p>
            <a:pPr marL="0" indent="0">
              <a:buNone/>
            </a:pPr>
            <a:endParaRPr lang="en-US" sz="1600" dirty="0"/>
          </a:p>
          <a:p>
            <a:pPr marL="0" indent="0">
              <a:buNone/>
            </a:pPr>
            <a:r>
              <a:rPr lang="en-US" sz="1600" dirty="0"/>
              <a:t>For instance, the death rate from pneumonia in the U.S. Army was 18% during World War I, decreasing to 1% during World War II. Death from combat injuries complicated by infections also decreased.</a:t>
            </a:r>
          </a:p>
          <a:p>
            <a:pPr marL="0" indent="0">
              <a:buNone/>
            </a:pPr>
            <a:endParaRPr lang="en-US" sz="1600" dirty="0"/>
          </a:p>
          <a:p>
            <a:pPr marL="0" indent="0">
              <a:buNone/>
            </a:pPr>
            <a:endParaRPr lang="en-US" sz="1600" dirty="0"/>
          </a:p>
        </p:txBody>
      </p:sp>
      <p:sp>
        <p:nvSpPr>
          <p:cNvPr id="4" name="Slide Number Placeholder 3">
            <a:extLst>
              <a:ext uri="{FF2B5EF4-FFF2-40B4-BE49-F238E27FC236}">
                <a16:creationId xmlns:a16="http://schemas.microsoft.com/office/drawing/2014/main" id="{6A31234B-51EC-7133-3CA7-DC2E581A0D9D}"/>
              </a:ext>
            </a:extLst>
          </p:cNvPr>
          <p:cNvSpPr>
            <a:spLocks noGrp="1"/>
          </p:cNvSpPr>
          <p:nvPr>
            <p:ph type="sldNum" sz="quarter" idx="12"/>
          </p:nvPr>
        </p:nvSpPr>
        <p:spPr/>
        <p:txBody>
          <a:bodyPr/>
          <a:lstStyle/>
          <a:p>
            <a:fld id="{F3F21C36-1BA9-4333-87E5-4E5D23EC055B}" type="slidenum">
              <a:rPr lang="en-US" smtClean="0"/>
              <a:t>5</a:t>
            </a:fld>
            <a:endParaRPr lang="en-US"/>
          </a:p>
        </p:txBody>
      </p:sp>
    </p:spTree>
    <p:extLst>
      <p:ext uri="{BB962C8B-B14F-4D97-AF65-F5344CB8AC3E}">
        <p14:creationId xmlns:p14="http://schemas.microsoft.com/office/powerpoint/2010/main" val="3334136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6708FAB-3898-47A9-B05A-AB9ECBD9E7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37081D-4FE0-686C-0F9C-0EE5AB9F7B5A}"/>
              </a:ext>
            </a:extLst>
          </p:cNvPr>
          <p:cNvSpPr>
            <a:spLocks noGrp="1"/>
          </p:cNvSpPr>
          <p:nvPr>
            <p:ph type="title"/>
          </p:nvPr>
        </p:nvSpPr>
        <p:spPr>
          <a:xfrm>
            <a:off x="383177" y="415154"/>
            <a:ext cx="10771727" cy="1150470"/>
          </a:xfrm>
        </p:spPr>
        <p:txBody>
          <a:bodyPr anchor="b">
            <a:normAutofit/>
          </a:bodyPr>
          <a:lstStyle/>
          <a:p>
            <a:r>
              <a:rPr lang="en-US" sz="3700" dirty="0"/>
              <a:t>Pharmacological Advances Through the 19th and 20th Centuries</a:t>
            </a:r>
          </a:p>
        </p:txBody>
      </p:sp>
      <p:sp>
        <p:nvSpPr>
          <p:cNvPr id="3" name="Content Placeholder 2">
            <a:extLst>
              <a:ext uri="{FF2B5EF4-FFF2-40B4-BE49-F238E27FC236}">
                <a16:creationId xmlns:a16="http://schemas.microsoft.com/office/drawing/2014/main" id="{768B1717-177D-E87A-C9AD-68ED892D441F}"/>
              </a:ext>
            </a:extLst>
          </p:cNvPr>
          <p:cNvSpPr>
            <a:spLocks noGrp="1"/>
          </p:cNvSpPr>
          <p:nvPr>
            <p:ph idx="1"/>
          </p:nvPr>
        </p:nvSpPr>
        <p:spPr>
          <a:xfrm>
            <a:off x="273377" y="1980775"/>
            <a:ext cx="7136091" cy="3632824"/>
          </a:xfrm>
        </p:spPr>
        <p:txBody>
          <a:bodyPr anchor="t">
            <a:normAutofit/>
          </a:bodyPr>
          <a:lstStyle/>
          <a:p>
            <a:pPr marL="0" indent="0">
              <a:buNone/>
            </a:pPr>
            <a:r>
              <a:rPr lang="en-US" sz="1400" dirty="0"/>
              <a:t>In an effort to discover possible new drugs, researchers studied plants, marine animals, and microorganisms in the soil, water, and air.</a:t>
            </a:r>
          </a:p>
          <a:p>
            <a:pPr marL="0" indent="0">
              <a:buNone/>
            </a:pPr>
            <a:r>
              <a:rPr lang="en-US" sz="1400" dirty="0"/>
              <a:t>Partially or totally synthesized medications were produced by combining two or more compounds or elements. </a:t>
            </a:r>
          </a:p>
          <a:p>
            <a:pPr marL="0" indent="0">
              <a:buNone/>
            </a:pPr>
            <a:r>
              <a:rPr lang="en-US" sz="1400" u="sng" dirty="0">
                <a:solidFill>
                  <a:srgbClr val="FF0000"/>
                </a:solidFill>
              </a:rPr>
              <a:t>Partially synthesized </a:t>
            </a:r>
            <a:r>
              <a:rPr lang="en-US" sz="1400" dirty="0"/>
              <a:t>medications were made by adding a pure chemical to a natural substance. </a:t>
            </a:r>
          </a:p>
          <a:p>
            <a:pPr marL="0" indent="0">
              <a:buNone/>
            </a:pPr>
            <a:r>
              <a:rPr lang="en-US" sz="1400" u="sng" dirty="0">
                <a:solidFill>
                  <a:srgbClr val="FF0000"/>
                </a:solidFill>
              </a:rPr>
              <a:t>Totally synthesized </a:t>
            </a:r>
            <a:r>
              <a:rPr lang="en-US" sz="1400" dirty="0"/>
              <a:t>medications were created by combing two or more pure chemicals to produce a new substance that could be used as a medication. </a:t>
            </a:r>
          </a:p>
          <a:p>
            <a:pPr marL="0" indent="0">
              <a:buNone/>
            </a:pPr>
            <a:r>
              <a:rPr lang="en-US" sz="1400" dirty="0"/>
              <a:t>One major breakthrough was the discovery of ways to create large amounts of viable drugs from a small number of natural resources using genetic engineering.</a:t>
            </a:r>
          </a:p>
          <a:p>
            <a:pPr marL="0" indent="0">
              <a:buNone/>
            </a:pPr>
            <a:r>
              <a:rPr lang="en-US" sz="1400" dirty="0"/>
              <a:t>For example, human insulin can be mass-produced by adding the human insulin gene to a nonpathogenic strain of Escherichia coli.</a:t>
            </a:r>
          </a:p>
          <a:p>
            <a:pPr marL="0" indent="0">
              <a:buNone/>
            </a:pPr>
            <a:endParaRPr lang="en-US" sz="1400" dirty="0"/>
          </a:p>
        </p:txBody>
      </p:sp>
      <p:pic>
        <p:nvPicPr>
          <p:cNvPr id="4" name="Picture 3">
            <a:extLst>
              <a:ext uri="{FF2B5EF4-FFF2-40B4-BE49-F238E27FC236}">
                <a16:creationId xmlns:a16="http://schemas.microsoft.com/office/drawing/2014/main" id="{0BCCF344-89B9-AA01-0691-0DC4925E4EA1}"/>
              </a:ext>
            </a:extLst>
          </p:cNvPr>
          <p:cNvPicPr>
            <a:picLocks noChangeAspect="1"/>
          </p:cNvPicPr>
          <p:nvPr/>
        </p:nvPicPr>
        <p:blipFill rotWithShape="1">
          <a:blip r:embed="rId2"/>
          <a:srcRect l="29028" r="19375" b="-1"/>
          <a:stretch/>
        </p:blipFill>
        <p:spPr>
          <a:xfrm>
            <a:off x="7646838" y="1980775"/>
            <a:ext cx="3748858" cy="3632824"/>
          </a:xfrm>
          <a:prstGeom prst="rect">
            <a:avLst/>
          </a:prstGeom>
        </p:spPr>
      </p:pic>
      <p:sp>
        <p:nvSpPr>
          <p:cNvPr id="18" name="Rectangle 17">
            <a:extLst>
              <a:ext uri="{FF2B5EF4-FFF2-40B4-BE49-F238E27FC236}">
                <a16:creationId xmlns:a16="http://schemas.microsoft.com/office/drawing/2014/main" id="{2E438CA0-CB4D-4C94-8C39-9C7FC9BBEE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1962"/>
            <a:ext cx="12191998" cy="461774"/>
          </a:xfrm>
          <a:prstGeom prst="rect">
            <a:avLst/>
          </a:prstGeom>
          <a:gradFill>
            <a:gsLst>
              <a:gs pos="0">
                <a:srgbClr val="000000"/>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B2C05E3-84E7-4957-95EF-B471CBF71C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1962"/>
            <a:ext cx="4076698" cy="464399"/>
          </a:xfrm>
          <a:prstGeom prst="rect">
            <a:avLst/>
          </a:prstGeom>
          <a:gradFill>
            <a:gsLst>
              <a:gs pos="0">
                <a:srgbClr val="000000">
                  <a:alpha val="46000"/>
                </a:srgbClr>
              </a:gs>
              <a:gs pos="99000">
                <a:schemeClr val="accent1"/>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C81D8861-0773-C0A6-7510-540693E6D106}"/>
              </a:ext>
            </a:extLst>
          </p:cNvPr>
          <p:cNvSpPr>
            <a:spLocks noGrp="1"/>
          </p:cNvSpPr>
          <p:nvPr>
            <p:ph type="sldNum" sz="quarter" idx="12"/>
          </p:nvPr>
        </p:nvSpPr>
        <p:spPr/>
        <p:txBody>
          <a:bodyPr/>
          <a:lstStyle/>
          <a:p>
            <a:fld id="{F3F21C36-1BA9-4333-87E5-4E5D23EC055B}" type="slidenum">
              <a:rPr lang="en-US" smtClean="0"/>
              <a:t>6</a:t>
            </a:fld>
            <a:endParaRPr lang="en-US"/>
          </a:p>
        </p:txBody>
      </p:sp>
    </p:spTree>
    <p:extLst>
      <p:ext uri="{BB962C8B-B14F-4D97-AF65-F5344CB8AC3E}">
        <p14:creationId xmlns:p14="http://schemas.microsoft.com/office/powerpoint/2010/main" val="399148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86AA2DA-281A-4806-8977-D617AEAC83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185774-6FC0-4B8D-A8DB-A885468896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59988" y="0"/>
            <a:ext cx="2632012" cy="6858000"/>
          </a:xfrm>
          <a:custGeom>
            <a:avLst/>
            <a:gdLst>
              <a:gd name="connsiteX0" fmla="*/ 932173 w 2632012"/>
              <a:gd name="connsiteY0" fmla="*/ 1512545 h 6858000"/>
              <a:gd name="connsiteX1" fmla="*/ 932462 w 2632012"/>
              <a:gd name="connsiteY1" fmla="*/ 1512581 h 6858000"/>
              <a:gd name="connsiteX2" fmla="*/ 932378 w 2632012"/>
              <a:gd name="connsiteY2" fmla="*/ 1512599 h 6858000"/>
              <a:gd name="connsiteX3" fmla="*/ 932173 w 2632012"/>
              <a:gd name="connsiteY3" fmla="*/ 1512545 h 6858000"/>
              <a:gd name="connsiteX4" fmla="*/ 1207569 w 2632012"/>
              <a:gd name="connsiteY4" fmla="*/ 0 h 6858000"/>
              <a:gd name="connsiteX5" fmla="*/ 2632012 w 2632012"/>
              <a:gd name="connsiteY5" fmla="*/ 0 h 6858000"/>
              <a:gd name="connsiteX6" fmla="*/ 2632012 w 2632012"/>
              <a:gd name="connsiteY6" fmla="*/ 6858000 h 6858000"/>
              <a:gd name="connsiteX7" fmla="*/ 13514 w 2632012"/>
              <a:gd name="connsiteY7" fmla="*/ 6858000 h 6858000"/>
              <a:gd name="connsiteX8" fmla="*/ 13170 w 2632012"/>
              <a:gd name="connsiteY8" fmla="*/ 6812829 h 6858000"/>
              <a:gd name="connsiteX9" fmla="*/ 20332 w 2632012"/>
              <a:gd name="connsiteY9" fmla="*/ 6760689 h 6858000"/>
              <a:gd name="connsiteX10" fmla="*/ 25596 w 2632012"/>
              <a:gd name="connsiteY10" fmla="*/ 6721251 h 6858000"/>
              <a:gd name="connsiteX11" fmla="*/ 22507 w 2632012"/>
              <a:gd name="connsiteY11" fmla="*/ 6650499 h 6858000"/>
              <a:gd name="connsiteX12" fmla="*/ 22444 w 2632012"/>
              <a:gd name="connsiteY12" fmla="*/ 6604241 h 6858000"/>
              <a:gd name="connsiteX13" fmla="*/ 31867 w 2632012"/>
              <a:gd name="connsiteY13" fmla="*/ 6559984 h 6858000"/>
              <a:gd name="connsiteX14" fmla="*/ 38635 w 2632012"/>
              <a:gd name="connsiteY14" fmla="*/ 6515473 h 6858000"/>
              <a:gd name="connsiteX15" fmla="*/ 38467 w 2632012"/>
              <a:gd name="connsiteY15" fmla="*/ 6463736 h 6858000"/>
              <a:gd name="connsiteX16" fmla="*/ 38052 w 2632012"/>
              <a:gd name="connsiteY16" fmla="*/ 6432794 h 6858000"/>
              <a:gd name="connsiteX17" fmla="*/ 80445 w 2632012"/>
              <a:gd name="connsiteY17" fmla="*/ 6301309 h 6858000"/>
              <a:gd name="connsiteX18" fmla="*/ 138157 w 2632012"/>
              <a:gd name="connsiteY18" fmla="*/ 6257030 h 6858000"/>
              <a:gd name="connsiteX19" fmla="*/ 170419 w 2632012"/>
              <a:gd name="connsiteY19" fmla="*/ 6171255 h 6858000"/>
              <a:gd name="connsiteX20" fmla="*/ 164027 w 2632012"/>
              <a:gd name="connsiteY20" fmla="*/ 6164357 h 6858000"/>
              <a:gd name="connsiteX21" fmla="*/ 213309 w 2632012"/>
              <a:gd name="connsiteY21" fmla="*/ 6109331 h 6858000"/>
              <a:gd name="connsiteX22" fmla="*/ 220409 w 2632012"/>
              <a:gd name="connsiteY22" fmla="*/ 6022287 h 6858000"/>
              <a:gd name="connsiteX23" fmla="*/ 183756 w 2632012"/>
              <a:gd name="connsiteY23" fmla="*/ 5808789 h 6858000"/>
              <a:gd name="connsiteX24" fmla="*/ 138134 w 2632012"/>
              <a:gd name="connsiteY24" fmla="*/ 5616065 h 6858000"/>
              <a:gd name="connsiteX25" fmla="*/ 276721 w 2632012"/>
              <a:gd name="connsiteY25" fmla="*/ 4162848 h 6858000"/>
              <a:gd name="connsiteX26" fmla="*/ 343082 w 2632012"/>
              <a:gd name="connsiteY26" fmla="*/ 3059377 h 6858000"/>
              <a:gd name="connsiteX27" fmla="*/ 357677 w 2632012"/>
              <a:gd name="connsiteY27" fmla="*/ 2548608 h 6858000"/>
              <a:gd name="connsiteX28" fmla="*/ 399465 w 2632012"/>
              <a:gd name="connsiteY28" fmla="*/ 2412506 h 6858000"/>
              <a:gd name="connsiteX29" fmla="*/ 446400 w 2632012"/>
              <a:gd name="connsiteY29" fmla="*/ 2252507 h 6858000"/>
              <a:gd name="connsiteX30" fmla="*/ 569515 w 2632012"/>
              <a:gd name="connsiteY30" fmla="*/ 2091909 h 6858000"/>
              <a:gd name="connsiteX31" fmla="*/ 638163 w 2632012"/>
              <a:gd name="connsiteY31" fmla="*/ 1994147 h 6858000"/>
              <a:gd name="connsiteX32" fmla="*/ 737312 w 2632012"/>
              <a:gd name="connsiteY32" fmla="*/ 1871408 h 6858000"/>
              <a:gd name="connsiteX33" fmla="*/ 788501 w 2632012"/>
              <a:gd name="connsiteY33" fmla="*/ 1793826 h 6858000"/>
              <a:gd name="connsiteX34" fmla="*/ 819432 w 2632012"/>
              <a:gd name="connsiteY34" fmla="*/ 1746824 h 6858000"/>
              <a:gd name="connsiteX35" fmla="*/ 843936 w 2632012"/>
              <a:gd name="connsiteY35" fmla="*/ 1697348 h 6858000"/>
              <a:gd name="connsiteX36" fmla="*/ 846526 w 2632012"/>
              <a:gd name="connsiteY36" fmla="*/ 1659754 h 6858000"/>
              <a:gd name="connsiteX37" fmla="*/ 873830 w 2632012"/>
              <a:gd name="connsiteY37" fmla="*/ 1628041 h 6858000"/>
              <a:gd name="connsiteX38" fmla="*/ 890626 w 2632012"/>
              <a:gd name="connsiteY38" fmla="*/ 1599883 h 6858000"/>
              <a:gd name="connsiteX39" fmla="*/ 921288 w 2632012"/>
              <a:gd name="connsiteY39" fmla="*/ 1579569 h 6858000"/>
              <a:gd name="connsiteX40" fmla="*/ 920756 w 2632012"/>
              <a:gd name="connsiteY40" fmla="*/ 1537369 h 6858000"/>
              <a:gd name="connsiteX41" fmla="*/ 946290 w 2632012"/>
              <a:gd name="connsiteY41" fmla="*/ 1514308 h 6858000"/>
              <a:gd name="connsiteX42" fmla="*/ 932462 w 2632012"/>
              <a:gd name="connsiteY42" fmla="*/ 1512581 h 6858000"/>
              <a:gd name="connsiteX43" fmla="*/ 940652 w 2632012"/>
              <a:gd name="connsiteY43" fmla="*/ 1510839 h 6858000"/>
              <a:gd name="connsiteX44" fmla="*/ 950739 w 2632012"/>
              <a:gd name="connsiteY44" fmla="*/ 1503635 h 6858000"/>
              <a:gd name="connsiteX45" fmla="*/ 966405 w 2632012"/>
              <a:gd name="connsiteY45" fmla="*/ 1439967 h 6858000"/>
              <a:gd name="connsiteX46" fmla="*/ 973516 w 2632012"/>
              <a:gd name="connsiteY46" fmla="*/ 1389073 h 6858000"/>
              <a:gd name="connsiteX47" fmla="*/ 986960 w 2632012"/>
              <a:gd name="connsiteY47" fmla="*/ 1351857 h 6858000"/>
              <a:gd name="connsiteX48" fmla="*/ 987761 w 2632012"/>
              <a:gd name="connsiteY48" fmla="*/ 1363479 h 6858000"/>
              <a:gd name="connsiteX49" fmla="*/ 989043 w 2632012"/>
              <a:gd name="connsiteY49" fmla="*/ 1346093 h 6858000"/>
              <a:gd name="connsiteX50" fmla="*/ 986960 w 2632012"/>
              <a:gd name="connsiteY50" fmla="*/ 1351857 h 6858000"/>
              <a:gd name="connsiteX51" fmla="*/ 985769 w 2632012"/>
              <a:gd name="connsiteY51" fmla="*/ 1334556 h 6858000"/>
              <a:gd name="connsiteX52" fmla="*/ 982507 w 2632012"/>
              <a:gd name="connsiteY52" fmla="*/ 1216698 h 6858000"/>
              <a:gd name="connsiteX53" fmla="*/ 984836 w 2632012"/>
              <a:gd name="connsiteY53" fmla="*/ 1082381 h 6858000"/>
              <a:gd name="connsiteX54" fmla="*/ 993140 w 2632012"/>
              <a:gd name="connsiteY54" fmla="*/ 1043366 h 6858000"/>
              <a:gd name="connsiteX55" fmla="*/ 995544 w 2632012"/>
              <a:gd name="connsiteY55" fmla="*/ 972540 h 6858000"/>
              <a:gd name="connsiteX56" fmla="*/ 1028500 w 2632012"/>
              <a:gd name="connsiteY56" fmla="*/ 923945 h 6858000"/>
              <a:gd name="connsiteX57" fmla="*/ 1022082 w 2632012"/>
              <a:gd name="connsiteY57" fmla="*/ 838835 h 6858000"/>
              <a:gd name="connsiteX58" fmla="*/ 1025925 w 2632012"/>
              <a:gd name="connsiteY58" fmla="*/ 787183 h 6858000"/>
              <a:gd name="connsiteX59" fmla="*/ 1027904 w 2632012"/>
              <a:gd name="connsiteY59" fmla="*/ 756272 h 6858000"/>
              <a:gd name="connsiteX60" fmla="*/ 1088796 w 2632012"/>
              <a:gd name="connsiteY60" fmla="*/ 641639 h 6858000"/>
              <a:gd name="connsiteX61" fmla="*/ 1164389 w 2632012"/>
              <a:gd name="connsiteY61" fmla="*/ 545140 h 6858000"/>
              <a:gd name="connsiteX62" fmla="*/ 1225321 w 2632012"/>
              <a:gd name="connsiteY62" fmla="*/ 413843 h 6858000"/>
              <a:gd name="connsiteX63" fmla="*/ 1241477 w 2632012"/>
              <a:gd name="connsiteY63" fmla="*/ 358607 h 6858000"/>
              <a:gd name="connsiteX64" fmla="*/ 1246119 w 2632012"/>
              <a:gd name="connsiteY64" fmla="*/ 254866 h 6858000"/>
              <a:gd name="connsiteX65" fmla="*/ 1266837 w 2632012"/>
              <a:gd name="connsiteY65" fmla="*/ 161517 h 6858000"/>
              <a:gd name="connsiteX66" fmla="*/ 1315021 w 2632012"/>
              <a:gd name="connsiteY66" fmla="*/ 54455 h 6858000"/>
              <a:gd name="connsiteX67" fmla="*/ 1319335 w 2632012"/>
              <a:gd name="connsiteY67" fmla="*/ 8880 h 6858000"/>
              <a:gd name="connsiteX68" fmla="*/ 1316402 w 2632012"/>
              <a:gd name="connsiteY68" fmla="*/ 852 h 6858000"/>
              <a:gd name="connsiteX0" fmla="*/ 932173 w 2632012"/>
              <a:gd name="connsiteY0" fmla="*/ 1512545 h 6858000"/>
              <a:gd name="connsiteX1" fmla="*/ 932462 w 2632012"/>
              <a:gd name="connsiteY1" fmla="*/ 1512581 h 6858000"/>
              <a:gd name="connsiteX2" fmla="*/ 932378 w 2632012"/>
              <a:gd name="connsiteY2" fmla="*/ 1512599 h 6858000"/>
              <a:gd name="connsiteX3" fmla="*/ 932173 w 2632012"/>
              <a:gd name="connsiteY3" fmla="*/ 1512545 h 6858000"/>
              <a:gd name="connsiteX4" fmla="*/ 1207569 w 2632012"/>
              <a:gd name="connsiteY4" fmla="*/ 0 h 6858000"/>
              <a:gd name="connsiteX5" fmla="*/ 2632012 w 2632012"/>
              <a:gd name="connsiteY5" fmla="*/ 0 h 6858000"/>
              <a:gd name="connsiteX6" fmla="*/ 2632012 w 2632012"/>
              <a:gd name="connsiteY6" fmla="*/ 6858000 h 6858000"/>
              <a:gd name="connsiteX7" fmla="*/ 13514 w 2632012"/>
              <a:gd name="connsiteY7" fmla="*/ 6858000 h 6858000"/>
              <a:gd name="connsiteX8" fmla="*/ 13170 w 2632012"/>
              <a:gd name="connsiteY8" fmla="*/ 6812829 h 6858000"/>
              <a:gd name="connsiteX9" fmla="*/ 20332 w 2632012"/>
              <a:gd name="connsiteY9" fmla="*/ 6760689 h 6858000"/>
              <a:gd name="connsiteX10" fmla="*/ 25596 w 2632012"/>
              <a:gd name="connsiteY10" fmla="*/ 6721251 h 6858000"/>
              <a:gd name="connsiteX11" fmla="*/ 22507 w 2632012"/>
              <a:gd name="connsiteY11" fmla="*/ 6650499 h 6858000"/>
              <a:gd name="connsiteX12" fmla="*/ 22444 w 2632012"/>
              <a:gd name="connsiteY12" fmla="*/ 6604241 h 6858000"/>
              <a:gd name="connsiteX13" fmla="*/ 31867 w 2632012"/>
              <a:gd name="connsiteY13" fmla="*/ 6559984 h 6858000"/>
              <a:gd name="connsiteX14" fmla="*/ 38635 w 2632012"/>
              <a:gd name="connsiteY14" fmla="*/ 6515473 h 6858000"/>
              <a:gd name="connsiteX15" fmla="*/ 38467 w 2632012"/>
              <a:gd name="connsiteY15" fmla="*/ 6463736 h 6858000"/>
              <a:gd name="connsiteX16" fmla="*/ 38052 w 2632012"/>
              <a:gd name="connsiteY16" fmla="*/ 6432794 h 6858000"/>
              <a:gd name="connsiteX17" fmla="*/ 80445 w 2632012"/>
              <a:gd name="connsiteY17" fmla="*/ 6301309 h 6858000"/>
              <a:gd name="connsiteX18" fmla="*/ 138157 w 2632012"/>
              <a:gd name="connsiteY18" fmla="*/ 6257030 h 6858000"/>
              <a:gd name="connsiteX19" fmla="*/ 170419 w 2632012"/>
              <a:gd name="connsiteY19" fmla="*/ 6171255 h 6858000"/>
              <a:gd name="connsiteX20" fmla="*/ 164027 w 2632012"/>
              <a:gd name="connsiteY20" fmla="*/ 6164357 h 6858000"/>
              <a:gd name="connsiteX21" fmla="*/ 213309 w 2632012"/>
              <a:gd name="connsiteY21" fmla="*/ 6109331 h 6858000"/>
              <a:gd name="connsiteX22" fmla="*/ 220409 w 2632012"/>
              <a:gd name="connsiteY22" fmla="*/ 6022287 h 6858000"/>
              <a:gd name="connsiteX23" fmla="*/ 183756 w 2632012"/>
              <a:gd name="connsiteY23" fmla="*/ 5808789 h 6858000"/>
              <a:gd name="connsiteX24" fmla="*/ 138134 w 2632012"/>
              <a:gd name="connsiteY24" fmla="*/ 5616065 h 6858000"/>
              <a:gd name="connsiteX25" fmla="*/ 276721 w 2632012"/>
              <a:gd name="connsiteY25" fmla="*/ 4162848 h 6858000"/>
              <a:gd name="connsiteX26" fmla="*/ 343082 w 2632012"/>
              <a:gd name="connsiteY26" fmla="*/ 3059377 h 6858000"/>
              <a:gd name="connsiteX27" fmla="*/ 369630 w 2632012"/>
              <a:gd name="connsiteY27" fmla="*/ 2692043 h 6858000"/>
              <a:gd name="connsiteX28" fmla="*/ 399465 w 2632012"/>
              <a:gd name="connsiteY28" fmla="*/ 2412506 h 6858000"/>
              <a:gd name="connsiteX29" fmla="*/ 446400 w 2632012"/>
              <a:gd name="connsiteY29" fmla="*/ 2252507 h 6858000"/>
              <a:gd name="connsiteX30" fmla="*/ 569515 w 2632012"/>
              <a:gd name="connsiteY30" fmla="*/ 2091909 h 6858000"/>
              <a:gd name="connsiteX31" fmla="*/ 638163 w 2632012"/>
              <a:gd name="connsiteY31" fmla="*/ 1994147 h 6858000"/>
              <a:gd name="connsiteX32" fmla="*/ 737312 w 2632012"/>
              <a:gd name="connsiteY32" fmla="*/ 1871408 h 6858000"/>
              <a:gd name="connsiteX33" fmla="*/ 788501 w 2632012"/>
              <a:gd name="connsiteY33" fmla="*/ 1793826 h 6858000"/>
              <a:gd name="connsiteX34" fmla="*/ 819432 w 2632012"/>
              <a:gd name="connsiteY34" fmla="*/ 1746824 h 6858000"/>
              <a:gd name="connsiteX35" fmla="*/ 843936 w 2632012"/>
              <a:gd name="connsiteY35" fmla="*/ 1697348 h 6858000"/>
              <a:gd name="connsiteX36" fmla="*/ 846526 w 2632012"/>
              <a:gd name="connsiteY36" fmla="*/ 1659754 h 6858000"/>
              <a:gd name="connsiteX37" fmla="*/ 873830 w 2632012"/>
              <a:gd name="connsiteY37" fmla="*/ 1628041 h 6858000"/>
              <a:gd name="connsiteX38" fmla="*/ 890626 w 2632012"/>
              <a:gd name="connsiteY38" fmla="*/ 1599883 h 6858000"/>
              <a:gd name="connsiteX39" fmla="*/ 921288 w 2632012"/>
              <a:gd name="connsiteY39" fmla="*/ 1579569 h 6858000"/>
              <a:gd name="connsiteX40" fmla="*/ 920756 w 2632012"/>
              <a:gd name="connsiteY40" fmla="*/ 1537369 h 6858000"/>
              <a:gd name="connsiteX41" fmla="*/ 946290 w 2632012"/>
              <a:gd name="connsiteY41" fmla="*/ 1514308 h 6858000"/>
              <a:gd name="connsiteX42" fmla="*/ 932462 w 2632012"/>
              <a:gd name="connsiteY42" fmla="*/ 1512581 h 6858000"/>
              <a:gd name="connsiteX43" fmla="*/ 940652 w 2632012"/>
              <a:gd name="connsiteY43" fmla="*/ 1510839 h 6858000"/>
              <a:gd name="connsiteX44" fmla="*/ 950739 w 2632012"/>
              <a:gd name="connsiteY44" fmla="*/ 1503635 h 6858000"/>
              <a:gd name="connsiteX45" fmla="*/ 966405 w 2632012"/>
              <a:gd name="connsiteY45" fmla="*/ 1439967 h 6858000"/>
              <a:gd name="connsiteX46" fmla="*/ 973516 w 2632012"/>
              <a:gd name="connsiteY46" fmla="*/ 1389073 h 6858000"/>
              <a:gd name="connsiteX47" fmla="*/ 986960 w 2632012"/>
              <a:gd name="connsiteY47" fmla="*/ 1351857 h 6858000"/>
              <a:gd name="connsiteX48" fmla="*/ 987761 w 2632012"/>
              <a:gd name="connsiteY48" fmla="*/ 1363479 h 6858000"/>
              <a:gd name="connsiteX49" fmla="*/ 989043 w 2632012"/>
              <a:gd name="connsiteY49" fmla="*/ 1346093 h 6858000"/>
              <a:gd name="connsiteX50" fmla="*/ 986960 w 2632012"/>
              <a:gd name="connsiteY50" fmla="*/ 1351857 h 6858000"/>
              <a:gd name="connsiteX51" fmla="*/ 985769 w 2632012"/>
              <a:gd name="connsiteY51" fmla="*/ 1334556 h 6858000"/>
              <a:gd name="connsiteX52" fmla="*/ 982507 w 2632012"/>
              <a:gd name="connsiteY52" fmla="*/ 1216698 h 6858000"/>
              <a:gd name="connsiteX53" fmla="*/ 984836 w 2632012"/>
              <a:gd name="connsiteY53" fmla="*/ 1082381 h 6858000"/>
              <a:gd name="connsiteX54" fmla="*/ 993140 w 2632012"/>
              <a:gd name="connsiteY54" fmla="*/ 1043366 h 6858000"/>
              <a:gd name="connsiteX55" fmla="*/ 995544 w 2632012"/>
              <a:gd name="connsiteY55" fmla="*/ 972540 h 6858000"/>
              <a:gd name="connsiteX56" fmla="*/ 1028500 w 2632012"/>
              <a:gd name="connsiteY56" fmla="*/ 923945 h 6858000"/>
              <a:gd name="connsiteX57" fmla="*/ 1022082 w 2632012"/>
              <a:gd name="connsiteY57" fmla="*/ 838835 h 6858000"/>
              <a:gd name="connsiteX58" fmla="*/ 1025925 w 2632012"/>
              <a:gd name="connsiteY58" fmla="*/ 787183 h 6858000"/>
              <a:gd name="connsiteX59" fmla="*/ 1027904 w 2632012"/>
              <a:gd name="connsiteY59" fmla="*/ 756272 h 6858000"/>
              <a:gd name="connsiteX60" fmla="*/ 1088796 w 2632012"/>
              <a:gd name="connsiteY60" fmla="*/ 641639 h 6858000"/>
              <a:gd name="connsiteX61" fmla="*/ 1164389 w 2632012"/>
              <a:gd name="connsiteY61" fmla="*/ 545140 h 6858000"/>
              <a:gd name="connsiteX62" fmla="*/ 1225321 w 2632012"/>
              <a:gd name="connsiteY62" fmla="*/ 413843 h 6858000"/>
              <a:gd name="connsiteX63" fmla="*/ 1241477 w 2632012"/>
              <a:gd name="connsiteY63" fmla="*/ 358607 h 6858000"/>
              <a:gd name="connsiteX64" fmla="*/ 1246119 w 2632012"/>
              <a:gd name="connsiteY64" fmla="*/ 254866 h 6858000"/>
              <a:gd name="connsiteX65" fmla="*/ 1266837 w 2632012"/>
              <a:gd name="connsiteY65" fmla="*/ 161517 h 6858000"/>
              <a:gd name="connsiteX66" fmla="*/ 1315021 w 2632012"/>
              <a:gd name="connsiteY66" fmla="*/ 54455 h 6858000"/>
              <a:gd name="connsiteX67" fmla="*/ 1319335 w 2632012"/>
              <a:gd name="connsiteY67" fmla="*/ 8880 h 6858000"/>
              <a:gd name="connsiteX68" fmla="*/ 1316402 w 2632012"/>
              <a:gd name="connsiteY68" fmla="*/ 852 h 6858000"/>
              <a:gd name="connsiteX69" fmla="*/ 1207569 w 2632012"/>
              <a:gd name="connsiteY69" fmla="*/ 0 h 6858000"/>
              <a:gd name="connsiteX0" fmla="*/ 932173 w 2632012"/>
              <a:gd name="connsiteY0" fmla="*/ 1512545 h 6858000"/>
              <a:gd name="connsiteX1" fmla="*/ 932462 w 2632012"/>
              <a:gd name="connsiteY1" fmla="*/ 1512581 h 6858000"/>
              <a:gd name="connsiteX2" fmla="*/ 932378 w 2632012"/>
              <a:gd name="connsiteY2" fmla="*/ 1512599 h 6858000"/>
              <a:gd name="connsiteX3" fmla="*/ 932173 w 2632012"/>
              <a:gd name="connsiteY3" fmla="*/ 1512545 h 6858000"/>
              <a:gd name="connsiteX4" fmla="*/ 1207569 w 2632012"/>
              <a:gd name="connsiteY4" fmla="*/ 0 h 6858000"/>
              <a:gd name="connsiteX5" fmla="*/ 2632012 w 2632012"/>
              <a:gd name="connsiteY5" fmla="*/ 0 h 6858000"/>
              <a:gd name="connsiteX6" fmla="*/ 2632012 w 2632012"/>
              <a:gd name="connsiteY6" fmla="*/ 6858000 h 6858000"/>
              <a:gd name="connsiteX7" fmla="*/ 13514 w 2632012"/>
              <a:gd name="connsiteY7" fmla="*/ 6858000 h 6858000"/>
              <a:gd name="connsiteX8" fmla="*/ 13170 w 2632012"/>
              <a:gd name="connsiteY8" fmla="*/ 6812829 h 6858000"/>
              <a:gd name="connsiteX9" fmla="*/ 20332 w 2632012"/>
              <a:gd name="connsiteY9" fmla="*/ 6760689 h 6858000"/>
              <a:gd name="connsiteX10" fmla="*/ 25596 w 2632012"/>
              <a:gd name="connsiteY10" fmla="*/ 6721251 h 6858000"/>
              <a:gd name="connsiteX11" fmla="*/ 22507 w 2632012"/>
              <a:gd name="connsiteY11" fmla="*/ 6650499 h 6858000"/>
              <a:gd name="connsiteX12" fmla="*/ 22444 w 2632012"/>
              <a:gd name="connsiteY12" fmla="*/ 6604241 h 6858000"/>
              <a:gd name="connsiteX13" fmla="*/ 31867 w 2632012"/>
              <a:gd name="connsiteY13" fmla="*/ 6559984 h 6858000"/>
              <a:gd name="connsiteX14" fmla="*/ 38635 w 2632012"/>
              <a:gd name="connsiteY14" fmla="*/ 6515473 h 6858000"/>
              <a:gd name="connsiteX15" fmla="*/ 38467 w 2632012"/>
              <a:gd name="connsiteY15" fmla="*/ 6463736 h 6858000"/>
              <a:gd name="connsiteX16" fmla="*/ 38052 w 2632012"/>
              <a:gd name="connsiteY16" fmla="*/ 6432794 h 6858000"/>
              <a:gd name="connsiteX17" fmla="*/ 80445 w 2632012"/>
              <a:gd name="connsiteY17" fmla="*/ 6301309 h 6858000"/>
              <a:gd name="connsiteX18" fmla="*/ 138157 w 2632012"/>
              <a:gd name="connsiteY18" fmla="*/ 6257030 h 6858000"/>
              <a:gd name="connsiteX19" fmla="*/ 170419 w 2632012"/>
              <a:gd name="connsiteY19" fmla="*/ 6171255 h 6858000"/>
              <a:gd name="connsiteX20" fmla="*/ 164027 w 2632012"/>
              <a:gd name="connsiteY20" fmla="*/ 6164357 h 6858000"/>
              <a:gd name="connsiteX21" fmla="*/ 213309 w 2632012"/>
              <a:gd name="connsiteY21" fmla="*/ 6109331 h 6858000"/>
              <a:gd name="connsiteX22" fmla="*/ 220409 w 2632012"/>
              <a:gd name="connsiteY22" fmla="*/ 6022287 h 6858000"/>
              <a:gd name="connsiteX23" fmla="*/ 183756 w 2632012"/>
              <a:gd name="connsiteY23" fmla="*/ 5808789 h 6858000"/>
              <a:gd name="connsiteX24" fmla="*/ 138134 w 2632012"/>
              <a:gd name="connsiteY24" fmla="*/ 5616065 h 6858000"/>
              <a:gd name="connsiteX25" fmla="*/ 276721 w 2632012"/>
              <a:gd name="connsiteY25" fmla="*/ 4162848 h 6858000"/>
              <a:gd name="connsiteX26" fmla="*/ 343082 w 2632012"/>
              <a:gd name="connsiteY26" fmla="*/ 3059377 h 6858000"/>
              <a:gd name="connsiteX27" fmla="*/ 369630 w 2632012"/>
              <a:gd name="connsiteY27" fmla="*/ 2692043 h 6858000"/>
              <a:gd name="connsiteX28" fmla="*/ 435324 w 2632012"/>
              <a:gd name="connsiteY28" fmla="*/ 2520083 h 6858000"/>
              <a:gd name="connsiteX29" fmla="*/ 446400 w 2632012"/>
              <a:gd name="connsiteY29" fmla="*/ 2252507 h 6858000"/>
              <a:gd name="connsiteX30" fmla="*/ 569515 w 2632012"/>
              <a:gd name="connsiteY30" fmla="*/ 2091909 h 6858000"/>
              <a:gd name="connsiteX31" fmla="*/ 638163 w 2632012"/>
              <a:gd name="connsiteY31" fmla="*/ 1994147 h 6858000"/>
              <a:gd name="connsiteX32" fmla="*/ 737312 w 2632012"/>
              <a:gd name="connsiteY32" fmla="*/ 1871408 h 6858000"/>
              <a:gd name="connsiteX33" fmla="*/ 788501 w 2632012"/>
              <a:gd name="connsiteY33" fmla="*/ 1793826 h 6858000"/>
              <a:gd name="connsiteX34" fmla="*/ 819432 w 2632012"/>
              <a:gd name="connsiteY34" fmla="*/ 1746824 h 6858000"/>
              <a:gd name="connsiteX35" fmla="*/ 843936 w 2632012"/>
              <a:gd name="connsiteY35" fmla="*/ 1697348 h 6858000"/>
              <a:gd name="connsiteX36" fmla="*/ 846526 w 2632012"/>
              <a:gd name="connsiteY36" fmla="*/ 1659754 h 6858000"/>
              <a:gd name="connsiteX37" fmla="*/ 873830 w 2632012"/>
              <a:gd name="connsiteY37" fmla="*/ 1628041 h 6858000"/>
              <a:gd name="connsiteX38" fmla="*/ 890626 w 2632012"/>
              <a:gd name="connsiteY38" fmla="*/ 1599883 h 6858000"/>
              <a:gd name="connsiteX39" fmla="*/ 921288 w 2632012"/>
              <a:gd name="connsiteY39" fmla="*/ 1579569 h 6858000"/>
              <a:gd name="connsiteX40" fmla="*/ 920756 w 2632012"/>
              <a:gd name="connsiteY40" fmla="*/ 1537369 h 6858000"/>
              <a:gd name="connsiteX41" fmla="*/ 946290 w 2632012"/>
              <a:gd name="connsiteY41" fmla="*/ 1514308 h 6858000"/>
              <a:gd name="connsiteX42" fmla="*/ 932462 w 2632012"/>
              <a:gd name="connsiteY42" fmla="*/ 1512581 h 6858000"/>
              <a:gd name="connsiteX43" fmla="*/ 940652 w 2632012"/>
              <a:gd name="connsiteY43" fmla="*/ 1510839 h 6858000"/>
              <a:gd name="connsiteX44" fmla="*/ 950739 w 2632012"/>
              <a:gd name="connsiteY44" fmla="*/ 1503635 h 6858000"/>
              <a:gd name="connsiteX45" fmla="*/ 966405 w 2632012"/>
              <a:gd name="connsiteY45" fmla="*/ 1439967 h 6858000"/>
              <a:gd name="connsiteX46" fmla="*/ 973516 w 2632012"/>
              <a:gd name="connsiteY46" fmla="*/ 1389073 h 6858000"/>
              <a:gd name="connsiteX47" fmla="*/ 986960 w 2632012"/>
              <a:gd name="connsiteY47" fmla="*/ 1351857 h 6858000"/>
              <a:gd name="connsiteX48" fmla="*/ 987761 w 2632012"/>
              <a:gd name="connsiteY48" fmla="*/ 1363479 h 6858000"/>
              <a:gd name="connsiteX49" fmla="*/ 989043 w 2632012"/>
              <a:gd name="connsiteY49" fmla="*/ 1346093 h 6858000"/>
              <a:gd name="connsiteX50" fmla="*/ 986960 w 2632012"/>
              <a:gd name="connsiteY50" fmla="*/ 1351857 h 6858000"/>
              <a:gd name="connsiteX51" fmla="*/ 985769 w 2632012"/>
              <a:gd name="connsiteY51" fmla="*/ 1334556 h 6858000"/>
              <a:gd name="connsiteX52" fmla="*/ 982507 w 2632012"/>
              <a:gd name="connsiteY52" fmla="*/ 1216698 h 6858000"/>
              <a:gd name="connsiteX53" fmla="*/ 984836 w 2632012"/>
              <a:gd name="connsiteY53" fmla="*/ 1082381 h 6858000"/>
              <a:gd name="connsiteX54" fmla="*/ 993140 w 2632012"/>
              <a:gd name="connsiteY54" fmla="*/ 1043366 h 6858000"/>
              <a:gd name="connsiteX55" fmla="*/ 995544 w 2632012"/>
              <a:gd name="connsiteY55" fmla="*/ 972540 h 6858000"/>
              <a:gd name="connsiteX56" fmla="*/ 1028500 w 2632012"/>
              <a:gd name="connsiteY56" fmla="*/ 923945 h 6858000"/>
              <a:gd name="connsiteX57" fmla="*/ 1022082 w 2632012"/>
              <a:gd name="connsiteY57" fmla="*/ 838835 h 6858000"/>
              <a:gd name="connsiteX58" fmla="*/ 1025925 w 2632012"/>
              <a:gd name="connsiteY58" fmla="*/ 787183 h 6858000"/>
              <a:gd name="connsiteX59" fmla="*/ 1027904 w 2632012"/>
              <a:gd name="connsiteY59" fmla="*/ 756272 h 6858000"/>
              <a:gd name="connsiteX60" fmla="*/ 1088796 w 2632012"/>
              <a:gd name="connsiteY60" fmla="*/ 641639 h 6858000"/>
              <a:gd name="connsiteX61" fmla="*/ 1164389 w 2632012"/>
              <a:gd name="connsiteY61" fmla="*/ 545140 h 6858000"/>
              <a:gd name="connsiteX62" fmla="*/ 1225321 w 2632012"/>
              <a:gd name="connsiteY62" fmla="*/ 413843 h 6858000"/>
              <a:gd name="connsiteX63" fmla="*/ 1241477 w 2632012"/>
              <a:gd name="connsiteY63" fmla="*/ 358607 h 6858000"/>
              <a:gd name="connsiteX64" fmla="*/ 1246119 w 2632012"/>
              <a:gd name="connsiteY64" fmla="*/ 254866 h 6858000"/>
              <a:gd name="connsiteX65" fmla="*/ 1266837 w 2632012"/>
              <a:gd name="connsiteY65" fmla="*/ 161517 h 6858000"/>
              <a:gd name="connsiteX66" fmla="*/ 1315021 w 2632012"/>
              <a:gd name="connsiteY66" fmla="*/ 54455 h 6858000"/>
              <a:gd name="connsiteX67" fmla="*/ 1319335 w 2632012"/>
              <a:gd name="connsiteY67" fmla="*/ 8880 h 6858000"/>
              <a:gd name="connsiteX68" fmla="*/ 1316402 w 2632012"/>
              <a:gd name="connsiteY68" fmla="*/ 852 h 6858000"/>
              <a:gd name="connsiteX69" fmla="*/ 1207569 w 2632012"/>
              <a:gd name="connsiteY69" fmla="*/ 0 h 6858000"/>
              <a:gd name="connsiteX0" fmla="*/ 932173 w 2632012"/>
              <a:gd name="connsiteY0" fmla="*/ 1512545 h 6858000"/>
              <a:gd name="connsiteX1" fmla="*/ 932462 w 2632012"/>
              <a:gd name="connsiteY1" fmla="*/ 1512581 h 6858000"/>
              <a:gd name="connsiteX2" fmla="*/ 932378 w 2632012"/>
              <a:gd name="connsiteY2" fmla="*/ 1512599 h 6858000"/>
              <a:gd name="connsiteX3" fmla="*/ 932173 w 2632012"/>
              <a:gd name="connsiteY3" fmla="*/ 1512545 h 6858000"/>
              <a:gd name="connsiteX4" fmla="*/ 1207569 w 2632012"/>
              <a:gd name="connsiteY4" fmla="*/ 0 h 6858000"/>
              <a:gd name="connsiteX5" fmla="*/ 2632012 w 2632012"/>
              <a:gd name="connsiteY5" fmla="*/ 0 h 6858000"/>
              <a:gd name="connsiteX6" fmla="*/ 2632012 w 2632012"/>
              <a:gd name="connsiteY6" fmla="*/ 6858000 h 6858000"/>
              <a:gd name="connsiteX7" fmla="*/ 13514 w 2632012"/>
              <a:gd name="connsiteY7" fmla="*/ 6858000 h 6858000"/>
              <a:gd name="connsiteX8" fmla="*/ 13170 w 2632012"/>
              <a:gd name="connsiteY8" fmla="*/ 6812829 h 6858000"/>
              <a:gd name="connsiteX9" fmla="*/ 20332 w 2632012"/>
              <a:gd name="connsiteY9" fmla="*/ 6760689 h 6858000"/>
              <a:gd name="connsiteX10" fmla="*/ 25596 w 2632012"/>
              <a:gd name="connsiteY10" fmla="*/ 6721251 h 6858000"/>
              <a:gd name="connsiteX11" fmla="*/ 22507 w 2632012"/>
              <a:gd name="connsiteY11" fmla="*/ 6650499 h 6858000"/>
              <a:gd name="connsiteX12" fmla="*/ 22444 w 2632012"/>
              <a:gd name="connsiteY12" fmla="*/ 6604241 h 6858000"/>
              <a:gd name="connsiteX13" fmla="*/ 31867 w 2632012"/>
              <a:gd name="connsiteY13" fmla="*/ 6559984 h 6858000"/>
              <a:gd name="connsiteX14" fmla="*/ 38635 w 2632012"/>
              <a:gd name="connsiteY14" fmla="*/ 6515473 h 6858000"/>
              <a:gd name="connsiteX15" fmla="*/ 38467 w 2632012"/>
              <a:gd name="connsiteY15" fmla="*/ 6463736 h 6858000"/>
              <a:gd name="connsiteX16" fmla="*/ 38052 w 2632012"/>
              <a:gd name="connsiteY16" fmla="*/ 6432794 h 6858000"/>
              <a:gd name="connsiteX17" fmla="*/ 80445 w 2632012"/>
              <a:gd name="connsiteY17" fmla="*/ 6301309 h 6858000"/>
              <a:gd name="connsiteX18" fmla="*/ 138157 w 2632012"/>
              <a:gd name="connsiteY18" fmla="*/ 6257030 h 6858000"/>
              <a:gd name="connsiteX19" fmla="*/ 170419 w 2632012"/>
              <a:gd name="connsiteY19" fmla="*/ 6171255 h 6858000"/>
              <a:gd name="connsiteX20" fmla="*/ 164027 w 2632012"/>
              <a:gd name="connsiteY20" fmla="*/ 6164357 h 6858000"/>
              <a:gd name="connsiteX21" fmla="*/ 213309 w 2632012"/>
              <a:gd name="connsiteY21" fmla="*/ 6109331 h 6858000"/>
              <a:gd name="connsiteX22" fmla="*/ 220409 w 2632012"/>
              <a:gd name="connsiteY22" fmla="*/ 6022287 h 6858000"/>
              <a:gd name="connsiteX23" fmla="*/ 183756 w 2632012"/>
              <a:gd name="connsiteY23" fmla="*/ 5808789 h 6858000"/>
              <a:gd name="connsiteX24" fmla="*/ 138134 w 2632012"/>
              <a:gd name="connsiteY24" fmla="*/ 5616065 h 6858000"/>
              <a:gd name="connsiteX25" fmla="*/ 276721 w 2632012"/>
              <a:gd name="connsiteY25" fmla="*/ 4162848 h 6858000"/>
              <a:gd name="connsiteX26" fmla="*/ 343082 w 2632012"/>
              <a:gd name="connsiteY26" fmla="*/ 3059377 h 6858000"/>
              <a:gd name="connsiteX27" fmla="*/ 369630 w 2632012"/>
              <a:gd name="connsiteY27" fmla="*/ 2692043 h 6858000"/>
              <a:gd name="connsiteX28" fmla="*/ 435324 w 2632012"/>
              <a:gd name="connsiteY28" fmla="*/ 2520083 h 6858000"/>
              <a:gd name="connsiteX29" fmla="*/ 482259 w 2632012"/>
              <a:gd name="connsiteY29" fmla="*/ 2336178 h 6858000"/>
              <a:gd name="connsiteX30" fmla="*/ 569515 w 2632012"/>
              <a:gd name="connsiteY30" fmla="*/ 2091909 h 6858000"/>
              <a:gd name="connsiteX31" fmla="*/ 638163 w 2632012"/>
              <a:gd name="connsiteY31" fmla="*/ 1994147 h 6858000"/>
              <a:gd name="connsiteX32" fmla="*/ 737312 w 2632012"/>
              <a:gd name="connsiteY32" fmla="*/ 1871408 h 6858000"/>
              <a:gd name="connsiteX33" fmla="*/ 788501 w 2632012"/>
              <a:gd name="connsiteY33" fmla="*/ 1793826 h 6858000"/>
              <a:gd name="connsiteX34" fmla="*/ 819432 w 2632012"/>
              <a:gd name="connsiteY34" fmla="*/ 1746824 h 6858000"/>
              <a:gd name="connsiteX35" fmla="*/ 843936 w 2632012"/>
              <a:gd name="connsiteY35" fmla="*/ 1697348 h 6858000"/>
              <a:gd name="connsiteX36" fmla="*/ 846526 w 2632012"/>
              <a:gd name="connsiteY36" fmla="*/ 1659754 h 6858000"/>
              <a:gd name="connsiteX37" fmla="*/ 873830 w 2632012"/>
              <a:gd name="connsiteY37" fmla="*/ 1628041 h 6858000"/>
              <a:gd name="connsiteX38" fmla="*/ 890626 w 2632012"/>
              <a:gd name="connsiteY38" fmla="*/ 1599883 h 6858000"/>
              <a:gd name="connsiteX39" fmla="*/ 921288 w 2632012"/>
              <a:gd name="connsiteY39" fmla="*/ 1579569 h 6858000"/>
              <a:gd name="connsiteX40" fmla="*/ 920756 w 2632012"/>
              <a:gd name="connsiteY40" fmla="*/ 1537369 h 6858000"/>
              <a:gd name="connsiteX41" fmla="*/ 946290 w 2632012"/>
              <a:gd name="connsiteY41" fmla="*/ 1514308 h 6858000"/>
              <a:gd name="connsiteX42" fmla="*/ 932462 w 2632012"/>
              <a:gd name="connsiteY42" fmla="*/ 1512581 h 6858000"/>
              <a:gd name="connsiteX43" fmla="*/ 940652 w 2632012"/>
              <a:gd name="connsiteY43" fmla="*/ 1510839 h 6858000"/>
              <a:gd name="connsiteX44" fmla="*/ 950739 w 2632012"/>
              <a:gd name="connsiteY44" fmla="*/ 1503635 h 6858000"/>
              <a:gd name="connsiteX45" fmla="*/ 966405 w 2632012"/>
              <a:gd name="connsiteY45" fmla="*/ 1439967 h 6858000"/>
              <a:gd name="connsiteX46" fmla="*/ 973516 w 2632012"/>
              <a:gd name="connsiteY46" fmla="*/ 1389073 h 6858000"/>
              <a:gd name="connsiteX47" fmla="*/ 986960 w 2632012"/>
              <a:gd name="connsiteY47" fmla="*/ 1351857 h 6858000"/>
              <a:gd name="connsiteX48" fmla="*/ 987761 w 2632012"/>
              <a:gd name="connsiteY48" fmla="*/ 1363479 h 6858000"/>
              <a:gd name="connsiteX49" fmla="*/ 989043 w 2632012"/>
              <a:gd name="connsiteY49" fmla="*/ 1346093 h 6858000"/>
              <a:gd name="connsiteX50" fmla="*/ 986960 w 2632012"/>
              <a:gd name="connsiteY50" fmla="*/ 1351857 h 6858000"/>
              <a:gd name="connsiteX51" fmla="*/ 985769 w 2632012"/>
              <a:gd name="connsiteY51" fmla="*/ 1334556 h 6858000"/>
              <a:gd name="connsiteX52" fmla="*/ 982507 w 2632012"/>
              <a:gd name="connsiteY52" fmla="*/ 1216698 h 6858000"/>
              <a:gd name="connsiteX53" fmla="*/ 984836 w 2632012"/>
              <a:gd name="connsiteY53" fmla="*/ 1082381 h 6858000"/>
              <a:gd name="connsiteX54" fmla="*/ 993140 w 2632012"/>
              <a:gd name="connsiteY54" fmla="*/ 1043366 h 6858000"/>
              <a:gd name="connsiteX55" fmla="*/ 995544 w 2632012"/>
              <a:gd name="connsiteY55" fmla="*/ 972540 h 6858000"/>
              <a:gd name="connsiteX56" fmla="*/ 1028500 w 2632012"/>
              <a:gd name="connsiteY56" fmla="*/ 923945 h 6858000"/>
              <a:gd name="connsiteX57" fmla="*/ 1022082 w 2632012"/>
              <a:gd name="connsiteY57" fmla="*/ 838835 h 6858000"/>
              <a:gd name="connsiteX58" fmla="*/ 1025925 w 2632012"/>
              <a:gd name="connsiteY58" fmla="*/ 787183 h 6858000"/>
              <a:gd name="connsiteX59" fmla="*/ 1027904 w 2632012"/>
              <a:gd name="connsiteY59" fmla="*/ 756272 h 6858000"/>
              <a:gd name="connsiteX60" fmla="*/ 1088796 w 2632012"/>
              <a:gd name="connsiteY60" fmla="*/ 641639 h 6858000"/>
              <a:gd name="connsiteX61" fmla="*/ 1164389 w 2632012"/>
              <a:gd name="connsiteY61" fmla="*/ 545140 h 6858000"/>
              <a:gd name="connsiteX62" fmla="*/ 1225321 w 2632012"/>
              <a:gd name="connsiteY62" fmla="*/ 413843 h 6858000"/>
              <a:gd name="connsiteX63" fmla="*/ 1241477 w 2632012"/>
              <a:gd name="connsiteY63" fmla="*/ 358607 h 6858000"/>
              <a:gd name="connsiteX64" fmla="*/ 1246119 w 2632012"/>
              <a:gd name="connsiteY64" fmla="*/ 254866 h 6858000"/>
              <a:gd name="connsiteX65" fmla="*/ 1266837 w 2632012"/>
              <a:gd name="connsiteY65" fmla="*/ 161517 h 6858000"/>
              <a:gd name="connsiteX66" fmla="*/ 1315021 w 2632012"/>
              <a:gd name="connsiteY66" fmla="*/ 54455 h 6858000"/>
              <a:gd name="connsiteX67" fmla="*/ 1319335 w 2632012"/>
              <a:gd name="connsiteY67" fmla="*/ 8880 h 6858000"/>
              <a:gd name="connsiteX68" fmla="*/ 1316402 w 2632012"/>
              <a:gd name="connsiteY68" fmla="*/ 852 h 6858000"/>
              <a:gd name="connsiteX69" fmla="*/ 1207569 w 2632012"/>
              <a:gd name="connsiteY69" fmla="*/ 0 h 6858000"/>
              <a:gd name="connsiteX0" fmla="*/ 932173 w 2632012"/>
              <a:gd name="connsiteY0" fmla="*/ 1512545 h 6858000"/>
              <a:gd name="connsiteX1" fmla="*/ 932462 w 2632012"/>
              <a:gd name="connsiteY1" fmla="*/ 1512581 h 6858000"/>
              <a:gd name="connsiteX2" fmla="*/ 932378 w 2632012"/>
              <a:gd name="connsiteY2" fmla="*/ 1512599 h 6858000"/>
              <a:gd name="connsiteX3" fmla="*/ 932173 w 2632012"/>
              <a:gd name="connsiteY3" fmla="*/ 1512545 h 6858000"/>
              <a:gd name="connsiteX4" fmla="*/ 1207569 w 2632012"/>
              <a:gd name="connsiteY4" fmla="*/ 0 h 6858000"/>
              <a:gd name="connsiteX5" fmla="*/ 2632012 w 2632012"/>
              <a:gd name="connsiteY5" fmla="*/ 0 h 6858000"/>
              <a:gd name="connsiteX6" fmla="*/ 2632012 w 2632012"/>
              <a:gd name="connsiteY6" fmla="*/ 6858000 h 6858000"/>
              <a:gd name="connsiteX7" fmla="*/ 13514 w 2632012"/>
              <a:gd name="connsiteY7" fmla="*/ 6858000 h 6858000"/>
              <a:gd name="connsiteX8" fmla="*/ 13170 w 2632012"/>
              <a:gd name="connsiteY8" fmla="*/ 6812829 h 6858000"/>
              <a:gd name="connsiteX9" fmla="*/ 20332 w 2632012"/>
              <a:gd name="connsiteY9" fmla="*/ 6760689 h 6858000"/>
              <a:gd name="connsiteX10" fmla="*/ 25596 w 2632012"/>
              <a:gd name="connsiteY10" fmla="*/ 6721251 h 6858000"/>
              <a:gd name="connsiteX11" fmla="*/ 22507 w 2632012"/>
              <a:gd name="connsiteY11" fmla="*/ 6650499 h 6858000"/>
              <a:gd name="connsiteX12" fmla="*/ 22444 w 2632012"/>
              <a:gd name="connsiteY12" fmla="*/ 6604241 h 6858000"/>
              <a:gd name="connsiteX13" fmla="*/ 31867 w 2632012"/>
              <a:gd name="connsiteY13" fmla="*/ 6559984 h 6858000"/>
              <a:gd name="connsiteX14" fmla="*/ 38635 w 2632012"/>
              <a:gd name="connsiteY14" fmla="*/ 6515473 h 6858000"/>
              <a:gd name="connsiteX15" fmla="*/ 38467 w 2632012"/>
              <a:gd name="connsiteY15" fmla="*/ 6463736 h 6858000"/>
              <a:gd name="connsiteX16" fmla="*/ 38052 w 2632012"/>
              <a:gd name="connsiteY16" fmla="*/ 6432794 h 6858000"/>
              <a:gd name="connsiteX17" fmla="*/ 80445 w 2632012"/>
              <a:gd name="connsiteY17" fmla="*/ 6301309 h 6858000"/>
              <a:gd name="connsiteX18" fmla="*/ 138157 w 2632012"/>
              <a:gd name="connsiteY18" fmla="*/ 6257030 h 6858000"/>
              <a:gd name="connsiteX19" fmla="*/ 170419 w 2632012"/>
              <a:gd name="connsiteY19" fmla="*/ 6171255 h 6858000"/>
              <a:gd name="connsiteX20" fmla="*/ 164027 w 2632012"/>
              <a:gd name="connsiteY20" fmla="*/ 6164357 h 6858000"/>
              <a:gd name="connsiteX21" fmla="*/ 213309 w 2632012"/>
              <a:gd name="connsiteY21" fmla="*/ 6109331 h 6858000"/>
              <a:gd name="connsiteX22" fmla="*/ 220409 w 2632012"/>
              <a:gd name="connsiteY22" fmla="*/ 6022287 h 6858000"/>
              <a:gd name="connsiteX23" fmla="*/ 183756 w 2632012"/>
              <a:gd name="connsiteY23" fmla="*/ 5808789 h 6858000"/>
              <a:gd name="connsiteX24" fmla="*/ 245711 w 2632012"/>
              <a:gd name="connsiteY24" fmla="*/ 5066230 h 6858000"/>
              <a:gd name="connsiteX25" fmla="*/ 276721 w 2632012"/>
              <a:gd name="connsiteY25" fmla="*/ 4162848 h 6858000"/>
              <a:gd name="connsiteX26" fmla="*/ 343082 w 2632012"/>
              <a:gd name="connsiteY26" fmla="*/ 3059377 h 6858000"/>
              <a:gd name="connsiteX27" fmla="*/ 369630 w 2632012"/>
              <a:gd name="connsiteY27" fmla="*/ 2692043 h 6858000"/>
              <a:gd name="connsiteX28" fmla="*/ 435324 w 2632012"/>
              <a:gd name="connsiteY28" fmla="*/ 2520083 h 6858000"/>
              <a:gd name="connsiteX29" fmla="*/ 482259 w 2632012"/>
              <a:gd name="connsiteY29" fmla="*/ 2336178 h 6858000"/>
              <a:gd name="connsiteX30" fmla="*/ 569515 w 2632012"/>
              <a:gd name="connsiteY30" fmla="*/ 2091909 h 6858000"/>
              <a:gd name="connsiteX31" fmla="*/ 638163 w 2632012"/>
              <a:gd name="connsiteY31" fmla="*/ 1994147 h 6858000"/>
              <a:gd name="connsiteX32" fmla="*/ 737312 w 2632012"/>
              <a:gd name="connsiteY32" fmla="*/ 1871408 h 6858000"/>
              <a:gd name="connsiteX33" fmla="*/ 788501 w 2632012"/>
              <a:gd name="connsiteY33" fmla="*/ 1793826 h 6858000"/>
              <a:gd name="connsiteX34" fmla="*/ 819432 w 2632012"/>
              <a:gd name="connsiteY34" fmla="*/ 1746824 h 6858000"/>
              <a:gd name="connsiteX35" fmla="*/ 843936 w 2632012"/>
              <a:gd name="connsiteY35" fmla="*/ 1697348 h 6858000"/>
              <a:gd name="connsiteX36" fmla="*/ 846526 w 2632012"/>
              <a:gd name="connsiteY36" fmla="*/ 1659754 h 6858000"/>
              <a:gd name="connsiteX37" fmla="*/ 873830 w 2632012"/>
              <a:gd name="connsiteY37" fmla="*/ 1628041 h 6858000"/>
              <a:gd name="connsiteX38" fmla="*/ 890626 w 2632012"/>
              <a:gd name="connsiteY38" fmla="*/ 1599883 h 6858000"/>
              <a:gd name="connsiteX39" fmla="*/ 921288 w 2632012"/>
              <a:gd name="connsiteY39" fmla="*/ 1579569 h 6858000"/>
              <a:gd name="connsiteX40" fmla="*/ 920756 w 2632012"/>
              <a:gd name="connsiteY40" fmla="*/ 1537369 h 6858000"/>
              <a:gd name="connsiteX41" fmla="*/ 946290 w 2632012"/>
              <a:gd name="connsiteY41" fmla="*/ 1514308 h 6858000"/>
              <a:gd name="connsiteX42" fmla="*/ 932462 w 2632012"/>
              <a:gd name="connsiteY42" fmla="*/ 1512581 h 6858000"/>
              <a:gd name="connsiteX43" fmla="*/ 940652 w 2632012"/>
              <a:gd name="connsiteY43" fmla="*/ 1510839 h 6858000"/>
              <a:gd name="connsiteX44" fmla="*/ 950739 w 2632012"/>
              <a:gd name="connsiteY44" fmla="*/ 1503635 h 6858000"/>
              <a:gd name="connsiteX45" fmla="*/ 966405 w 2632012"/>
              <a:gd name="connsiteY45" fmla="*/ 1439967 h 6858000"/>
              <a:gd name="connsiteX46" fmla="*/ 973516 w 2632012"/>
              <a:gd name="connsiteY46" fmla="*/ 1389073 h 6858000"/>
              <a:gd name="connsiteX47" fmla="*/ 986960 w 2632012"/>
              <a:gd name="connsiteY47" fmla="*/ 1351857 h 6858000"/>
              <a:gd name="connsiteX48" fmla="*/ 987761 w 2632012"/>
              <a:gd name="connsiteY48" fmla="*/ 1363479 h 6858000"/>
              <a:gd name="connsiteX49" fmla="*/ 989043 w 2632012"/>
              <a:gd name="connsiteY49" fmla="*/ 1346093 h 6858000"/>
              <a:gd name="connsiteX50" fmla="*/ 986960 w 2632012"/>
              <a:gd name="connsiteY50" fmla="*/ 1351857 h 6858000"/>
              <a:gd name="connsiteX51" fmla="*/ 985769 w 2632012"/>
              <a:gd name="connsiteY51" fmla="*/ 1334556 h 6858000"/>
              <a:gd name="connsiteX52" fmla="*/ 982507 w 2632012"/>
              <a:gd name="connsiteY52" fmla="*/ 1216698 h 6858000"/>
              <a:gd name="connsiteX53" fmla="*/ 984836 w 2632012"/>
              <a:gd name="connsiteY53" fmla="*/ 1082381 h 6858000"/>
              <a:gd name="connsiteX54" fmla="*/ 993140 w 2632012"/>
              <a:gd name="connsiteY54" fmla="*/ 1043366 h 6858000"/>
              <a:gd name="connsiteX55" fmla="*/ 995544 w 2632012"/>
              <a:gd name="connsiteY55" fmla="*/ 972540 h 6858000"/>
              <a:gd name="connsiteX56" fmla="*/ 1028500 w 2632012"/>
              <a:gd name="connsiteY56" fmla="*/ 923945 h 6858000"/>
              <a:gd name="connsiteX57" fmla="*/ 1022082 w 2632012"/>
              <a:gd name="connsiteY57" fmla="*/ 838835 h 6858000"/>
              <a:gd name="connsiteX58" fmla="*/ 1025925 w 2632012"/>
              <a:gd name="connsiteY58" fmla="*/ 787183 h 6858000"/>
              <a:gd name="connsiteX59" fmla="*/ 1027904 w 2632012"/>
              <a:gd name="connsiteY59" fmla="*/ 756272 h 6858000"/>
              <a:gd name="connsiteX60" fmla="*/ 1088796 w 2632012"/>
              <a:gd name="connsiteY60" fmla="*/ 641639 h 6858000"/>
              <a:gd name="connsiteX61" fmla="*/ 1164389 w 2632012"/>
              <a:gd name="connsiteY61" fmla="*/ 545140 h 6858000"/>
              <a:gd name="connsiteX62" fmla="*/ 1225321 w 2632012"/>
              <a:gd name="connsiteY62" fmla="*/ 413843 h 6858000"/>
              <a:gd name="connsiteX63" fmla="*/ 1241477 w 2632012"/>
              <a:gd name="connsiteY63" fmla="*/ 358607 h 6858000"/>
              <a:gd name="connsiteX64" fmla="*/ 1246119 w 2632012"/>
              <a:gd name="connsiteY64" fmla="*/ 254866 h 6858000"/>
              <a:gd name="connsiteX65" fmla="*/ 1266837 w 2632012"/>
              <a:gd name="connsiteY65" fmla="*/ 161517 h 6858000"/>
              <a:gd name="connsiteX66" fmla="*/ 1315021 w 2632012"/>
              <a:gd name="connsiteY66" fmla="*/ 54455 h 6858000"/>
              <a:gd name="connsiteX67" fmla="*/ 1319335 w 2632012"/>
              <a:gd name="connsiteY67" fmla="*/ 8880 h 6858000"/>
              <a:gd name="connsiteX68" fmla="*/ 1316402 w 2632012"/>
              <a:gd name="connsiteY68" fmla="*/ 852 h 6858000"/>
              <a:gd name="connsiteX69" fmla="*/ 1207569 w 2632012"/>
              <a:gd name="connsiteY69" fmla="*/ 0 h 6858000"/>
              <a:gd name="connsiteX0" fmla="*/ 932173 w 2632012"/>
              <a:gd name="connsiteY0" fmla="*/ 1512545 h 6858000"/>
              <a:gd name="connsiteX1" fmla="*/ 932462 w 2632012"/>
              <a:gd name="connsiteY1" fmla="*/ 1512581 h 6858000"/>
              <a:gd name="connsiteX2" fmla="*/ 932378 w 2632012"/>
              <a:gd name="connsiteY2" fmla="*/ 1512599 h 6858000"/>
              <a:gd name="connsiteX3" fmla="*/ 932173 w 2632012"/>
              <a:gd name="connsiteY3" fmla="*/ 1512545 h 6858000"/>
              <a:gd name="connsiteX4" fmla="*/ 1207569 w 2632012"/>
              <a:gd name="connsiteY4" fmla="*/ 0 h 6858000"/>
              <a:gd name="connsiteX5" fmla="*/ 2632012 w 2632012"/>
              <a:gd name="connsiteY5" fmla="*/ 0 h 6858000"/>
              <a:gd name="connsiteX6" fmla="*/ 2632012 w 2632012"/>
              <a:gd name="connsiteY6" fmla="*/ 6858000 h 6858000"/>
              <a:gd name="connsiteX7" fmla="*/ 13514 w 2632012"/>
              <a:gd name="connsiteY7" fmla="*/ 6858000 h 6858000"/>
              <a:gd name="connsiteX8" fmla="*/ 13170 w 2632012"/>
              <a:gd name="connsiteY8" fmla="*/ 6812829 h 6858000"/>
              <a:gd name="connsiteX9" fmla="*/ 20332 w 2632012"/>
              <a:gd name="connsiteY9" fmla="*/ 6760689 h 6858000"/>
              <a:gd name="connsiteX10" fmla="*/ 25596 w 2632012"/>
              <a:gd name="connsiteY10" fmla="*/ 6721251 h 6858000"/>
              <a:gd name="connsiteX11" fmla="*/ 22507 w 2632012"/>
              <a:gd name="connsiteY11" fmla="*/ 6650499 h 6858000"/>
              <a:gd name="connsiteX12" fmla="*/ 22444 w 2632012"/>
              <a:gd name="connsiteY12" fmla="*/ 6604241 h 6858000"/>
              <a:gd name="connsiteX13" fmla="*/ 31867 w 2632012"/>
              <a:gd name="connsiteY13" fmla="*/ 6559984 h 6858000"/>
              <a:gd name="connsiteX14" fmla="*/ 38635 w 2632012"/>
              <a:gd name="connsiteY14" fmla="*/ 6515473 h 6858000"/>
              <a:gd name="connsiteX15" fmla="*/ 38467 w 2632012"/>
              <a:gd name="connsiteY15" fmla="*/ 6463736 h 6858000"/>
              <a:gd name="connsiteX16" fmla="*/ 38052 w 2632012"/>
              <a:gd name="connsiteY16" fmla="*/ 6432794 h 6858000"/>
              <a:gd name="connsiteX17" fmla="*/ 80445 w 2632012"/>
              <a:gd name="connsiteY17" fmla="*/ 6301309 h 6858000"/>
              <a:gd name="connsiteX18" fmla="*/ 138157 w 2632012"/>
              <a:gd name="connsiteY18" fmla="*/ 6257030 h 6858000"/>
              <a:gd name="connsiteX19" fmla="*/ 170419 w 2632012"/>
              <a:gd name="connsiteY19" fmla="*/ 6171255 h 6858000"/>
              <a:gd name="connsiteX20" fmla="*/ 164027 w 2632012"/>
              <a:gd name="connsiteY20" fmla="*/ 6164357 h 6858000"/>
              <a:gd name="connsiteX21" fmla="*/ 213309 w 2632012"/>
              <a:gd name="connsiteY21" fmla="*/ 6109331 h 6858000"/>
              <a:gd name="connsiteX22" fmla="*/ 220409 w 2632012"/>
              <a:gd name="connsiteY22" fmla="*/ 6022287 h 6858000"/>
              <a:gd name="connsiteX23" fmla="*/ 219615 w 2632012"/>
              <a:gd name="connsiteY23" fmla="*/ 5557777 h 6858000"/>
              <a:gd name="connsiteX24" fmla="*/ 245711 w 2632012"/>
              <a:gd name="connsiteY24" fmla="*/ 5066230 h 6858000"/>
              <a:gd name="connsiteX25" fmla="*/ 276721 w 2632012"/>
              <a:gd name="connsiteY25" fmla="*/ 4162848 h 6858000"/>
              <a:gd name="connsiteX26" fmla="*/ 343082 w 2632012"/>
              <a:gd name="connsiteY26" fmla="*/ 3059377 h 6858000"/>
              <a:gd name="connsiteX27" fmla="*/ 369630 w 2632012"/>
              <a:gd name="connsiteY27" fmla="*/ 2692043 h 6858000"/>
              <a:gd name="connsiteX28" fmla="*/ 435324 w 2632012"/>
              <a:gd name="connsiteY28" fmla="*/ 2520083 h 6858000"/>
              <a:gd name="connsiteX29" fmla="*/ 482259 w 2632012"/>
              <a:gd name="connsiteY29" fmla="*/ 2336178 h 6858000"/>
              <a:gd name="connsiteX30" fmla="*/ 569515 w 2632012"/>
              <a:gd name="connsiteY30" fmla="*/ 2091909 h 6858000"/>
              <a:gd name="connsiteX31" fmla="*/ 638163 w 2632012"/>
              <a:gd name="connsiteY31" fmla="*/ 1994147 h 6858000"/>
              <a:gd name="connsiteX32" fmla="*/ 737312 w 2632012"/>
              <a:gd name="connsiteY32" fmla="*/ 1871408 h 6858000"/>
              <a:gd name="connsiteX33" fmla="*/ 788501 w 2632012"/>
              <a:gd name="connsiteY33" fmla="*/ 1793826 h 6858000"/>
              <a:gd name="connsiteX34" fmla="*/ 819432 w 2632012"/>
              <a:gd name="connsiteY34" fmla="*/ 1746824 h 6858000"/>
              <a:gd name="connsiteX35" fmla="*/ 843936 w 2632012"/>
              <a:gd name="connsiteY35" fmla="*/ 1697348 h 6858000"/>
              <a:gd name="connsiteX36" fmla="*/ 846526 w 2632012"/>
              <a:gd name="connsiteY36" fmla="*/ 1659754 h 6858000"/>
              <a:gd name="connsiteX37" fmla="*/ 873830 w 2632012"/>
              <a:gd name="connsiteY37" fmla="*/ 1628041 h 6858000"/>
              <a:gd name="connsiteX38" fmla="*/ 890626 w 2632012"/>
              <a:gd name="connsiteY38" fmla="*/ 1599883 h 6858000"/>
              <a:gd name="connsiteX39" fmla="*/ 921288 w 2632012"/>
              <a:gd name="connsiteY39" fmla="*/ 1579569 h 6858000"/>
              <a:gd name="connsiteX40" fmla="*/ 920756 w 2632012"/>
              <a:gd name="connsiteY40" fmla="*/ 1537369 h 6858000"/>
              <a:gd name="connsiteX41" fmla="*/ 946290 w 2632012"/>
              <a:gd name="connsiteY41" fmla="*/ 1514308 h 6858000"/>
              <a:gd name="connsiteX42" fmla="*/ 932462 w 2632012"/>
              <a:gd name="connsiteY42" fmla="*/ 1512581 h 6858000"/>
              <a:gd name="connsiteX43" fmla="*/ 940652 w 2632012"/>
              <a:gd name="connsiteY43" fmla="*/ 1510839 h 6858000"/>
              <a:gd name="connsiteX44" fmla="*/ 950739 w 2632012"/>
              <a:gd name="connsiteY44" fmla="*/ 1503635 h 6858000"/>
              <a:gd name="connsiteX45" fmla="*/ 966405 w 2632012"/>
              <a:gd name="connsiteY45" fmla="*/ 1439967 h 6858000"/>
              <a:gd name="connsiteX46" fmla="*/ 973516 w 2632012"/>
              <a:gd name="connsiteY46" fmla="*/ 1389073 h 6858000"/>
              <a:gd name="connsiteX47" fmla="*/ 986960 w 2632012"/>
              <a:gd name="connsiteY47" fmla="*/ 1351857 h 6858000"/>
              <a:gd name="connsiteX48" fmla="*/ 987761 w 2632012"/>
              <a:gd name="connsiteY48" fmla="*/ 1363479 h 6858000"/>
              <a:gd name="connsiteX49" fmla="*/ 989043 w 2632012"/>
              <a:gd name="connsiteY49" fmla="*/ 1346093 h 6858000"/>
              <a:gd name="connsiteX50" fmla="*/ 986960 w 2632012"/>
              <a:gd name="connsiteY50" fmla="*/ 1351857 h 6858000"/>
              <a:gd name="connsiteX51" fmla="*/ 985769 w 2632012"/>
              <a:gd name="connsiteY51" fmla="*/ 1334556 h 6858000"/>
              <a:gd name="connsiteX52" fmla="*/ 982507 w 2632012"/>
              <a:gd name="connsiteY52" fmla="*/ 1216698 h 6858000"/>
              <a:gd name="connsiteX53" fmla="*/ 984836 w 2632012"/>
              <a:gd name="connsiteY53" fmla="*/ 1082381 h 6858000"/>
              <a:gd name="connsiteX54" fmla="*/ 993140 w 2632012"/>
              <a:gd name="connsiteY54" fmla="*/ 1043366 h 6858000"/>
              <a:gd name="connsiteX55" fmla="*/ 995544 w 2632012"/>
              <a:gd name="connsiteY55" fmla="*/ 972540 h 6858000"/>
              <a:gd name="connsiteX56" fmla="*/ 1028500 w 2632012"/>
              <a:gd name="connsiteY56" fmla="*/ 923945 h 6858000"/>
              <a:gd name="connsiteX57" fmla="*/ 1022082 w 2632012"/>
              <a:gd name="connsiteY57" fmla="*/ 838835 h 6858000"/>
              <a:gd name="connsiteX58" fmla="*/ 1025925 w 2632012"/>
              <a:gd name="connsiteY58" fmla="*/ 787183 h 6858000"/>
              <a:gd name="connsiteX59" fmla="*/ 1027904 w 2632012"/>
              <a:gd name="connsiteY59" fmla="*/ 756272 h 6858000"/>
              <a:gd name="connsiteX60" fmla="*/ 1088796 w 2632012"/>
              <a:gd name="connsiteY60" fmla="*/ 641639 h 6858000"/>
              <a:gd name="connsiteX61" fmla="*/ 1164389 w 2632012"/>
              <a:gd name="connsiteY61" fmla="*/ 545140 h 6858000"/>
              <a:gd name="connsiteX62" fmla="*/ 1225321 w 2632012"/>
              <a:gd name="connsiteY62" fmla="*/ 413843 h 6858000"/>
              <a:gd name="connsiteX63" fmla="*/ 1241477 w 2632012"/>
              <a:gd name="connsiteY63" fmla="*/ 358607 h 6858000"/>
              <a:gd name="connsiteX64" fmla="*/ 1246119 w 2632012"/>
              <a:gd name="connsiteY64" fmla="*/ 254866 h 6858000"/>
              <a:gd name="connsiteX65" fmla="*/ 1266837 w 2632012"/>
              <a:gd name="connsiteY65" fmla="*/ 161517 h 6858000"/>
              <a:gd name="connsiteX66" fmla="*/ 1315021 w 2632012"/>
              <a:gd name="connsiteY66" fmla="*/ 54455 h 6858000"/>
              <a:gd name="connsiteX67" fmla="*/ 1319335 w 2632012"/>
              <a:gd name="connsiteY67" fmla="*/ 8880 h 6858000"/>
              <a:gd name="connsiteX68" fmla="*/ 1316402 w 2632012"/>
              <a:gd name="connsiteY68" fmla="*/ 852 h 6858000"/>
              <a:gd name="connsiteX69" fmla="*/ 1207569 w 2632012"/>
              <a:gd name="connsiteY69" fmla="*/ 0 h 6858000"/>
              <a:gd name="connsiteX0" fmla="*/ 932173 w 2632012"/>
              <a:gd name="connsiteY0" fmla="*/ 1512545 h 6858000"/>
              <a:gd name="connsiteX1" fmla="*/ 932462 w 2632012"/>
              <a:gd name="connsiteY1" fmla="*/ 1512581 h 6858000"/>
              <a:gd name="connsiteX2" fmla="*/ 932378 w 2632012"/>
              <a:gd name="connsiteY2" fmla="*/ 1512599 h 6858000"/>
              <a:gd name="connsiteX3" fmla="*/ 932173 w 2632012"/>
              <a:gd name="connsiteY3" fmla="*/ 1512545 h 6858000"/>
              <a:gd name="connsiteX4" fmla="*/ 1207569 w 2632012"/>
              <a:gd name="connsiteY4" fmla="*/ 0 h 6858000"/>
              <a:gd name="connsiteX5" fmla="*/ 2632012 w 2632012"/>
              <a:gd name="connsiteY5" fmla="*/ 0 h 6858000"/>
              <a:gd name="connsiteX6" fmla="*/ 2632012 w 2632012"/>
              <a:gd name="connsiteY6" fmla="*/ 6858000 h 6858000"/>
              <a:gd name="connsiteX7" fmla="*/ 13514 w 2632012"/>
              <a:gd name="connsiteY7" fmla="*/ 6858000 h 6858000"/>
              <a:gd name="connsiteX8" fmla="*/ 13170 w 2632012"/>
              <a:gd name="connsiteY8" fmla="*/ 6812829 h 6858000"/>
              <a:gd name="connsiteX9" fmla="*/ 20332 w 2632012"/>
              <a:gd name="connsiteY9" fmla="*/ 6760689 h 6858000"/>
              <a:gd name="connsiteX10" fmla="*/ 25596 w 2632012"/>
              <a:gd name="connsiteY10" fmla="*/ 6721251 h 6858000"/>
              <a:gd name="connsiteX11" fmla="*/ 22507 w 2632012"/>
              <a:gd name="connsiteY11" fmla="*/ 6650499 h 6858000"/>
              <a:gd name="connsiteX12" fmla="*/ 22444 w 2632012"/>
              <a:gd name="connsiteY12" fmla="*/ 6604241 h 6858000"/>
              <a:gd name="connsiteX13" fmla="*/ 31867 w 2632012"/>
              <a:gd name="connsiteY13" fmla="*/ 6559984 h 6858000"/>
              <a:gd name="connsiteX14" fmla="*/ 38635 w 2632012"/>
              <a:gd name="connsiteY14" fmla="*/ 6515473 h 6858000"/>
              <a:gd name="connsiteX15" fmla="*/ 38467 w 2632012"/>
              <a:gd name="connsiteY15" fmla="*/ 6463736 h 6858000"/>
              <a:gd name="connsiteX16" fmla="*/ 38052 w 2632012"/>
              <a:gd name="connsiteY16" fmla="*/ 6432794 h 6858000"/>
              <a:gd name="connsiteX17" fmla="*/ 80445 w 2632012"/>
              <a:gd name="connsiteY17" fmla="*/ 6301309 h 6858000"/>
              <a:gd name="connsiteX18" fmla="*/ 138157 w 2632012"/>
              <a:gd name="connsiteY18" fmla="*/ 6257030 h 6858000"/>
              <a:gd name="connsiteX19" fmla="*/ 170419 w 2632012"/>
              <a:gd name="connsiteY19" fmla="*/ 6171255 h 6858000"/>
              <a:gd name="connsiteX20" fmla="*/ 164027 w 2632012"/>
              <a:gd name="connsiteY20" fmla="*/ 6164357 h 6858000"/>
              <a:gd name="connsiteX21" fmla="*/ 213309 w 2632012"/>
              <a:gd name="connsiteY21" fmla="*/ 6109331 h 6858000"/>
              <a:gd name="connsiteX22" fmla="*/ 208456 w 2632012"/>
              <a:gd name="connsiteY22" fmla="*/ 5878851 h 6858000"/>
              <a:gd name="connsiteX23" fmla="*/ 219615 w 2632012"/>
              <a:gd name="connsiteY23" fmla="*/ 5557777 h 6858000"/>
              <a:gd name="connsiteX24" fmla="*/ 245711 w 2632012"/>
              <a:gd name="connsiteY24" fmla="*/ 5066230 h 6858000"/>
              <a:gd name="connsiteX25" fmla="*/ 276721 w 2632012"/>
              <a:gd name="connsiteY25" fmla="*/ 4162848 h 6858000"/>
              <a:gd name="connsiteX26" fmla="*/ 343082 w 2632012"/>
              <a:gd name="connsiteY26" fmla="*/ 3059377 h 6858000"/>
              <a:gd name="connsiteX27" fmla="*/ 369630 w 2632012"/>
              <a:gd name="connsiteY27" fmla="*/ 2692043 h 6858000"/>
              <a:gd name="connsiteX28" fmla="*/ 435324 w 2632012"/>
              <a:gd name="connsiteY28" fmla="*/ 2520083 h 6858000"/>
              <a:gd name="connsiteX29" fmla="*/ 482259 w 2632012"/>
              <a:gd name="connsiteY29" fmla="*/ 2336178 h 6858000"/>
              <a:gd name="connsiteX30" fmla="*/ 569515 w 2632012"/>
              <a:gd name="connsiteY30" fmla="*/ 2091909 h 6858000"/>
              <a:gd name="connsiteX31" fmla="*/ 638163 w 2632012"/>
              <a:gd name="connsiteY31" fmla="*/ 1994147 h 6858000"/>
              <a:gd name="connsiteX32" fmla="*/ 737312 w 2632012"/>
              <a:gd name="connsiteY32" fmla="*/ 1871408 h 6858000"/>
              <a:gd name="connsiteX33" fmla="*/ 788501 w 2632012"/>
              <a:gd name="connsiteY33" fmla="*/ 1793826 h 6858000"/>
              <a:gd name="connsiteX34" fmla="*/ 819432 w 2632012"/>
              <a:gd name="connsiteY34" fmla="*/ 1746824 h 6858000"/>
              <a:gd name="connsiteX35" fmla="*/ 843936 w 2632012"/>
              <a:gd name="connsiteY35" fmla="*/ 1697348 h 6858000"/>
              <a:gd name="connsiteX36" fmla="*/ 846526 w 2632012"/>
              <a:gd name="connsiteY36" fmla="*/ 1659754 h 6858000"/>
              <a:gd name="connsiteX37" fmla="*/ 873830 w 2632012"/>
              <a:gd name="connsiteY37" fmla="*/ 1628041 h 6858000"/>
              <a:gd name="connsiteX38" fmla="*/ 890626 w 2632012"/>
              <a:gd name="connsiteY38" fmla="*/ 1599883 h 6858000"/>
              <a:gd name="connsiteX39" fmla="*/ 921288 w 2632012"/>
              <a:gd name="connsiteY39" fmla="*/ 1579569 h 6858000"/>
              <a:gd name="connsiteX40" fmla="*/ 920756 w 2632012"/>
              <a:gd name="connsiteY40" fmla="*/ 1537369 h 6858000"/>
              <a:gd name="connsiteX41" fmla="*/ 946290 w 2632012"/>
              <a:gd name="connsiteY41" fmla="*/ 1514308 h 6858000"/>
              <a:gd name="connsiteX42" fmla="*/ 932462 w 2632012"/>
              <a:gd name="connsiteY42" fmla="*/ 1512581 h 6858000"/>
              <a:gd name="connsiteX43" fmla="*/ 940652 w 2632012"/>
              <a:gd name="connsiteY43" fmla="*/ 1510839 h 6858000"/>
              <a:gd name="connsiteX44" fmla="*/ 950739 w 2632012"/>
              <a:gd name="connsiteY44" fmla="*/ 1503635 h 6858000"/>
              <a:gd name="connsiteX45" fmla="*/ 966405 w 2632012"/>
              <a:gd name="connsiteY45" fmla="*/ 1439967 h 6858000"/>
              <a:gd name="connsiteX46" fmla="*/ 973516 w 2632012"/>
              <a:gd name="connsiteY46" fmla="*/ 1389073 h 6858000"/>
              <a:gd name="connsiteX47" fmla="*/ 986960 w 2632012"/>
              <a:gd name="connsiteY47" fmla="*/ 1351857 h 6858000"/>
              <a:gd name="connsiteX48" fmla="*/ 987761 w 2632012"/>
              <a:gd name="connsiteY48" fmla="*/ 1363479 h 6858000"/>
              <a:gd name="connsiteX49" fmla="*/ 989043 w 2632012"/>
              <a:gd name="connsiteY49" fmla="*/ 1346093 h 6858000"/>
              <a:gd name="connsiteX50" fmla="*/ 986960 w 2632012"/>
              <a:gd name="connsiteY50" fmla="*/ 1351857 h 6858000"/>
              <a:gd name="connsiteX51" fmla="*/ 985769 w 2632012"/>
              <a:gd name="connsiteY51" fmla="*/ 1334556 h 6858000"/>
              <a:gd name="connsiteX52" fmla="*/ 982507 w 2632012"/>
              <a:gd name="connsiteY52" fmla="*/ 1216698 h 6858000"/>
              <a:gd name="connsiteX53" fmla="*/ 984836 w 2632012"/>
              <a:gd name="connsiteY53" fmla="*/ 1082381 h 6858000"/>
              <a:gd name="connsiteX54" fmla="*/ 993140 w 2632012"/>
              <a:gd name="connsiteY54" fmla="*/ 1043366 h 6858000"/>
              <a:gd name="connsiteX55" fmla="*/ 995544 w 2632012"/>
              <a:gd name="connsiteY55" fmla="*/ 972540 h 6858000"/>
              <a:gd name="connsiteX56" fmla="*/ 1028500 w 2632012"/>
              <a:gd name="connsiteY56" fmla="*/ 923945 h 6858000"/>
              <a:gd name="connsiteX57" fmla="*/ 1022082 w 2632012"/>
              <a:gd name="connsiteY57" fmla="*/ 838835 h 6858000"/>
              <a:gd name="connsiteX58" fmla="*/ 1025925 w 2632012"/>
              <a:gd name="connsiteY58" fmla="*/ 787183 h 6858000"/>
              <a:gd name="connsiteX59" fmla="*/ 1027904 w 2632012"/>
              <a:gd name="connsiteY59" fmla="*/ 756272 h 6858000"/>
              <a:gd name="connsiteX60" fmla="*/ 1088796 w 2632012"/>
              <a:gd name="connsiteY60" fmla="*/ 641639 h 6858000"/>
              <a:gd name="connsiteX61" fmla="*/ 1164389 w 2632012"/>
              <a:gd name="connsiteY61" fmla="*/ 545140 h 6858000"/>
              <a:gd name="connsiteX62" fmla="*/ 1225321 w 2632012"/>
              <a:gd name="connsiteY62" fmla="*/ 413843 h 6858000"/>
              <a:gd name="connsiteX63" fmla="*/ 1241477 w 2632012"/>
              <a:gd name="connsiteY63" fmla="*/ 358607 h 6858000"/>
              <a:gd name="connsiteX64" fmla="*/ 1246119 w 2632012"/>
              <a:gd name="connsiteY64" fmla="*/ 254866 h 6858000"/>
              <a:gd name="connsiteX65" fmla="*/ 1266837 w 2632012"/>
              <a:gd name="connsiteY65" fmla="*/ 161517 h 6858000"/>
              <a:gd name="connsiteX66" fmla="*/ 1315021 w 2632012"/>
              <a:gd name="connsiteY66" fmla="*/ 54455 h 6858000"/>
              <a:gd name="connsiteX67" fmla="*/ 1319335 w 2632012"/>
              <a:gd name="connsiteY67" fmla="*/ 8880 h 6858000"/>
              <a:gd name="connsiteX68" fmla="*/ 1316402 w 2632012"/>
              <a:gd name="connsiteY68" fmla="*/ 852 h 6858000"/>
              <a:gd name="connsiteX69" fmla="*/ 1207569 w 2632012"/>
              <a:gd name="connsiteY6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2632012" h="6858000">
                <a:moveTo>
                  <a:pt x="932173" y="1512545"/>
                </a:moveTo>
                <a:lnTo>
                  <a:pt x="932462" y="1512581"/>
                </a:lnTo>
                <a:lnTo>
                  <a:pt x="932378" y="1512599"/>
                </a:lnTo>
                <a:cubicBezTo>
                  <a:pt x="930618" y="1512681"/>
                  <a:pt x="930202" y="1512462"/>
                  <a:pt x="932173" y="1512545"/>
                </a:cubicBezTo>
                <a:close/>
                <a:moveTo>
                  <a:pt x="1207569" y="0"/>
                </a:moveTo>
                <a:lnTo>
                  <a:pt x="2632012" y="0"/>
                </a:lnTo>
                <a:lnTo>
                  <a:pt x="2632012" y="6858000"/>
                </a:lnTo>
                <a:lnTo>
                  <a:pt x="13514" y="6858000"/>
                </a:lnTo>
                <a:cubicBezTo>
                  <a:pt x="13399" y="6842943"/>
                  <a:pt x="13285" y="6827886"/>
                  <a:pt x="13170" y="6812829"/>
                </a:cubicBezTo>
                <a:cubicBezTo>
                  <a:pt x="12714" y="6794763"/>
                  <a:pt x="13524" y="6777517"/>
                  <a:pt x="20332" y="6760689"/>
                </a:cubicBezTo>
                <a:cubicBezTo>
                  <a:pt x="10828" y="6746468"/>
                  <a:pt x="7794" y="6733277"/>
                  <a:pt x="25596" y="6721251"/>
                </a:cubicBezTo>
                <a:cubicBezTo>
                  <a:pt x="24143" y="6683539"/>
                  <a:pt x="1631" y="6673595"/>
                  <a:pt x="22507" y="6650499"/>
                </a:cubicBezTo>
                <a:cubicBezTo>
                  <a:pt x="-25124" y="6620536"/>
                  <a:pt x="16765" y="6629253"/>
                  <a:pt x="22444" y="6604241"/>
                </a:cubicBezTo>
                <a:cubicBezTo>
                  <a:pt x="28668" y="6588866"/>
                  <a:pt x="29169" y="6574778"/>
                  <a:pt x="31867" y="6559984"/>
                </a:cubicBezTo>
                <a:cubicBezTo>
                  <a:pt x="4443" y="6566661"/>
                  <a:pt x="62924" y="6515664"/>
                  <a:pt x="38635" y="6515473"/>
                </a:cubicBezTo>
                <a:cubicBezTo>
                  <a:pt x="72259" y="6495428"/>
                  <a:pt x="29118" y="6488543"/>
                  <a:pt x="38467" y="6463736"/>
                </a:cubicBezTo>
                <a:cubicBezTo>
                  <a:pt x="50944" y="6451623"/>
                  <a:pt x="52742" y="6443270"/>
                  <a:pt x="38052" y="6432794"/>
                </a:cubicBezTo>
                <a:cubicBezTo>
                  <a:pt x="98939" y="6376824"/>
                  <a:pt x="58603" y="6351821"/>
                  <a:pt x="80445" y="6301309"/>
                </a:cubicBezTo>
                <a:cubicBezTo>
                  <a:pt x="103917" y="6257537"/>
                  <a:pt x="78836" y="6301310"/>
                  <a:pt x="138157" y="6257030"/>
                </a:cubicBezTo>
                <a:cubicBezTo>
                  <a:pt x="155187" y="6248574"/>
                  <a:pt x="166108" y="6186701"/>
                  <a:pt x="170419" y="6171255"/>
                </a:cubicBezTo>
                <a:cubicBezTo>
                  <a:pt x="174731" y="6155809"/>
                  <a:pt x="166522" y="6166390"/>
                  <a:pt x="164027" y="6164357"/>
                </a:cubicBezTo>
                <a:cubicBezTo>
                  <a:pt x="206228" y="6137678"/>
                  <a:pt x="184454" y="6121750"/>
                  <a:pt x="213309" y="6109331"/>
                </a:cubicBezTo>
                <a:cubicBezTo>
                  <a:pt x="224262" y="6067371"/>
                  <a:pt x="183175" y="5890445"/>
                  <a:pt x="208456" y="5878851"/>
                </a:cubicBezTo>
                <a:cubicBezTo>
                  <a:pt x="225886" y="5808435"/>
                  <a:pt x="192379" y="5574013"/>
                  <a:pt x="219615" y="5557777"/>
                </a:cubicBezTo>
                <a:lnTo>
                  <a:pt x="245711" y="5066230"/>
                </a:lnTo>
                <a:cubicBezTo>
                  <a:pt x="117719" y="4582016"/>
                  <a:pt x="230524" y="4647254"/>
                  <a:pt x="276721" y="4162848"/>
                </a:cubicBezTo>
                <a:lnTo>
                  <a:pt x="343082" y="3059377"/>
                </a:lnTo>
                <a:cubicBezTo>
                  <a:pt x="347947" y="2889121"/>
                  <a:pt x="364765" y="2862299"/>
                  <a:pt x="369630" y="2692043"/>
                </a:cubicBezTo>
                <a:cubicBezTo>
                  <a:pt x="369393" y="2690043"/>
                  <a:pt x="435560" y="2522082"/>
                  <a:pt x="435324" y="2520083"/>
                </a:cubicBezTo>
                <a:lnTo>
                  <a:pt x="482259" y="2336178"/>
                </a:lnTo>
                <a:cubicBezTo>
                  <a:pt x="516201" y="2267350"/>
                  <a:pt x="537443" y="2148254"/>
                  <a:pt x="569515" y="2091909"/>
                </a:cubicBezTo>
                <a:cubicBezTo>
                  <a:pt x="629286" y="2030534"/>
                  <a:pt x="622061" y="2045605"/>
                  <a:pt x="638163" y="1994147"/>
                </a:cubicBezTo>
                <a:cubicBezTo>
                  <a:pt x="633178" y="1967912"/>
                  <a:pt x="705417" y="1945185"/>
                  <a:pt x="737312" y="1871408"/>
                </a:cubicBezTo>
                <a:cubicBezTo>
                  <a:pt x="759407" y="1814663"/>
                  <a:pt x="795838" y="1856475"/>
                  <a:pt x="788501" y="1793826"/>
                </a:cubicBezTo>
                <a:cubicBezTo>
                  <a:pt x="796402" y="1792725"/>
                  <a:pt x="813276" y="1750182"/>
                  <a:pt x="819432" y="1746824"/>
                </a:cubicBezTo>
                <a:lnTo>
                  <a:pt x="843936" y="1697348"/>
                </a:lnTo>
                <a:cubicBezTo>
                  <a:pt x="847635" y="1681502"/>
                  <a:pt x="845709" y="1667584"/>
                  <a:pt x="846526" y="1659754"/>
                </a:cubicBezTo>
                <a:lnTo>
                  <a:pt x="873830" y="1628041"/>
                </a:lnTo>
                <a:lnTo>
                  <a:pt x="890626" y="1599883"/>
                </a:lnTo>
                <a:lnTo>
                  <a:pt x="921288" y="1579569"/>
                </a:lnTo>
                <a:cubicBezTo>
                  <a:pt x="921111" y="1565502"/>
                  <a:pt x="920933" y="1551436"/>
                  <a:pt x="920756" y="1537369"/>
                </a:cubicBezTo>
                <a:cubicBezTo>
                  <a:pt x="918173" y="1533598"/>
                  <a:pt x="943194" y="1519497"/>
                  <a:pt x="946290" y="1514308"/>
                </a:cubicBezTo>
                <a:lnTo>
                  <a:pt x="932462" y="1512581"/>
                </a:lnTo>
                <a:lnTo>
                  <a:pt x="940652" y="1510839"/>
                </a:lnTo>
                <a:cubicBezTo>
                  <a:pt x="944059" y="1509546"/>
                  <a:pt x="947769" y="1507347"/>
                  <a:pt x="950739" y="1503635"/>
                </a:cubicBezTo>
                <a:lnTo>
                  <a:pt x="966405" y="1439967"/>
                </a:lnTo>
                <a:cubicBezTo>
                  <a:pt x="966567" y="1437915"/>
                  <a:pt x="970755" y="1392639"/>
                  <a:pt x="973516" y="1389073"/>
                </a:cubicBezTo>
                <a:lnTo>
                  <a:pt x="986960" y="1351857"/>
                </a:lnTo>
                <a:lnTo>
                  <a:pt x="987761" y="1363479"/>
                </a:lnTo>
                <a:cubicBezTo>
                  <a:pt x="987046" y="1391389"/>
                  <a:pt x="991418" y="1341827"/>
                  <a:pt x="989043" y="1346093"/>
                </a:cubicBezTo>
                <a:lnTo>
                  <a:pt x="986960" y="1351857"/>
                </a:lnTo>
                <a:lnTo>
                  <a:pt x="985769" y="1334556"/>
                </a:lnTo>
                <a:cubicBezTo>
                  <a:pt x="983992" y="1300062"/>
                  <a:pt x="982872" y="1251835"/>
                  <a:pt x="982507" y="1216698"/>
                </a:cubicBezTo>
                <a:cubicBezTo>
                  <a:pt x="989105" y="1176777"/>
                  <a:pt x="968656" y="1115073"/>
                  <a:pt x="984836" y="1082381"/>
                </a:cubicBezTo>
                <a:cubicBezTo>
                  <a:pt x="976467" y="1067557"/>
                  <a:pt x="974466" y="1054191"/>
                  <a:pt x="993140" y="1043366"/>
                </a:cubicBezTo>
                <a:cubicBezTo>
                  <a:pt x="994613" y="1005627"/>
                  <a:pt x="972947" y="994211"/>
                  <a:pt x="995544" y="972540"/>
                </a:cubicBezTo>
                <a:cubicBezTo>
                  <a:pt x="1001437" y="952637"/>
                  <a:pt x="1021106" y="938879"/>
                  <a:pt x="1028500" y="923945"/>
                </a:cubicBezTo>
                <a:cubicBezTo>
                  <a:pt x="1032923" y="901661"/>
                  <a:pt x="1022511" y="861628"/>
                  <a:pt x="1022082" y="838835"/>
                </a:cubicBezTo>
                <a:cubicBezTo>
                  <a:pt x="1057150" y="821053"/>
                  <a:pt x="1014683" y="811325"/>
                  <a:pt x="1025925" y="787183"/>
                </a:cubicBezTo>
                <a:cubicBezTo>
                  <a:pt x="1039299" y="775919"/>
                  <a:pt x="1041738" y="767701"/>
                  <a:pt x="1027904" y="756272"/>
                </a:cubicBezTo>
                <a:cubicBezTo>
                  <a:pt x="1092931" y="704439"/>
                  <a:pt x="1063111" y="690611"/>
                  <a:pt x="1088796" y="641639"/>
                </a:cubicBezTo>
                <a:cubicBezTo>
                  <a:pt x="1115586" y="599503"/>
                  <a:pt x="1101832" y="585408"/>
                  <a:pt x="1164389" y="545140"/>
                </a:cubicBezTo>
                <a:cubicBezTo>
                  <a:pt x="1183904" y="515341"/>
                  <a:pt x="1212474" y="444932"/>
                  <a:pt x="1225321" y="413843"/>
                </a:cubicBezTo>
                <a:cubicBezTo>
                  <a:pt x="1235550" y="389613"/>
                  <a:pt x="1230254" y="392779"/>
                  <a:pt x="1241477" y="358607"/>
                </a:cubicBezTo>
                <a:cubicBezTo>
                  <a:pt x="1244505" y="325057"/>
                  <a:pt x="1241891" y="287714"/>
                  <a:pt x="1246119" y="254866"/>
                </a:cubicBezTo>
                <a:cubicBezTo>
                  <a:pt x="1250325" y="233178"/>
                  <a:pt x="1255354" y="194919"/>
                  <a:pt x="1266837" y="161517"/>
                </a:cubicBezTo>
                <a:cubicBezTo>
                  <a:pt x="1312077" y="135871"/>
                  <a:pt x="1280314" y="75805"/>
                  <a:pt x="1315021" y="54455"/>
                </a:cubicBezTo>
                <a:cubicBezTo>
                  <a:pt x="1325412" y="38765"/>
                  <a:pt x="1323873" y="23602"/>
                  <a:pt x="1319335" y="8880"/>
                </a:cubicBezTo>
                <a:lnTo>
                  <a:pt x="1316402" y="852"/>
                </a:lnTo>
                <a:lnTo>
                  <a:pt x="1207569"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C72EA95-B8EC-6BFE-671C-A753D0408989}"/>
              </a:ext>
            </a:extLst>
          </p:cNvPr>
          <p:cNvSpPr>
            <a:spLocks noGrp="1"/>
          </p:cNvSpPr>
          <p:nvPr>
            <p:ph type="title"/>
          </p:nvPr>
        </p:nvSpPr>
        <p:spPr>
          <a:xfrm>
            <a:off x="466478" y="212297"/>
            <a:ext cx="9770022" cy="1330841"/>
          </a:xfrm>
        </p:spPr>
        <p:txBody>
          <a:bodyPr>
            <a:normAutofit/>
          </a:bodyPr>
          <a:lstStyle/>
          <a:p>
            <a:r>
              <a:rPr lang="en-US" dirty="0"/>
              <a:t>Pharmacology in the 21st Century</a:t>
            </a:r>
          </a:p>
        </p:txBody>
      </p:sp>
      <p:sp>
        <p:nvSpPr>
          <p:cNvPr id="3" name="Content Placeholder 2">
            <a:extLst>
              <a:ext uri="{FF2B5EF4-FFF2-40B4-BE49-F238E27FC236}">
                <a16:creationId xmlns:a16="http://schemas.microsoft.com/office/drawing/2014/main" id="{0FEA68AE-79D6-1894-F00E-ABCEC0C2A388}"/>
              </a:ext>
            </a:extLst>
          </p:cNvPr>
          <p:cNvSpPr>
            <a:spLocks noGrp="1"/>
          </p:cNvSpPr>
          <p:nvPr>
            <p:ph idx="1"/>
          </p:nvPr>
        </p:nvSpPr>
        <p:spPr>
          <a:xfrm>
            <a:off x="358219" y="1637211"/>
            <a:ext cx="7126663" cy="4465477"/>
          </a:xfrm>
        </p:spPr>
        <p:txBody>
          <a:bodyPr>
            <a:normAutofit lnSpcReduction="10000"/>
          </a:bodyPr>
          <a:lstStyle/>
          <a:p>
            <a:pPr marL="0" indent="0">
              <a:buNone/>
            </a:pPr>
            <a:r>
              <a:rPr lang="en-US" sz="1600" dirty="0"/>
              <a:t>One of the most promising advances in the field of medications is that of </a:t>
            </a:r>
            <a:r>
              <a:rPr lang="en-US" sz="1600" u="sng" dirty="0">
                <a:solidFill>
                  <a:srgbClr val="FF0000"/>
                </a:solidFill>
              </a:rPr>
              <a:t>pharmacogenetics</a:t>
            </a:r>
            <a:r>
              <a:rPr lang="en-US" sz="1600" dirty="0"/>
              <a:t>, which is the “study of individual candidate genes as powerful tools to explain interindividual variability in drug response.”</a:t>
            </a:r>
          </a:p>
          <a:p>
            <a:pPr marL="0" indent="0">
              <a:buNone/>
            </a:pPr>
            <a:endParaRPr lang="en-US" sz="1600" dirty="0"/>
          </a:p>
          <a:p>
            <a:pPr marL="0" indent="0">
              <a:buNone/>
            </a:pPr>
            <a:r>
              <a:rPr lang="en-US" sz="1600" dirty="0"/>
              <a:t>The patient’s genetic material is analyzed, and then in the case of cancer, the tumor’s genetics are analyzed to figure out the best drug and what dosage will work best to combat the disease. </a:t>
            </a:r>
          </a:p>
          <a:p>
            <a:pPr marL="0" indent="0">
              <a:buNone/>
            </a:pPr>
            <a:endParaRPr lang="en-US" sz="1600" dirty="0"/>
          </a:p>
          <a:p>
            <a:pPr marL="0" indent="0">
              <a:buNone/>
            </a:pPr>
            <a:r>
              <a:rPr lang="en-US" sz="1600" dirty="0"/>
              <a:t>Currently, there are certain medications and doses used to treat conditions for every adult patient with that condition. </a:t>
            </a:r>
          </a:p>
          <a:p>
            <a:pPr marL="0" indent="0">
              <a:buNone/>
            </a:pPr>
            <a:endParaRPr lang="en-US" sz="1600" dirty="0"/>
          </a:p>
          <a:p>
            <a:pPr marL="0" indent="0">
              <a:buNone/>
            </a:pPr>
            <a:r>
              <a:rPr lang="en-US" sz="1600" dirty="0"/>
              <a:t>Through these advances in pharmacogenetics, the ability to individualize drugs and their dosage is happening in the treatment of HIV and rheumatoid arthritis. </a:t>
            </a:r>
          </a:p>
          <a:p>
            <a:pPr marL="0" indent="0">
              <a:buNone/>
            </a:pPr>
            <a:endParaRPr lang="en-US" sz="1600" dirty="0"/>
          </a:p>
          <a:p>
            <a:pPr marL="0" indent="0">
              <a:buNone/>
            </a:pPr>
            <a:r>
              <a:rPr lang="en-US" sz="1600" dirty="0"/>
              <a:t>In addition, the hope is that in the future we can specifically tailor drugs and dosages for opioids and antihypertensives, among other medications.</a:t>
            </a:r>
          </a:p>
        </p:txBody>
      </p:sp>
      <p:sp>
        <p:nvSpPr>
          <p:cNvPr id="22" name="Freeform: Shape 21">
            <a:extLst>
              <a:ext uri="{FF2B5EF4-FFF2-40B4-BE49-F238E27FC236}">
                <a16:creationId xmlns:a16="http://schemas.microsoft.com/office/drawing/2014/main" id="{B7D3B4FC-79F4-47D2-9D79-DA876E6AD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0496" y="2022496"/>
            <a:ext cx="3795039" cy="4043934"/>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381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 name="Picture 3">
            <a:extLst>
              <a:ext uri="{FF2B5EF4-FFF2-40B4-BE49-F238E27FC236}">
                <a16:creationId xmlns:a16="http://schemas.microsoft.com/office/drawing/2014/main" id="{9C6E314B-3CC2-C2F3-6D4A-7A3BB655C719}"/>
              </a:ext>
            </a:extLst>
          </p:cNvPr>
          <p:cNvPicPr>
            <a:picLocks noChangeAspect="1"/>
          </p:cNvPicPr>
          <p:nvPr/>
        </p:nvPicPr>
        <p:blipFill>
          <a:blip r:embed="rId2"/>
          <a:stretch>
            <a:fillRect/>
          </a:stretch>
        </p:blipFill>
        <p:spPr>
          <a:xfrm>
            <a:off x="7891362" y="2981212"/>
            <a:ext cx="3482910" cy="2137240"/>
          </a:xfrm>
          <a:prstGeom prst="rect">
            <a:avLst/>
          </a:prstGeom>
        </p:spPr>
      </p:pic>
      <p:sp>
        <p:nvSpPr>
          <p:cNvPr id="24" name="Rectangle 6">
            <a:extLst>
              <a:ext uri="{FF2B5EF4-FFF2-40B4-BE49-F238E27FC236}">
                <a16:creationId xmlns:a16="http://schemas.microsoft.com/office/drawing/2014/main" id="{2775D660-3127-4688-9782-F7C4639B16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2788" y="5952857"/>
            <a:ext cx="1367625"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86634499-11F8-1A60-162D-1353D1792A32}"/>
              </a:ext>
            </a:extLst>
          </p:cNvPr>
          <p:cNvSpPr>
            <a:spLocks noGrp="1"/>
          </p:cNvSpPr>
          <p:nvPr>
            <p:ph type="sldNum" sz="quarter" idx="12"/>
          </p:nvPr>
        </p:nvSpPr>
        <p:spPr/>
        <p:txBody>
          <a:bodyPr/>
          <a:lstStyle/>
          <a:p>
            <a:fld id="{F3F21C36-1BA9-4333-87E5-4E5D23EC055B}" type="slidenum">
              <a:rPr lang="en-US" smtClean="0"/>
              <a:t>7</a:t>
            </a:fld>
            <a:endParaRPr lang="en-US"/>
          </a:p>
        </p:txBody>
      </p:sp>
    </p:spTree>
    <p:extLst>
      <p:ext uri="{BB962C8B-B14F-4D97-AF65-F5344CB8AC3E}">
        <p14:creationId xmlns:p14="http://schemas.microsoft.com/office/powerpoint/2010/main" val="2908983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836A9F-AD92-814C-8C69-2FD2E8E431BA}"/>
              </a:ext>
            </a:extLst>
          </p:cNvPr>
          <p:cNvSpPr>
            <a:spLocks noGrp="1"/>
          </p:cNvSpPr>
          <p:nvPr>
            <p:ph type="title"/>
          </p:nvPr>
        </p:nvSpPr>
        <p:spPr>
          <a:xfrm>
            <a:off x="572493" y="238539"/>
            <a:ext cx="11018520" cy="930385"/>
          </a:xfrm>
        </p:spPr>
        <p:txBody>
          <a:bodyPr anchor="b">
            <a:normAutofit/>
          </a:bodyPr>
          <a:lstStyle/>
          <a:p>
            <a:r>
              <a:rPr lang="en-US" sz="3600" dirty="0"/>
              <a:t>SOURCES OF DRUGS</a:t>
            </a:r>
          </a:p>
        </p:txBody>
      </p:sp>
      <p:sp>
        <p:nvSpPr>
          <p:cNvPr id="20"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52AC11A-8C18-5F25-E424-6B8E673AC8CD}"/>
              </a:ext>
            </a:extLst>
          </p:cNvPr>
          <p:cNvSpPr>
            <a:spLocks noGrp="1"/>
          </p:cNvSpPr>
          <p:nvPr>
            <p:ph idx="1"/>
          </p:nvPr>
        </p:nvSpPr>
        <p:spPr>
          <a:xfrm>
            <a:off x="320510" y="2071316"/>
            <a:ext cx="7154945" cy="4119172"/>
          </a:xfrm>
        </p:spPr>
        <p:txBody>
          <a:bodyPr anchor="t">
            <a:normAutofit/>
          </a:bodyPr>
          <a:lstStyle/>
          <a:p>
            <a:pPr marL="0" indent="0">
              <a:buNone/>
            </a:pPr>
            <a:r>
              <a:rPr lang="en-US" sz="1700" dirty="0"/>
              <a:t>Although most drugs are now manufactured in laboratories, many agents are still derived from natural substances such as plants, animals, minerals, and toxins. Some are utilized by extracting active ingredients from animals or plants and using these ingredients to manufacture medication.</a:t>
            </a:r>
          </a:p>
          <a:p>
            <a:pPr marL="0" indent="0">
              <a:buNone/>
            </a:pPr>
            <a:endParaRPr lang="en-US" sz="1700" dirty="0"/>
          </a:p>
          <a:p>
            <a:pPr marL="0" indent="0">
              <a:buNone/>
            </a:pPr>
            <a:r>
              <a:rPr lang="en-US" sz="1700" dirty="0"/>
              <a:t>Some drugs are made by combining chemicals with natural products, such as hydrocodone, which combines natural opium in the form of codeine combined with acetaminophen (a man-made medication), whereas other drugs are synthesized in a laboratory. </a:t>
            </a:r>
          </a:p>
          <a:p>
            <a:pPr marL="0" indent="0">
              <a:buNone/>
            </a:pPr>
            <a:r>
              <a:rPr lang="en-US" sz="1700" dirty="0"/>
              <a:t>Barbiturates are an example of synthetic drugs because they are chemically derived from barbituric acid (itself an artificial compound of urea and malonic acid).</a:t>
            </a:r>
          </a:p>
          <a:p>
            <a:pPr marL="0" indent="0">
              <a:buNone/>
            </a:pPr>
            <a:endParaRPr lang="en-US" sz="1700" dirty="0"/>
          </a:p>
          <a:p>
            <a:pPr marL="0" indent="0">
              <a:buNone/>
            </a:pPr>
            <a:r>
              <a:rPr lang="en-US" sz="1700" dirty="0"/>
              <a:t>Examples of drug sources: Plants, Animals, Minerals, Toxins, Synthetics</a:t>
            </a:r>
          </a:p>
        </p:txBody>
      </p:sp>
      <p:pic>
        <p:nvPicPr>
          <p:cNvPr id="4" name="Picture 3">
            <a:extLst>
              <a:ext uri="{FF2B5EF4-FFF2-40B4-BE49-F238E27FC236}">
                <a16:creationId xmlns:a16="http://schemas.microsoft.com/office/drawing/2014/main" id="{507D466C-A7FD-C251-E6DD-D1C78C6EDD0B}"/>
              </a:ext>
            </a:extLst>
          </p:cNvPr>
          <p:cNvPicPr>
            <a:picLocks noChangeAspect="1"/>
          </p:cNvPicPr>
          <p:nvPr/>
        </p:nvPicPr>
        <p:blipFill rotWithShape="1">
          <a:blip r:embed="rId2"/>
          <a:srcRect l="20195" r="11260" b="2"/>
          <a:stretch/>
        </p:blipFill>
        <p:spPr>
          <a:xfrm>
            <a:off x="7675658" y="2093976"/>
            <a:ext cx="3941064" cy="4096512"/>
          </a:xfrm>
          <a:prstGeom prst="rect">
            <a:avLst/>
          </a:prstGeom>
        </p:spPr>
      </p:pic>
      <p:sp>
        <p:nvSpPr>
          <p:cNvPr id="5" name="Slide Number Placeholder 4">
            <a:extLst>
              <a:ext uri="{FF2B5EF4-FFF2-40B4-BE49-F238E27FC236}">
                <a16:creationId xmlns:a16="http://schemas.microsoft.com/office/drawing/2014/main" id="{A1E58F21-7885-3163-6AC0-39BADA8CE193}"/>
              </a:ext>
            </a:extLst>
          </p:cNvPr>
          <p:cNvSpPr>
            <a:spLocks noGrp="1"/>
          </p:cNvSpPr>
          <p:nvPr>
            <p:ph type="sldNum" sz="quarter" idx="12"/>
          </p:nvPr>
        </p:nvSpPr>
        <p:spPr/>
        <p:txBody>
          <a:bodyPr/>
          <a:lstStyle/>
          <a:p>
            <a:fld id="{F3F21C36-1BA9-4333-87E5-4E5D23EC055B}" type="slidenum">
              <a:rPr lang="en-US" smtClean="0"/>
              <a:t>8</a:t>
            </a:fld>
            <a:endParaRPr lang="en-US"/>
          </a:p>
        </p:txBody>
      </p:sp>
    </p:spTree>
    <p:extLst>
      <p:ext uri="{BB962C8B-B14F-4D97-AF65-F5344CB8AC3E}">
        <p14:creationId xmlns:p14="http://schemas.microsoft.com/office/powerpoint/2010/main" val="4222146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051BB-68C6-1478-4899-7B9514C6CDC4}"/>
              </a:ext>
            </a:extLst>
          </p:cNvPr>
          <p:cNvSpPr>
            <a:spLocks noGrp="1"/>
          </p:cNvSpPr>
          <p:nvPr>
            <p:ph type="title"/>
          </p:nvPr>
        </p:nvSpPr>
        <p:spPr>
          <a:xfrm>
            <a:off x="252548" y="243206"/>
            <a:ext cx="11617233" cy="723446"/>
          </a:xfrm>
        </p:spPr>
        <p:txBody>
          <a:bodyPr>
            <a:normAutofit/>
          </a:bodyPr>
          <a:lstStyle/>
          <a:p>
            <a:r>
              <a:rPr lang="en-US" sz="3200" dirty="0"/>
              <a:t>Plants: </a:t>
            </a:r>
            <a:r>
              <a:rPr lang="en-US" sz="1600" dirty="0"/>
              <a:t>Today, plants are rarely used as medications; the active component of the plant is extracted and utilized </a:t>
            </a:r>
            <a:endParaRPr lang="en-US" sz="3200" dirty="0"/>
          </a:p>
        </p:txBody>
      </p:sp>
      <p:sp>
        <p:nvSpPr>
          <p:cNvPr id="3" name="Content Placeholder 2">
            <a:extLst>
              <a:ext uri="{FF2B5EF4-FFF2-40B4-BE49-F238E27FC236}">
                <a16:creationId xmlns:a16="http://schemas.microsoft.com/office/drawing/2014/main" id="{7B2FC6E3-213C-CE94-CE97-66C35176E400}"/>
              </a:ext>
            </a:extLst>
          </p:cNvPr>
          <p:cNvSpPr>
            <a:spLocks noGrp="1"/>
          </p:cNvSpPr>
          <p:nvPr>
            <p:ph idx="1"/>
          </p:nvPr>
        </p:nvSpPr>
        <p:spPr>
          <a:xfrm>
            <a:off x="252549" y="1088572"/>
            <a:ext cx="11617234" cy="5088391"/>
          </a:xfrm>
        </p:spPr>
        <p:txBody>
          <a:bodyPr>
            <a:normAutofit/>
          </a:bodyPr>
          <a:lstStyle/>
          <a:p>
            <a:pPr>
              <a:buFont typeface="Wingdings" panose="05000000000000000000" pitchFamily="2" charset="2"/>
              <a:buChar char="§"/>
            </a:pPr>
            <a:r>
              <a:rPr lang="en-US" sz="2000" dirty="0"/>
              <a:t>Digoxin (Lanoxin), a drug used to treat heart failure, is made from the foxglove plant and has been used for healing since the 1500s. </a:t>
            </a:r>
          </a:p>
          <a:p>
            <a:pPr>
              <a:buFont typeface="Wingdings" panose="05000000000000000000" pitchFamily="2" charset="2"/>
              <a:buChar char="§"/>
            </a:pPr>
            <a:r>
              <a:rPr lang="en-US" sz="2000" dirty="0"/>
              <a:t>Most estrogen hormone replacements come from yams. </a:t>
            </a:r>
          </a:p>
          <a:p>
            <a:pPr>
              <a:buFont typeface="Wingdings" panose="05000000000000000000" pitchFamily="2" charset="2"/>
              <a:buChar char="§"/>
            </a:pPr>
            <a:r>
              <a:rPr lang="en-US" sz="2000" dirty="0"/>
              <a:t>Procaine (Novocain), used as an anesthetic, is derived from the coca plant. </a:t>
            </a:r>
          </a:p>
          <a:p>
            <a:pPr>
              <a:buFont typeface="Wingdings" panose="05000000000000000000" pitchFamily="2" charset="2"/>
              <a:buChar char="§"/>
            </a:pPr>
            <a:r>
              <a:rPr lang="en-US" sz="2000" dirty="0"/>
              <a:t>Rose hips are a rich source of vitamin C and are sold as an ingredient in vitamin C supplements. </a:t>
            </a:r>
          </a:p>
          <a:p>
            <a:pPr>
              <a:buFont typeface="Wingdings" panose="05000000000000000000" pitchFamily="2" charset="2"/>
              <a:buChar char="§"/>
            </a:pPr>
            <a:r>
              <a:rPr lang="en-US" sz="2000" dirty="0"/>
              <a:t>Aspirin (acetylsalicylic acid) is a compound based on </a:t>
            </a:r>
            <a:r>
              <a:rPr lang="en-US" sz="2000" dirty="0" err="1"/>
              <a:t>salicin</a:t>
            </a:r>
            <a:r>
              <a:rPr lang="en-US" sz="2000" dirty="0"/>
              <a:t>, which is found in the bark of a white willow tree and is used to relieve pain and to treat inflammation.</a:t>
            </a:r>
          </a:p>
        </p:txBody>
      </p:sp>
      <p:pic>
        <p:nvPicPr>
          <p:cNvPr id="5" name="Picture 4">
            <a:extLst>
              <a:ext uri="{FF2B5EF4-FFF2-40B4-BE49-F238E27FC236}">
                <a16:creationId xmlns:a16="http://schemas.microsoft.com/office/drawing/2014/main" id="{0125DC6F-E825-D761-A428-13D694DD9682}"/>
              </a:ext>
            </a:extLst>
          </p:cNvPr>
          <p:cNvPicPr>
            <a:picLocks noChangeAspect="1"/>
          </p:cNvPicPr>
          <p:nvPr/>
        </p:nvPicPr>
        <p:blipFill>
          <a:blip r:embed="rId2"/>
          <a:stretch>
            <a:fillRect/>
          </a:stretch>
        </p:blipFill>
        <p:spPr>
          <a:xfrm>
            <a:off x="9159350" y="3632767"/>
            <a:ext cx="1499942" cy="2523963"/>
          </a:xfrm>
          <a:prstGeom prst="rect">
            <a:avLst/>
          </a:prstGeom>
        </p:spPr>
      </p:pic>
      <p:sp>
        <p:nvSpPr>
          <p:cNvPr id="7" name="Slide Number Placeholder 6">
            <a:extLst>
              <a:ext uri="{FF2B5EF4-FFF2-40B4-BE49-F238E27FC236}">
                <a16:creationId xmlns:a16="http://schemas.microsoft.com/office/drawing/2014/main" id="{253459FF-DE3D-5BAB-C6BE-D74030E5A988}"/>
              </a:ext>
            </a:extLst>
          </p:cNvPr>
          <p:cNvSpPr>
            <a:spLocks noGrp="1"/>
          </p:cNvSpPr>
          <p:nvPr>
            <p:ph type="sldNum" sz="quarter" idx="12"/>
          </p:nvPr>
        </p:nvSpPr>
        <p:spPr/>
        <p:txBody>
          <a:bodyPr/>
          <a:lstStyle/>
          <a:p>
            <a:fld id="{F3F21C36-1BA9-4333-87E5-4E5D23EC055B}" type="slidenum">
              <a:rPr lang="en-US" smtClean="0"/>
              <a:t>9</a:t>
            </a:fld>
            <a:endParaRPr lang="en-US"/>
          </a:p>
        </p:txBody>
      </p:sp>
      <p:sp>
        <p:nvSpPr>
          <p:cNvPr id="8" name="TextBox 7">
            <a:extLst>
              <a:ext uri="{FF2B5EF4-FFF2-40B4-BE49-F238E27FC236}">
                <a16:creationId xmlns:a16="http://schemas.microsoft.com/office/drawing/2014/main" id="{11C402AA-DCF0-2C78-C857-0C09646A3460}"/>
              </a:ext>
            </a:extLst>
          </p:cNvPr>
          <p:cNvSpPr txBox="1"/>
          <p:nvPr/>
        </p:nvSpPr>
        <p:spPr>
          <a:xfrm>
            <a:off x="9187543" y="6356350"/>
            <a:ext cx="1567543" cy="276999"/>
          </a:xfrm>
          <a:prstGeom prst="rect">
            <a:avLst/>
          </a:prstGeom>
          <a:noFill/>
        </p:spPr>
        <p:txBody>
          <a:bodyPr wrap="square" rtlCol="0">
            <a:spAutoFit/>
          </a:bodyPr>
          <a:lstStyle/>
          <a:p>
            <a:pPr algn="ctr"/>
            <a:r>
              <a:rPr lang="en-US" sz="1200" dirty="0"/>
              <a:t>Foxglove - Digoxin</a:t>
            </a:r>
          </a:p>
        </p:txBody>
      </p:sp>
      <p:sp>
        <p:nvSpPr>
          <p:cNvPr id="9" name="TextBox 8">
            <a:extLst>
              <a:ext uri="{FF2B5EF4-FFF2-40B4-BE49-F238E27FC236}">
                <a16:creationId xmlns:a16="http://schemas.microsoft.com/office/drawing/2014/main" id="{C9BABDD9-D13B-47EB-2ED5-C8DCA8B945AF}"/>
              </a:ext>
            </a:extLst>
          </p:cNvPr>
          <p:cNvSpPr txBox="1"/>
          <p:nvPr/>
        </p:nvSpPr>
        <p:spPr>
          <a:xfrm>
            <a:off x="1314994" y="6337795"/>
            <a:ext cx="1567543" cy="276999"/>
          </a:xfrm>
          <a:prstGeom prst="rect">
            <a:avLst/>
          </a:prstGeom>
          <a:noFill/>
        </p:spPr>
        <p:txBody>
          <a:bodyPr wrap="square" rtlCol="0">
            <a:spAutoFit/>
          </a:bodyPr>
          <a:lstStyle/>
          <a:p>
            <a:pPr algn="ctr"/>
            <a:r>
              <a:rPr lang="en-US" sz="1200" dirty="0"/>
              <a:t>Rose hips – Vitamin C</a:t>
            </a:r>
          </a:p>
        </p:txBody>
      </p:sp>
      <p:pic>
        <p:nvPicPr>
          <p:cNvPr id="10" name="Picture 9">
            <a:extLst>
              <a:ext uri="{FF2B5EF4-FFF2-40B4-BE49-F238E27FC236}">
                <a16:creationId xmlns:a16="http://schemas.microsoft.com/office/drawing/2014/main" id="{19945A6F-3585-2D1A-E092-DD43533A1FB8}"/>
              </a:ext>
            </a:extLst>
          </p:cNvPr>
          <p:cNvPicPr>
            <a:picLocks noChangeAspect="1"/>
          </p:cNvPicPr>
          <p:nvPr/>
        </p:nvPicPr>
        <p:blipFill>
          <a:blip r:embed="rId3"/>
          <a:stretch>
            <a:fillRect/>
          </a:stretch>
        </p:blipFill>
        <p:spPr>
          <a:xfrm>
            <a:off x="8287430" y="1575708"/>
            <a:ext cx="1800225" cy="888819"/>
          </a:xfrm>
          <a:prstGeom prst="rect">
            <a:avLst/>
          </a:prstGeom>
        </p:spPr>
      </p:pic>
      <p:pic>
        <p:nvPicPr>
          <p:cNvPr id="11" name="Picture 10">
            <a:extLst>
              <a:ext uri="{FF2B5EF4-FFF2-40B4-BE49-F238E27FC236}">
                <a16:creationId xmlns:a16="http://schemas.microsoft.com/office/drawing/2014/main" id="{8248B7E7-2FA6-96EA-F4F4-1E000E2AF879}"/>
              </a:ext>
            </a:extLst>
          </p:cNvPr>
          <p:cNvPicPr>
            <a:picLocks noChangeAspect="1"/>
          </p:cNvPicPr>
          <p:nvPr/>
        </p:nvPicPr>
        <p:blipFill>
          <a:blip r:embed="rId4"/>
          <a:stretch>
            <a:fillRect/>
          </a:stretch>
        </p:blipFill>
        <p:spPr>
          <a:xfrm>
            <a:off x="1231991" y="3881438"/>
            <a:ext cx="1733550" cy="2295525"/>
          </a:xfrm>
          <a:prstGeom prst="rect">
            <a:avLst/>
          </a:prstGeom>
        </p:spPr>
      </p:pic>
      <p:pic>
        <p:nvPicPr>
          <p:cNvPr id="12" name="Picture 11">
            <a:extLst>
              <a:ext uri="{FF2B5EF4-FFF2-40B4-BE49-F238E27FC236}">
                <a16:creationId xmlns:a16="http://schemas.microsoft.com/office/drawing/2014/main" id="{7808E06C-CF8A-635B-FEED-6869A6C987AC}"/>
              </a:ext>
            </a:extLst>
          </p:cNvPr>
          <p:cNvPicPr>
            <a:picLocks noChangeAspect="1"/>
          </p:cNvPicPr>
          <p:nvPr/>
        </p:nvPicPr>
        <p:blipFill>
          <a:blip r:embed="rId5"/>
          <a:stretch>
            <a:fillRect/>
          </a:stretch>
        </p:blipFill>
        <p:spPr>
          <a:xfrm>
            <a:off x="4238625" y="3822383"/>
            <a:ext cx="3714750" cy="2334347"/>
          </a:xfrm>
          <a:prstGeom prst="rect">
            <a:avLst/>
          </a:prstGeom>
        </p:spPr>
      </p:pic>
      <p:sp>
        <p:nvSpPr>
          <p:cNvPr id="13" name="TextBox 12">
            <a:extLst>
              <a:ext uri="{FF2B5EF4-FFF2-40B4-BE49-F238E27FC236}">
                <a16:creationId xmlns:a16="http://schemas.microsoft.com/office/drawing/2014/main" id="{1FE04BC7-D2B0-ED77-586F-0D64B85DD737}"/>
              </a:ext>
            </a:extLst>
          </p:cNvPr>
          <p:cNvSpPr txBox="1"/>
          <p:nvPr/>
        </p:nvSpPr>
        <p:spPr>
          <a:xfrm>
            <a:off x="5159829" y="6337794"/>
            <a:ext cx="1772194" cy="276999"/>
          </a:xfrm>
          <a:prstGeom prst="rect">
            <a:avLst/>
          </a:prstGeom>
          <a:noFill/>
        </p:spPr>
        <p:txBody>
          <a:bodyPr wrap="square" rtlCol="0">
            <a:spAutoFit/>
          </a:bodyPr>
          <a:lstStyle/>
          <a:p>
            <a:pPr algn="ctr"/>
            <a:r>
              <a:rPr lang="en-US" sz="1200" dirty="0"/>
              <a:t>White willow tree - ASA</a:t>
            </a:r>
          </a:p>
        </p:txBody>
      </p:sp>
    </p:spTree>
    <p:extLst>
      <p:ext uri="{BB962C8B-B14F-4D97-AF65-F5344CB8AC3E}">
        <p14:creationId xmlns:p14="http://schemas.microsoft.com/office/powerpoint/2010/main" val="2696274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854E42-9628-86A0-2FD6-1A9CF2D78C19}"/>
              </a:ext>
            </a:extLst>
          </p:cNvPr>
          <p:cNvPicPr>
            <a:picLocks noChangeAspect="1"/>
          </p:cNvPicPr>
          <p:nvPr/>
        </p:nvPicPr>
        <p:blipFill>
          <a:blip r:embed="rId2"/>
          <a:stretch>
            <a:fillRect/>
          </a:stretch>
        </p:blipFill>
        <p:spPr>
          <a:xfrm>
            <a:off x="2083323" y="341722"/>
            <a:ext cx="8277077" cy="6174556"/>
          </a:xfrm>
          <a:prstGeom prst="rect">
            <a:avLst/>
          </a:prstGeom>
          <a:ln>
            <a:solidFill>
              <a:srgbClr val="0070C0"/>
            </a:solidFill>
          </a:ln>
        </p:spPr>
      </p:pic>
      <p:sp>
        <p:nvSpPr>
          <p:cNvPr id="2" name="Slide Number Placeholder 1">
            <a:extLst>
              <a:ext uri="{FF2B5EF4-FFF2-40B4-BE49-F238E27FC236}">
                <a16:creationId xmlns:a16="http://schemas.microsoft.com/office/drawing/2014/main" id="{05AF7EF9-1AF5-42D8-36A0-E461B11D5491}"/>
              </a:ext>
            </a:extLst>
          </p:cNvPr>
          <p:cNvSpPr>
            <a:spLocks noGrp="1"/>
          </p:cNvSpPr>
          <p:nvPr>
            <p:ph type="sldNum" sz="quarter" idx="12"/>
          </p:nvPr>
        </p:nvSpPr>
        <p:spPr/>
        <p:txBody>
          <a:bodyPr/>
          <a:lstStyle/>
          <a:p>
            <a:fld id="{F3F21C36-1BA9-4333-87E5-4E5D23EC055B}" type="slidenum">
              <a:rPr lang="en-US" smtClean="0"/>
              <a:t>10</a:t>
            </a:fld>
            <a:endParaRPr lang="en-US"/>
          </a:p>
        </p:txBody>
      </p:sp>
    </p:spTree>
    <p:extLst>
      <p:ext uri="{BB962C8B-B14F-4D97-AF65-F5344CB8AC3E}">
        <p14:creationId xmlns:p14="http://schemas.microsoft.com/office/powerpoint/2010/main" val="99131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2051BB-68C6-1478-4899-7B9514C6CDC4}"/>
              </a:ext>
            </a:extLst>
          </p:cNvPr>
          <p:cNvSpPr>
            <a:spLocks noGrp="1"/>
          </p:cNvSpPr>
          <p:nvPr>
            <p:ph type="title"/>
          </p:nvPr>
        </p:nvSpPr>
        <p:spPr>
          <a:xfrm>
            <a:off x="409303" y="548640"/>
            <a:ext cx="4032805" cy="5431536"/>
          </a:xfrm>
        </p:spPr>
        <p:txBody>
          <a:bodyPr>
            <a:normAutofit/>
          </a:bodyPr>
          <a:lstStyle/>
          <a:p>
            <a:r>
              <a:rPr lang="en-US" sz="4600" dirty="0"/>
              <a:t>Animals: </a:t>
            </a:r>
            <a:r>
              <a:rPr lang="en-US" sz="2400" dirty="0"/>
              <a:t>Domesticated animals are also a source of drugs.</a:t>
            </a:r>
            <a:br>
              <a:rPr lang="en-US" sz="2400" dirty="0"/>
            </a:br>
            <a:br>
              <a:rPr lang="en-US" sz="2400" dirty="0"/>
            </a:br>
            <a:br>
              <a:rPr lang="en-US" sz="2400" dirty="0"/>
            </a:br>
            <a:br>
              <a:rPr lang="en-US" sz="2400" dirty="0"/>
            </a:br>
            <a:br>
              <a:rPr lang="en-US" sz="2400" dirty="0"/>
            </a:br>
            <a:br>
              <a:rPr lang="en-US" sz="2400" dirty="0"/>
            </a:br>
            <a:br>
              <a:rPr lang="en-US" sz="2400" dirty="0"/>
            </a:br>
            <a:br>
              <a:rPr lang="en-US" sz="2400" dirty="0"/>
            </a:br>
            <a:br>
              <a:rPr lang="en-US" sz="2400" dirty="0"/>
            </a:br>
            <a:br>
              <a:rPr lang="en-US" sz="2400" dirty="0"/>
            </a:br>
            <a:br>
              <a:rPr lang="en-US" sz="2400" dirty="0"/>
            </a:br>
            <a:br>
              <a:rPr lang="en-US" sz="2400" dirty="0"/>
            </a:br>
            <a:endParaRPr lang="en-US" sz="2400" dirty="0"/>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B2FC6E3-213C-CE94-CE97-66C35176E400}"/>
              </a:ext>
            </a:extLst>
          </p:cNvPr>
          <p:cNvSpPr>
            <a:spLocks noGrp="1"/>
          </p:cNvSpPr>
          <p:nvPr>
            <p:ph idx="1"/>
          </p:nvPr>
        </p:nvSpPr>
        <p:spPr>
          <a:xfrm>
            <a:off x="5126418" y="552091"/>
            <a:ext cx="6224335" cy="5431536"/>
          </a:xfrm>
        </p:spPr>
        <p:txBody>
          <a:bodyPr anchor="ctr">
            <a:normAutofit/>
          </a:bodyPr>
          <a:lstStyle/>
          <a:p>
            <a:pPr>
              <a:buFont typeface="Wingdings" panose="05000000000000000000" pitchFamily="2" charset="2"/>
              <a:buChar char="§"/>
            </a:pPr>
            <a:r>
              <a:rPr lang="en-US" sz="1600" dirty="0"/>
              <a:t>To ensure the purity of the drugs, donor animals are generally well cared for. </a:t>
            </a:r>
          </a:p>
          <a:p>
            <a:pPr>
              <a:buFont typeface="Wingdings" panose="05000000000000000000" pitchFamily="2" charset="2"/>
              <a:buChar char="§"/>
            </a:pPr>
            <a:r>
              <a:rPr lang="en-US" sz="1600" dirty="0"/>
              <a:t>Examples include sheep, which provide lanolin, a topical skin medication that comes from wool.</a:t>
            </a:r>
          </a:p>
          <a:p>
            <a:pPr>
              <a:buFont typeface="Wingdings" panose="05000000000000000000" pitchFamily="2" charset="2"/>
              <a:buChar char="§"/>
            </a:pPr>
            <a:r>
              <a:rPr lang="en-US" sz="1600" dirty="0"/>
              <a:t>Cows (bovine) and pigs (porcine) are good sources of hormone replacements. If a patient’s body cannot manufacture a hormone, animal hormones can serve as a substitute. </a:t>
            </a:r>
          </a:p>
          <a:p>
            <a:pPr>
              <a:buFont typeface="Wingdings" panose="05000000000000000000" pitchFamily="2" charset="2"/>
              <a:buChar char="§"/>
            </a:pPr>
            <a:r>
              <a:rPr lang="en-US" sz="1600" dirty="0"/>
              <a:t>Horses provide humans with the replacement hormone conjugated estrogen (Premarin), which comes from a pregnant mare’s urine. </a:t>
            </a:r>
          </a:p>
          <a:p>
            <a:pPr>
              <a:buFont typeface="Wingdings" panose="05000000000000000000" pitchFamily="2" charset="2"/>
              <a:buChar char="§"/>
            </a:pPr>
            <a:r>
              <a:rPr lang="en-US" sz="1600" u="sng" dirty="0">
                <a:solidFill>
                  <a:srgbClr val="FF0000"/>
                </a:solidFill>
              </a:rPr>
              <a:t>Insulin</a:t>
            </a:r>
            <a:r>
              <a:rPr lang="en-US" sz="1600" dirty="0"/>
              <a:t> is collected from the pancreas of cows or pigs. </a:t>
            </a:r>
          </a:p>
          <a:p>
            <a:pPr>
              <a:buFont typeface="Wingdings" panose="05000000000000000000" pitchFamily="2" charset="2"/>
              <a:buChar char="§"/>
            </a:pPr>
            <a:r>
              <a:rPr lang="en-US" sz="1600" dirty="0"/>
              <a:t>Immunoglobulin G (IgG) by injecting an antigen into animals (most commonly cows) and collecting the antibody that is formed. </a:t>
            </a:r>
          </a:p>
          <a:p>
            <a:pPr>
              <a:buFont typeface="Wingdings" panose="05000000000000000000" pitchFamily="2" charset="2"/>
              <a:buChar char="§"/>
            </a:pPr>
            <a:r>
              <a:rPr lang="en-US" sz="1600" dirty="0"/>
              <a:t>Heparin is extracted from porcine intestinal mucosa and bovine lungs.</a:t>
            </a:r>
          </a:p>
          <a:p>
            <a:pPr>
              <a:buFont typeface="Wingdings" panose="05000000000000000000" pitchFamily="2" charset="2"/>
              <a:buChar char="§"/>
            </a:pPr>
            <a:r>
              <a:rPr lang="en-US" sz="1600" dirty="0"/>
              <a:t>Snake venom is used for thrombosis, arthritis, cancer treatments</a:t>
            </a:r>
          </a:p>
        </p:txBody>
      </p:sp>
      <p:pic>
        <p:nvPicPr>
          <p:cNvPr id="7" name="Picture 6">
            <a:extLst>
              <a:ext uri="{FF2B5EF4-FFF2-40B4-BE49-F238E27FC236}">
                <a16:creationId xmlns:a16="http://schemas.microsoft.com/office/drawing/2014/main" id="{904F77A1-6223-877E-0B09-9AE213936CE7}"/>
              </a:ext>
            </a:extLst>
          </p:cNvPr>
          <p:cNvPicPr>
            <a:picLocks noChangeAspect="1"/>
          </p:cNvPicPr>
          <p:nvPr/>
        </p:nvPicPr>
        <p:blipFill rotWithShape="1">
          <a:blip r:embed="rId2"/>
          <a:srcRect b="14471"/>
          <a:stretch/>
        </p:blipFill>
        <p:spPr>
          <a:xfrm>
            <a:off x="409303" y="2516957"/>
            <a:ext cx="3795051" cy="2432116"/>
          </a:xfrm>
          <a:prstGeom prst="rect">
            <a:avLst/>
          </a:prstGeom>
        </p:spPr>
      </p:pic>
      <p:sp>
        <p:nvSpPr>
          <p:cNvPr id="4" name="Slide Number Placeholder 3">
            <a:extLst>
              <a:ext uri="{FF2B5EF4-FFF2-40B4-BE49-F238E27FC236}">
                <a16:creationId xmlns:a16="http://schemas.microsoft.com/office/drawing/2014/main" id="{4B26F0FD-BE2D-37BC-F3A1-BD2EAB1D5D89}"/>
              </a:ext>
            </a:extLst>
          </p:cNvPr>
          <p:cNvSpPr>
            <a:spLocks noGrp="1"/>
          </p:cNvSpPr>
          <p:nvPr>
            <p:ph type="sldNum" sz="quarter" idx="12"/>
          </p:nvPr>
        </p:nvSpPr>
        <p:spPr/>
        <p:txBody>
          <a:bodyPr/>
          <a:lstStyle/>
          <a:p>
            <a:fld id="{F3F21C36-1BA9-4333-87E5-4E5D23EC055B}" type="slidenum">
              <a:rPr lang="en-US" smtClean="0"/>
              <a:t>11</a:t>
            </a:fld>
            <a:endParaRPr lang="en-US"/>
          </a:p>
        </p:txBody>
      </p:sp>
    </p:spTree>
    <p:extLst>
      <p:ext uri="{BB962C8B-B14F-4D97-AF65-F5344CB8AC3E}">
        <p14:creationId xmlns:p14="http://schemas.microsoft.com/office/powerpoint/2010/main" val="41867397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FB22AB2-68C5-A585-79B4-C41F0E967E0B}"/>
              </a:ext>
            </a:extLst>
          </p:cNvPr>
          <p:cNvSpPr txBox="1"/>
          <p:nvPr/>
        </p:nvSpPr>
        <p:spPr>
          <a:xfrm>
            <a:off x="630936" y="640823"/>
            <a:ext cx="3419856" cy="558314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400" kern="1200">
                <a:solidFill>
                  <a:schemeClr val="tx1"/>
                </a:solidFill>
                <a:latin typeface="+mj-lt"/>
                <a:ea typeface="+mj-ea"/>
                <a:cs typeface="+mj-cs"/>
              </a:rPr>
              <a:t> CRITICAL THINKING </a:t>
            </a:r>
          </a:p>
        </p:txBody>
      </p:sp>
      <p:sp>
        <p:nvSpPr>
          <p:cNvPr id="13"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onnsiteX0" fmla="*/ 0 w 18288"/>
              <a:gd name="connsiteY0" fmla="*/ 0 h 5590381"/>
              <a:gd name="connsiteX1" fmla="*/ 18288 w 18288"/>
              <a:gd name="connsiteY1" fmla="*/ 0 h 5590381"/>
              <a:gd name="connsiteX2" fmla="*/ 18288 w 18288"/>
              <a:gd name="connsiteY2" fmla="*/ 754701 h 5590381"/>
              <a:gd name="connsiteX3" fmla="*/ 18288 w 18288"/>
              <a:gd name="connsiteY3" fmla="*/ 1565307 h 5590381"/>
              <a:gd name="connsiteX4" fmla="*/ 18288 w 18288"/>
              <a:gd name="connsiteY4" fmla="*/ 2152297 h 5590381"/>
              <a:gd name="connsiteX5" fmla="*/ 18288 w 18288"/>
              <a:gd name="connsiteY5" fmla="*/ 2906998 h 5590381"/>
              <a:gd name="connsiteX6" fmla="*/ 18288 w 18288"/>
              <a:gd name="connsiteY6" fmla="*/ 3549892 h 5590381"/>
              <a:gd name="connsiteX7" fmla="*/ 18288 w 18288"/>
              <a:gd name="connsiteY7" fmla="*/ 4080978 h 5590381"/>
              <a:gd name="connsiteX8" fmla="*/ 18288 w 18288"/>
              <a:gd name="connsiteY8" fmla="*/ 4835680 h 5590381"/>
              <a:gd name="connsiteX9" fmla="*/ 18288 w 18288"/>
              <a:gd name="connsiteY9" fmla="*/ 5590381 h 5590381"/>
              <a:gd name="connsiteX10" fmla="*/ 0 w 18288"/>
              <a:gd name="connsiteY10" fmla="*/ 5590381 h 5590381"/>
              <a:gd name="connsiteX11" fmla="*/ 0 w 18288"/>
              <a:gd name="connsiteY11" fmla="*/ 4835680 h 5590381"/>
              <a:gd name="connsiteX12" fmla="*/ 0 w 18288"/>
              <a:gd name="connsiteY12" fmla="*/ 4304593 h 5590381"/>
              <a:gd name="connsiteX13" fmla="*/ 0 w 18288"/>
              <a:gd name="connsiteY13" fmla="*/ 3773507 h 5590381"/>
              <a:gd name="connsiteX14" fmla="*/ 0 w 18288"/>
              <a:gd name="connsiteY14" fmla="*/ 3186517 h 5590381"/>
              <a:gd name="connsiteX15" fmla="*/ 0 w 18288"/>
              <a:gd name="connsiteY15" fmla="*/ 2487720 h 5590381"/>
              <a:gd name="connsiteX16" fmla="*/ 0 w 18288"/>
              <a:gd name="connsiteY16" fmla="*/ 1956633 h 5590381"/>
              <a:gd name="connsiteX17" fmla="*/ 0 w 18288"/>
              <a:gd name="connsiteY17" fmla="*/ 1425547 h 5590381"/>
              <a:gd name="connsiteX18" fmla="*/ 0 w 18288"/>
              <a:gd name="connsiteY18" fmla="*/ 614942 h 5590381"/>
              <a:gd name="connsiteX19" fmla="*/ 0 w 18288"/>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0257E55-B2CA-0F7E-4B07-C777B2D6D6B5}"/>
              </a:ext>
            </a:extLst>
          </p:cNvPr>
          <p:cNvPicPr>
            <a:picLocks noChangeAspect="1"/>
          </p:cNvPicPr>
          <p:nvPr/>
        </p:nvPicPr>
        <p:blipFill>
          <a:blip r:embed="rId2"/>
          <a:stretch>
            <a:fillRect/>
          </a:stretch>
        </p:blipFill>
        <p:spPr>
          <a:xfrm>
            <a:off x="4654296" y="1087168"/>
            <a:ext cx="6894576" cy="3001168"/>
          </a:xfrm>
          <a:prstGeom prst="rect">
            <a:avLst/>
          </a:prstGeom>
        </p:spPr>
      </p:pic>
      <p:sp>
        <p:nvSpPr>
          <p:cNvPr id="6" name="TextBox 5">
            <a:extLst>
              <a:ext uri="{FF2B5EF4-FFF2-40B4-BE49-F238E27FC236}">
                <a16:creationId xmlns:a16="http://schemas.microsoft.com/office/drawing/2014/main" id="{CB46FA79-CC80-2DBA-7255-45C7F524AFBD}"/>
              </a:ext>
            </a:extLst>
          </p:cNvPr>
          <p:cNvSpPr txBox="1"/>
          <p:nvPr/>
        </p:nvSpPr>
        <p:spPr>
          <a:xfrm>
            <a:off x="4654296" y="4798577"/>
            <a:ext cx="6894576" cy="1428487"/>
          </a:xfrm>
          <a:prstGeom prst="rect">
            <a:avLst/>
          </a:prstGeom>
        </p:spPr>
        <p:txBody>
          <a:bodyPr vert="horz" lIns="91440" tIns="45720" rIns="91440" bIns="45720" rtlCol="0" anchor="t">
            <a:normAutofit/>
          </a:bodyPr>
          <a:lstStyle/>
          <a:p>
            <a:pPr>
              <a:lnSpc>
                <a:spcPct val="90000"/>
              </a:lnSpc>
              <a:spcAft>
                <a:spcPts val="600"/>
              </a:spcAft>
            </a:pPr>
            <a:r>
              <a:rPr lang="en-US" sz="2200" dirty="0"/>
              <a:t>Muhammed A. is a devout Muslim. He does not eat pork. What is the best choice of insulin for him? Explain your rationale for this choice.</a:t>
            </a:r>
          </a:p>
        </p:txBody>
      </p:sp>
      <p:sp>
        <p:nvSpPr>
          <p:cNvPr id="2" name="Slide Number Placeholder 1">
            <a:extLst>
              <a:ext uri="{FF2B5EF4-FFF2-40B4-BE49-F238E27FC236}">
                <a16:creationId xmlns:a16="http://schemas.microsoft.com/office/drawing/2014/main" id="{6782FD39-C0C0-33FC-F136-83CFE8F1B4DE}"/>
              </a:ext>
            </a:extLst>
          </p:cNvPr>
          <p:cNvSpPr>
            <a:spLocks noGrp="1"/>
          </p:cNvSpPr>
          <p:nvPr>
            <p:ph type="sldNum" sz="quarter" idx="12"/>
          </p:nvPr>
        </p:nvSpPr>
        <p:spPr/>
        <p:txBody>
          <a:bodyPr/>
          <a:lstStyle/>
          <a:p>
            <a:fld id="{F3F21C36-1BA9-4333-87E5-4E5D23EC055B}" type="slidenum">
              <a:rPr lang="en-US" smtClean="0"/>
              <a:t>12</a:t>
            </a:fld>
            <a:endParaRPr lang="en-US"/>
          </a:p>
        </p:txBody>
      </p:sp>
    </p:spTree>
    <p:extLst>
      <p:ext uri="{BB962C8B-B14F-4D97-AF65-F5344CB8AC3E}">
        <p14:creationId xmlns:p14="http://schemas.microsoft.com/office/powerpoint/2010/main" val="2850771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02FBF-90B0-C730-75AD-C07B9D0E5B4B}"/>
              </a:ext>
            </a:extLst>
          </p:cNvPr>
          <p:cNvSpPr>
            <a:spLocks noGrp="1"/>
          </p:cNvSpPr>
          <p:nvPr>
            <p:ph type="title"/>
          </p:nvPr>
        </p:nvSpPr>
        <p:spPr>
          <a:xfrm>
            <a:off x="365759" y="190953"/>
            <a:ext cx="10988041" cy="854075"/>
          </a:xfrm>
        </p:spPr>
        <p:txBody>
          <a:bodyPr>
            <a:normAutofit/>
          </a:bodyPr>
          <a:lstStyle/>
          <a:p>
            <a:r>
              <a:rPr lang="en-US" sz="3200" dirty="0"/>
              <a:t>Minerals: </a:t>
            </a:r>
            <a:r>
              <a:rPr lang="en-US" sz="1800" dirty="0"/>
              <a:t>When foods grown from rich soil are unavailable, calcium, iron, zinc, magnesium, copper, and selenium are some of the minerals that are offered as necessary supplements.</a:t>
            </a:r>
          </a:p>
        </p:txBody>
      </p:sp>
      <p:sp>
        <p:nvSpPr>
          <p:cNvPr id="3" name="Content Placeholder 2">
            <a:extLst>
              <a:ext uri="{FF2B5EF4-FFF2-40B4-BE49-F238E27FC236}">
                <a16:creationId xmlns:a16="http://schemas.microsoft.com/office/drawing/2014/main" id="{88AB9945-2F0E-F195-BF0D-4A41824E86E9}"/>
              </a:ext>
            </a:extLst>
          </p:cNvPr>
          <p:cNvSpPr>
            <a:spLocks noGrp="1"/>
          </p:cNvSpPr>
          <p:nvPr>
            <p:ph idx="1"/>
          </p:nvPr>
        </p:nvSpPr>
        <p:spPr>
          <a:xfrm>
            <a:off x="365759" y="1338606"/>
            <a:ext cx="11469189" cy="4940274"/>
          </a:xfrm>
        </p:spPr>
        <p:txBody>
          <a:bodyPr>
            <a:normAutofit/>
          </a:bodyPr>
          <a:lstStyle/>
          <a:p>
            <a:r>
              <a:rPr lang="en-US" sz="2000" dirty="0"/>
              <a:t>For patients taking certain medications, mineral replacement is critical. </a:t>
            </a:r>
          </a:p>
          <a:p>
            <a:endParaRPr lang="en-US" sz="2000" dirty="0"/>
          </a:p>
          <a:p>
            <a:r>
              <a:rPr lang="en-US" sz="2000" dirty="0"/>
              <a:t>Diuretic drugs such as furosemide (Lasix) cause the body to lose excess water through the kidneys, and potassium, a vital mineral, is also excreted with the water. </a:t>
            </a:r>
          </a:p>
          <a:p>
            <a:endParaRPr lang="en-US" sz="2000" dirty="0"/>
          </a:p>
          <a:p>
            <a:r>
              <a:rPr lang="en-US" sz="2000" dirty="0"/>
              <a:t>Potassium is needed for the heart to function normally, so supplemental potassium chloride is frequently prescribed in addition to the medication. Potassium is also contained in sweet potatoes, bananas, and oranges.</a:t>
            </a:r>
          </a:p>
          <a:p>
            <a:pPr marL="0" indent="0">
              <a:buNone/>
            </a:pPr>
            <a:endParaRPr lang="en-US" sz="2000" dirty="0"/>
          </a:p>
          <a:p>
            <a:r>
              <a:rPr lang="en-US" sz="2000" dirty="0"/>
              <a:t>Minerals are also used to treat certain conditions. For example, gold is used in the treatment of arthritis, iodine is used to treat goiter, and magnesium sulfate is used for constipation and eclampsia.</a:t>
            </a:r>
          </a:p>
          <a:p>
            <a:pPr marL="0" indent="0">
              <a:buNone/>
            </a:pPr>
            <a:endParaRPr lang="en-US" sz="2000" dirty="0"/>
          </a:p>
        </p:txBody>
      </p:sp>
      <p:sp>
        <p:nvSpPr>
          <p:cNvPr id="4" name="Slide Number Placeholder 3">
            <a:extLst>
              <a:ext uri="{FF2B5EF4-FFF2-40B4-BE49-F238E27FC236}">
                <a16:creationId xmlns:a16="http://schemas.microsoft.com/office/drawing/2014/main" id="{49E2D877-7F88-39E6-9E58-561CF2BCEACB}"/>
              </a:ext>
            </a:extLst>
          </p:cNvPr>
          <p:cNvSpPr>
            <a:spLocks noGrp="1"/>
          </p:cNvSpPr>
          <p:nvPr>
            <p:ph type="sldNum" sz="quarter" idx="12"/>
          </p:nvPr>
        </p:nvSpPr>
        <p:spPr/>
        <p:txBody>
          <a:bodyPr/>
          <a:lstStyle/>
          <a:p>
            <a:fld id="{F3F21C36-1BA9-4333-87E5-4E5D23EC055B}" type="slidenum">
              <a:rPr lang="en-US" smtClean="0"/>
              <a:t>13</a:t>
            </a:fld>
            <a:endParaRPr lang="en-US"/>
          </a:p>
        </p:txBody>
      </p:sp>
    </p:spTree>
    <p:extLst>
      <p:ext uri="{BB962C8B-B14F-4D97-AF65-F5344CB8AC3E}">
        <p14:creationId xmlns:p14="http://schemas.microsoft.com/office/powerpoint/2010/main" val="2144718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8AE9A5-18C2-F787-5A68-336593AD811D}"/>
              </a:ext>
            </a:extLst>
          </p:cNvPr>
          <p:cNvPicPr>
            <a:picLocks noChangeAspect="1"/>
          </p:cNvPicPr>
          <p:nvPr/>
        </p:nvPicPr>
        <p:blipFill>
          <a:blip r:embed="rId2"/>
          <a:stretch>
            <a:fillRect/>
          </a:stretch>
        </p:blipFill>
        <p:spPr>
          <a:xfrm>
            <a:off x="237929" y="331459"/>
            <a:ext cx="8096250" cy="5648325"/>
          </a:xfrm>
          <a:prstGeom prst="rect">
            <a:avLst/>
          </a:prstGeom>
        </p:spPr>
      </p:pic>
      <p:sp>
        <p:nvSpPr>
          <p:cNvPr id="6" name="TextBox 5">
            <a:extLst>
              <a:ext uri="{FF2B5EF4-FFF2-40B4-BE49-F238E27FC236}">
                <a16:creationId xmlns:a16="http://schemas.microsoft.com/office/drawing/2014/main" id="{7E2A8500-C7E2-D253-3BF9-D352561418B1}"/>
              </a:ext>
            </a:extLst>
          </p:cNvPr>
          <p:cNvSpPr txBox="1"/>
          <p:nvPr/>
        </p:nvSpPr>
        <p:spPr>
          <a:xfrm>
            <a:off x="8559540" y="1308961"/>
            <a:ext cx="3289954" cy="3693319"/>
          </a:xfrm>
          <a:prstGeom prst="rect">
            <a:avLst/>
          </a:prstGeom>
          <a:noFill/>
        </p:spPr>
        <p:txBody>
          <a:bodyPr wrap="square" rtlCol="0">
            <a:spAutoFit/>
          </a:bodyPr>
          <a:lstStyle/>
          <a:p>
            <a:r>
              <a:rPr lang="en-US" dirty="0"/>
              <a:t>Cinnabar: improving vision, detoxification, insomnia, epilepsy, palpitations</a:t>
            </a:r>
          </a:p>
          <a:p>
            <a:endParaRPr lang="en-US" dirty="0"/>
          </a:p>
          <a:p>
            <a:r>
              <a:rPr lang="en-US" dirty="0"/>
              <a:t>Gypsum: high fevers, headaches, toothaches, painful gums, eczema, burns, skin ulcers</a:t>
            </a:r>
          </a:p>
          <a:p>
            <a:endParaRPr lang="en-US" dirty="0"/>
          </a:p>
          <a:p>
            <a:r>
              <a:rPr lang="en-US" dirty="0" err="1"/>
              <a:t>Arsenite</a:t>
            </a:r>
            <a:r>
              <a:rPr lang="en-US" dirty="0"/>
              <a:t> (chemotherapy): acute myeloid leukemia – AML</a:t>
            </a:r>
          </a:p>
          <a:p>
            <a:endParaRPr lang="en-US" dirty="0"/>
          </a:p>
          <a:p>
            <a:r>
              <a:rPr lang="en-US" dirty="0"/>
              <a:t>Realgar: mouth ulcers, tongue ulcers, headaches</a:t>
            </a:r>
          </a:p>
        </p:txBody>
      </p:sp>
      <p:sp>
        <p:nvSpPr>
          <p:cNvPr id="2" name="Slide Number Placeholder 1">
            <a:extLst>
              <a:ext uri="{FF2B5EF4-FFF2-40B4-BE49-F238E27FC236}">
                <a16:creationId xmlns:a16="http://schemas.microsoft.com/office/drawing/2014/main" id="{23DA42E1-4330-3743-6290-3FE039BAA7EB}"/>
              </a:ext>
            </a:extLst>
          </p:cNvPr>
          <p:cNvSpPr>
            <a:spLocks noGrp="1"/>
          </p:cNvSpPr>
          <p:nvPr>
            <p:ph type="sldNum" sz="quarter" idx="12"/>
          </p:nvPr>
        </p:nvSpPr>
        <p:spPr/>
        <p:txBody>
          <a:bodyPr/>
          <a:lstStyle/>
          <a:p>
            <a:fld id="{F3F21C36-1BA9-4333-87E5-4E5D23EC055B}" type="slidenum">
              <a:rPr lang="en-US" smtClean="0"/>
              <a:t>14</a:t>
            </a:fld>
            <a:endParaRPr lang="en-US"/>
          </a:p>
        </p:txBody>
      </p:sp>
    </p:spTree>
    <p:extLst>
      <p:ext uri="{BB962C8B-B14F-4D97-AF65-F5344CB8AC3E}">
        <p14:creationId xmlns:p14="http://schemas.microsoft.com/office/powerpoint/2010/main" val="3152021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16C5-BD7C-0016-8925-73844AFD9B42}"/>
              </a:ext>
            </a:extLst>
          </p:cNvPr>
          <p:cNvSpPr>
            <a:spLocks noGrp="1"/>
          </p:cNvSpPr>
          <p:nvPr>
            <p:ph type="title"/>
          </p:nvPr>
        </p:nvSpPr>
        <p:spPr>
          <a:xfrm>
            <a:off x="461554" y="225789"/>
            <a:ext cx="10515600" cy="775698"/>
          </a:xfrm>
        </p:spPr>
        <p:txBody>
          <a:bodyPr>
            <a:normAutofit/>
          </a:bodyPr>
          <a:lstStyle/>
          <a:p>
            <a:r>
              <a:rPr lang="en-US" sz="3200" dirty="0"/>
              <a:t>Toxins: </a:t>
            </a:r>
            <a:r>
              <a:rPr lang="en-US" sz="1600" dirty="0"/>
              <a:t>chemical and biological toxins are commonly used in medicine. The </a:t>
            </a:r>
            <a:r>
              <a:rPr lang="en-US" sz="1600" b="1" u="sng" dirty="0">
                <a:solidFill>
                  <a:srgbClr val="FF0000"/>
                </a:solidFill>
              </a:rPr>
              <a:t>key</a:t>
            </a:r>
            <a:r>
              <a:rPr lang="en-US" sz="1600" dirty="0"/>
              <a:t> is in the dosage.</a:t>
            </a:r>
          </a:p>
        </p:txBody>
      </p:sp>
      <p:sp>
        <p:nvSpPr>
          <p:cNvPr id="3" name="Content Placeholder 2">
            <a:extLst>
              <a:ext uri="{FF2B5EF4-FFF2-40B4-BE49-F238E27FC236}">
                <a16:creationId xmlns:a16="http://schemas.microsoft.com/office/drawing/2014/main" id="{4FF6E302-5A81-02D3-47DD-E5F1319E451D}"/>
              </a:ext>
            </a:extLst>
          </p:cNvPr>
          <p:cNvSpPr>
            <a:spLocks noGrp="1"/>
          </p:cNvSpPr>
          <p:nvPr>
            <p:ph idx="1"/>
          </p:nvPr>
        </p:nvSpPr>
        <p:spPr>
          <a:xfrm>
            <a:off x="461554" y="1132114"/>
            <a:ext cx="10892246" cy="5044849"/>
          </a:xfrm>
        </p:spPr>
        <p:txBody>
          <a:bodyPr>
            <a:normAutofit/>
          </a:bodyPr>
          <a:lstStyle/>
          <a:p>
            <a:r>
              <a:rPr lang="en-US" sz="2000" dirty="0"/>
              <a:t>Certain radioactive chemicals are used to diagnose and treat illnesses. </a:t>
            </a:r>
          </a:p>
          <a:p>
            <a:r>
              <a:rPr lang="en-US" sz="2000" dirty="0"/>
              <a:t>Radioactive iodine, for example, in small doses can help pinpoint problems in a patient’s thyroid, a small gland in the neck. </a:t>
            </a:r>
          </a:p>
          <a:p>
            <a:r>
              <a:rPr lang="en-US" sz="2000" dirty="0"/>
              <a:t>In higher doses, radioactive iodine is used to shrink thyroid tumors.</a:t>
            </a:r>
          </a:p>
          <a:p>
            <a:endParaRPr lang="en-US" sz="2000" dirty="0"/>
          </a:p>
          <a:p>
            <a:r>
              <a:rPr lang="en-US" sz="2000" dirty="0"/>
              <a:t>Biological toxins can also be used in medicine. </a:t>
            </a:r>
          </a:p>
          <a:p>
            <a:r>
              <a:rPr lang="en-US" sz="2000" dirty="0"/>
              <a:t>Botulinum toxin (Botox), which comes from a bacterium called Clostridium botulinum, is used for severe muscle stiffness, spasticity, dystonia, and neuropathic pain.</a:t>
            </a:r>
          </a:p>
          <a:p>
            <a:r>
              <a:rPr lang="en-US" sz="2000" dirty="0"/>
              <a:t>Torticollis (a condition in which neck muscles contract causing the head to turn to one side), strabismus (eye misalignment), and migraines. It is used in tiny doses.</a:t>
            </a:r>
          </a:p>
        </p:txBody>
      </p:sp>
      <p:sp>
        <p:nvSpPr>
          <p:cNvPr id="4" name="Slide Number Placeholder 3">
            <a:extLst>
              <a:ext uri="{FF2B5EF4-FFF2-40B4-BE49-F238E27FC236}">
                <a16:creationId xmlns:a16="http://schemas.microsoft.com/office/drawing/2014/main" id="{000BFE40-70B5-4A02-3DA9-05EAFBC07BDE}"/>
              </a:ext>
            </a:extLst>
          </p:cNvPr>
          <p:cNvSpPr>
            <a:spLocks noGrp="1"/>
          </p:cNvSpPr>
          <p:nvPr>
            <p:ph type="sldNum" sz="quarter" idx="12"/>
          </p:nvPr>
        </p:nvSpPr>
        <p:spPr/>
        <p:txBody>
          <a:bodyPr/>
          <a:lstStyle/>
          <a:p>
            <a:fld id="{F3F21C36-1BA9-4333-87E5-4E5D23EC055B}" type="slidenum">
              <a:rPr lang="en-US" smtClean="0"/>
              <a:t>15</a:t>
            </a:fld>
            <a:endParaRPr lang="en-US"/>
          </a:p>
        </p:txBody>
      </p:sp>
    </p:spTree>
    <p:extLst>
      <p:ext uri="{BB962C8B-B14F-4D97-AF65-F5344CB8AC3E}">
        <p14:creationId xmlns:p14="http://schemas.microsoft.com/office/powerpoint/2010/main" val="42081675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DD1FC-1C3C-A05D-2F18-D33ED85446CB}"/>
              </a:ext>
            </a:extLst>
          </p:cNvPr>
          <p:cNvSpPr>
            <a:spLocks noGrp="1"/>
          </p:cNvSpPr>
          <p:nvPr>
            <p:ph type="title"/>
          </p:nvPr>
        </p:nvSpPr>
        <p:spPr>
          <a:xfrm>
            <a:off x="522514" y="164829"/>
            <a:ext cx="10691949" cy="810532"/>
          </a:xfrm>
        </p:spPr>
        <p:txBody>
          <a:bodyPr>
            <a:normAutofit/>
          </a:bodyPr>
          <a:lstStyle/>
          <a:p>
            <a:r>
              <a:rPr lang="en-US" sz="2400" dirty="0">
                <a:latin typeface="+mn-lt"/>
              </a:rPr>
              <a:t>Synthetic Medications</a:t>
            </a:r>
            <a:r>
              <a:rPr lang="en-US" sz="2000" dirty="0">
                <a:latin typeface="+mn-lt"/>
              </a:rPr>
              <a:t>: </a:t>
            </a:r>
            <a:r>
              <a:rPr lang="en-US" sz="1600" dirty="0">
                <a:latin typeface="+mn-lt"/>
              </a:rPr>
              <a:t>created by chemical processes, by genetic engineering, or by altering animal cells. Often, drugs that are obtained from another source can be synthesized in the laboratory, thus preserving natural resources. </a:t>
            </a:r>
          </a:p>
        </p:txBody>
      </p:sp>
      <p:sp>
        <p:nvSpPr>
          <p:cNvPr id="3" name="Content Placeholder 2">
            <a:extLst>
              <a:ext uri="{FF2B5EF4-FFF2-40B4-BE49-F238E27FC236}">
                <a16:creationId xmlns:a16="http://schemas.microsoft.com/office/drawing/2014/main" id="{51C72496-E348-4C62-5519-BE4DF86A4CA3}"/>
              </a:ext>
            </a:extLst>
          </p:cNvPr>
          <p:cNvSpPr>
            <a:spLocks noGrp="1"/>
          </p:cNvSpPr>
          <p:nvPr>
            <p:ph idx="1"/>
          </p:nvPr>
        </p:nvSpPr>
        <p:spPr>
          <a:xfrm>
            <a:off x="418011" y="1149531"/>
            <a:ext cx="11347269" cy="5027432"/>
          </a:xfrm>
        </p:spPr>
        <p:txBody>
          <a:bodyPr>
            <a:normAutofit/>
          </a:bodyPr>
          <a:lstStyle/>
          <a:p>
            <a:pPr marL="0" indent="0">
              <a:buNone/>
            </a:pPr>
            <a:r>
              <a:rPr lang="en-US" sz="2000" dirty="0"/>
              <a:t>Insulin can be obtained from pigs or cows, but a synthetic source is most commonly used.</a:t>
            </a:r>
          </a:p>
          <a:p>
            <a:pPr marL="0" indent="0">
              <a:buNone/>
            </a:pPr>
            <a:r>
              <a:rPr lang="en-US" sz="2000" dirty="0"/>
              <a:t>An advantage of synthetic medications is usually more inexpensive because they are mass-produced.</a:t>
            </a:r>
          </a:p>
          <a:p>
            <a:pPr marL="0" indent="0">
              <a:buNone/>
            </a:pPr>
            <a:r>
              <a:rPr lang="en-US" sz="2000" dirty="0"/>
              <a:t>Disadvantage of synthetic medication are psychosis, behavior issues, neurological issues, cardiac concerns.</a:t>
            </a:r>
          </a:p>
        </p:txBody>
      </p:sp>
      <p:pic>
        <p:nvPicPr>
          <p:cNvPr id="6" name="Picture 5">
            <a:extLst>
              <a:ext uri="{FF2B5EF4-FFF2-40B4-BE49-F238E27FC236}">
                <a16:creationId xmlns:a16="http://schemas.microsoft.com/office/drawing/2014/main" id="{6C662796-B45D-40CC-83D4-85B431839E0C}"/>
              </a:ext>
            </a:extLst>
          </p:cNvPr>
          <p:cNvPicPr>
            <a:picLocks noChangeAspect="1"/>
          </p:cNvPicPr>
          <p:nvPr/>
        </p:nvPicPr>
        <p:blipFill rotWithShape="1">
          <a:blip r:embed="rId2"/>
          <a:srcRect l="5118" t="17873" r="1926" b="10639"/>
          <a:stretch/>
        </p:blipFill>
        <p:spPr>
          <a:xfrm>
            <a:off x="937260" y="2956779"/>
            <a:ext cx="4411980" cy="1920240"/>
          </a:xfrm>
          <a:prstGeom prst="rect">
            <a:avLst/>
          </a:prstGeom>
        </p:spPr>
      </p:pic>
      <p:pic>
        <p:nvPicPr>
          <p:cNvPr id="8" name="Picture 7">
            <a:extLst>
              <a:ext uri="{FF2B5EF4-FFF2-40B4-BE49-F238E27FC236}">
                <a16:creationId xmlns:a16="http://schemas.microsoft.com/office/drawing/2014/main" id="{D7209143-83AB-488F-8964-74D0ED4A81A0}"/>
              </a:ext>
            </a:extLst>
          </p:cNvPr>
          <p:cNvPicPr>
            <a:picLocks noChangeAspect="1"/>
          </p:cNvPicPr>
          <p:nvPr/>
        </p:nvPicPr>
        <p:blipFill>
          <a:blip r:embed="rId3"/>
          <a:stretch>
            <a:fillRect/>
          </a:stretch>
        </p:blipFill>
        <p:spPr>
          <a:xfrm>
            <a:off x="5868488" y="2956779"/>
            <a:ext cx="5494020" cy="1933862"/>
          </a:xfrm>
          <a:prstGeom prst="rect">
            <a:avLst/>
          </a:prstGeom>
        </p:spPr>
      </p:pic>
      <p:sp>
        <p:nvSpPr>
          <p:cNvPr id="4" name="Slide Number Placeholder 3">
            <a:extLst>
              <a:ext uri="{FF2B5EF4-FFF2-40B4-BE49-F238E27FC236}">
                <a16:creationId xmlns:a16="http://schemas.microsoft.com/office/drawing/2014/main" id="{EE703AFB-1DA2-67D1-A462-99923906AAE8}"/>
              </a:ext>
            </a:extLst>
          </p:cNvPr>
          <p:cNvSpPr>
            <a:spLocks noGrp="1"/>
          </p:cNvSpPr>
          <p:nvPr>
            <p:ph type="sldNum" sz="quarter" idx="12"/>
          </p:nvPr>
        </p:nvSpPr>
        <p:spPr/>
        <p:txBody>
          <a:bodyPr/>
          <a:lstStyle/>
          <a:p>
            <a:fld id="{F3F21C36-1BA9-4333-87E5-4E5D23EC055B}" type="slidenum">
              <a:rPr lang="en-US" smtClean="0"/>
              <a:t>16</a:t>
            </a:fld>
            <a:endParaRPr lang="en-US"/>
          </a:p>
        </p:txBody>
      </p:sp>
    </p:spTree>
    <p:extLst>
      <p:ext uri="{BB962C8B-B14F-4D97-AF65-F5344CB8AC3E}">
        <p14:creationId xmlns:p14="http://schemas.microsoft.com/office/powerpoint/2010/main" val="8070326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3C271-52E8-081E-85A8-66ABE08C0C09}"/>
              </a:ext>
            </a:extLst>
          </p:cNvPr>
          <p:cNvSpPr>
            <a:spLocks noGrp="1"/>
          </p:cNvSpPr>
          <p:nvPr>
            <p:ph type="title"/>
          </p:nvPr>
        </p:nvSpPr>
        <p:spPr>
          <a:xfrm>
            <a:off x="838200" y="365126"/>
            <a:ext cx="10515600" cy="618944"/>
          </a:xfrm>
        </p:spPr>
        <p:txBody>
          <a:bodyPr>
            <a:normAutofit/>
          </a:bodyPr>
          <a:lstStyle/>
          <a:p>
            <a:r>
              <a:rPr lang="en-US" sz="3200" dirty="0"/>
              <a:t>CATEGORIZING MEDICATIONS</a:t>
            </a:r>
          </a:p>
        </p:txBody>
      </p:sp>
      <p:sp>
        <p:nvSpPr>
          <p:cNvPr id="3" name="Content Placeholder 2">
            <a:extLst>
              <a:ext uri="{FF2B5EF4-FFF2-40B4-BE49-F238E27FC236}">
                <a16:creationId xmlns:a16="http://schemas.microsoft.com/office/drawing/2014/main" id="{5A157E03-0ED1-E61B-A3DE-B9D1A6B638FE}"/>
              </a:ext>
            </a:extLst>
          </p:cNvPr>
          <p:cNvSpPr>
            <a:spLocks noGrp="1"/>
          </p:cNvSpPr>
          <p:nvPr>
            <p:ph idx="1"/>
          </p:nvPr>
        </p:nvSpPr>
        <p:spPr>
          <a:xfrm>
            <a:off x="304800" y="1079863"/>
            <a:ext cx="11547566" cy="5097100"/>
          </a:xfrm>
        </p:spPr>
        <p:txBody>
          <a:bodyPr>
            <a:normAutofit lnSpcReduction="10000"/>
          </a:bodyPr>
          <a:lstStyle/>
          <a:p>
            <a:pPr marL="0" indent="0">
              <a:buNone/>
            </a:pPr>
            <a:r>
              <a:rPr lang="en-US" sz="1600" u="sng" dirty="0">
                <a:solidFill>
                  <a:srgbClr val="FF0000"/>
                </a:solidFill>
              </a:rPr>
              <a:t>Pharmacodynamics</a:t>
            </a:r>
            <a:r>
              <a:rPr lang="en-US" sz="1600" dirty="0"/>
              <a:t> refers to the effects of a drug on the body, or more scientifically, the negative and positive biochemical or physiological changes that a drug creates. Drugs fall into six categories of desired effects (Table 1-2).</a:t>
            </a:r>
          </a:p>
          <a:p>
            <a:pPr marL="0" indent="0">
              <a:buNone/>
            </a:pPr>
            <a:endParaRPr lang="en-US" sz="1600" dirty="0"/>
          </a:p>
          <a:p>
            <a:pPr>
              <a:buFont typeface="Wingdings" panose="05000000000000000000" pitchFamily="2" charset="2"/>
              <a:buChar char="§"/>
            </a:pPr>
            <a:r>
              <a:rPr lang="en-US" sz="1600" dirty="0"/>
              <a:t>Curative. Some drugs restore normal physiological function, as in diuretics, which help the body rid itself of excess fluid.</a:t>
            </a:r>
          </a:p>
          <a:p>
            <a:pPr>
              <a:buFont typeface="Wingdings" panose="05000000000000000000" pitchFamily="2" charset="2"/>
              <a:buChar char="§"/>
            </a:pPr>
            <a:endParaRPr lang="en-US" sz="1600" dirty="0"/>
          </a:p>
          <a:p>
            <a:pPr marL="0" indent="0">
              <a:buNone/>
            </a:pPr>
            <a:r>
              <a:rPr lang="en-US" sz="1600" dirty="0"/>
              <a:t>■   Prophylactic. These drugs prevent diseases or disorders, as in antibiotics given before surgery to prevent infection.</a:t>
            </a:r>
          </a:p>
          <a:p>
            <a:pPr>
              <a:buFont typeface="Wingdings" panose="05000000000000000000" pitchFamily="2" charset="2"/>
              <a:buChar char="§"/>
            </a:pPr>
            <a:endParaRPr lang="en-US" sz="1600" dirty="0"/>
          </a:p>
          <a:p>
            <a:pPr marL="0" indent="0">
              <a:buNone/>
            </a:pPr>
            <a:r>
              <a:rPr lang="en-US" sz="1600" dirty="0"/>
              <a:t>■   Diagnostic. Some drugs help diagnose a disease, such as barium that patients swallow to help highlight digestive problems on a radiograph.</a:t>
            </a:r>
          </a:p>
          <a:p>
            <a:pPr>
              <a:buFont typeface="Wingdings" panose="05000000000000000000" pitchFamily="2" charset="2"/>
              <a:buChar char="§"/>
            </a:pPr>
            <a:endParaRPr lang="en-US" sz="1600" dirty="0"/>
          </a:p>
          <a:p>
            <a:pPr marL="0" indent="0">
              <a:buNone/>
            </a:pPr>
            <a:r>
              <a:rPr lang="en-US" sz="1600" dirty="0"/>
              <a:t>■   Palliative. Other drugs, such as pain relievers, do not cure disease, but they make patients more comfortable.</a:t>
            </a:r>
          </a:p>
          <a:p>
            <a:pPr>
              <a:buFont typeface="Wingdings" panose="05000000000000000000" pitchFamily="2" charset="2"/>
              <a:buChar char="§"/>
            </a:pPr>
            <a:endParaRPr lang="en-US" sz="1600" dirty="0"/>
          </a:p>
          <a:p>
            <a:pPr marL="0" indent="0">
              <a:buNone/>
            </a:pPr>
            <a:r>
              <a:rPr lang="en-US" sz="1600" dirty="0"/>
              <a:t>■   Replacement. These drugs “replace” missing substances. Levothyroxine sodium (Synthroid), for example, is a drug that replaces a missing thyroid hormone.</a:t>
            </a:r>
          </a:p>
          <a:p>
            <a:pPr>
              <a:buFont typeface="Wingdings" panose="05000000000000000000" pitchFamily="2" charset="2"/>
              <a:buChar char="§"/>
            </a:pPr>
            <a:endParaRPr lang="en-US" sz="1600" dirty="0"/>
          </a:p>
          <a:p>
            <a:pPr marL="0" indent="0">
              <a:buNone/>
            </a:pPr>
            <a:r>
              <a:rPr lang="en-US" sz="1600" dirty="0"/>
              <a:t>■   Destructive. Some medications destroy tumors and microbes. Antineoplastic (anticancer) drugs are an example of destructive, toxic drugs.</a:t>
            </a:r>
          </a:p>
        </p:txBody>
      </p:sp>
      <p:sp>
        <p:nvSpPr>
          <p:cNvPr id="4" name="Slide Number Placeholder 3">
            <a:extLst>
              <a:ext uri="{FF2B5EF4-FFF2-40B4-BE49-F238E27FC236}">
                <a16:creationId xmlns:a16="http://schemas.microsoft.com/office/drawing/2014/main" id="{C1F48D62-0696-B1EA-7964-ADFED62D1607}"/>
              </a:ext>
            </a:extLst>
          </p:cNvPr>
          <p:cNvSpPr>
            <a:spLocks noGrp="1"/>
          </p:cNvSpPr>
          <p:nvPr>
            <p:ph type="sldNum" sz="quarter" idx="12"/>
          </p:nvPr>
        </p:nvSpPr>
        <p:spPr/>
        <p:txBody>
          <a:bodyPr/>
          <a:lstStyle/>
          <a:p>
            <a:fld id="{F3F21C36-1BA9-4333-87E5-4E5D23EC055B}" type="slidenum">
              <a:rPr lang="en-US" smtClean="0"/>
              <a:t>17</a:t>
            </a:fld>
            <a:endParaRPr lang="en-US"/>
          </a:p>
        </p:txBody>
      </p:sp>
    </p:spTree>
    <p:extLst>
      <p:ext uri="{BB962C8B-B14F-4D97-AF65-F5344CB8AC3E}">
        <p14:creationId xmlns:p14="http://schemas.microsoft.com/office/powerpoint/2010/main" val="2384814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1EC72B-1EC6-A35A-18DC-22CDA29F8CDE}"/>
              </a:ext>
            </a:extLst>
          </p:cNvPr>
          <p:cNvPicPr>
            <a:picLocks noChangeAspect="1"/>
          </p:cNvPicPr>
          <p:nvPr/>
        </p:nvPicPr>
        <p:blipFill rotWithShape="1">
          <a:blip r:embed="rId2"/>
          <a:srcRect l="67500" t="17080" r="2593" b="43333"/>
          <a:stretch/>
        </p:blipFill>
        <p:spPr>
          <a:xfrm>
            <a:off x="840557" y="612743"/>
            <a:ext cx="10510885" cy="5288436"/>
          </a:xfrm>
          <a:prstGeom prst="rect">
            <a:avLst/>
          </a:prstGeom>
        </p:spPr>
      </p:pic>
      <p:sp>
        <p:nvSpPr>
          <p:cNvPr id="2" name="Slide Number Placeholder 1">
            <a:extLst>
              <a:ext uri="{FF2B5EF4-FFF2-40B4-BE49-F238E27FC236}">
                <a16:creationId xmlns:a16="http://schemas.microsoft.com/office/drawing/2014/main" id="{44ACC7D4-9F94-FC6E-42DB-CC0C4F68913B}"/>
              </a:ext>
            </a:extLst>
          </p:cNvPr>
          <p:cNvSpPr>
            <a:spLocks noGrp="1"/>
          </p:cNvSpPr>
          <p:nvPr>
            <p:ph type="sldNum" sz="quarter" idx="12"/>
          </p:nvPr>
        </p:nvSpPr>
        <p:spPr/>
        <p:txBody>
          <a:bodyPr/>
          <a:lstStyle/>
          <a:p>
            <a:fld id="{F3F21C36-1BA9-4333-87E5-4E5D23EC055B}" type="slidenum">
              <a:rPr lang="en-US" smtClean="0"/>
              <a:t>18</a:t>
            </a:fld>
            <a:endParaRPr lang="en-US"/>
          </a:p>
        </p:txBody>
      </p:sp>
    </p:spTree>
    <p:extLst>
      <p:ext uri="{BB962C8B-B14F-4D97-AF65-F5344CB8AC3E}">
        <p14:creationId xmlns:p14="http://schemas.microsoft.com/office/powerpoint/2010/main" val="21893524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60676-0D09-7195-7AE2-E3413BD0ECAA}"/>
              </a:ext>
            </a:extLst>
          </p:cNvPr>
          <p:cNvSpPr>
            <a:spLocks noGrp="1"/>
          </p:cNvSpPr>
          <p:nvPr>
            <p:ph type="title"/>
          </p:nvPr>
        </p:nvSpPr>
        <p:spPr>
          <a:xfrm>
            <a:off x="232528" y="208371"/>
            <a:ext cx="11726944" cy="662486"/>
          </a:xfrm>
        </p:spPr>
        <p:txBody>
          <a:bodyPr>
            <a:normAutofit/>
          </a:bodyPr>
          <a:lstStyle/>
          <a:p>
            <a:r>
              <a:rPr lang="en-US" sz="2000" dirty="0"/>
              <a:t>THE ROLES OF THE LICENSED PRACTICAL NURSE, LICENSED VOCATIONAL NURSE, AND MEDICAL ASSISTANT IN THE ADMINISTRATION OF MEDICATIONS</a:t>
            </a:r>
          </a:p>
        </p:txBody>
      </p:sp>
      <p:sp>
        <p:nvSpPr>
          <p:cNvPr id="3" name="Content Placeholder 2">
            <a:extLst>
              <a:ext uri="{FF2B5EF4-FFF2-40B4-BE49-F238E27FC236}">
                <a16:creationId xmlns:a16="http://schemas.microsoft.com/office/drawing/2014/main" id="{FCECDB98-E69C-151B-8751-F26072E2836D}"/>
              </a:ext>
            </a:extLst>
          </p:cNvPr>
          <p:cNvSpPr>
            <a:spLocks noGrp="1"/>
          </p:cNvSpPr>
          <p:nvPr>
            <p:ph idx="1"/>
          </p:nvPr>
        </p:nvSpPr>
        <p:spPr>
          <a:xfrm>
            <a:off x="348343" y="1027611"/>
            <a:ext cx="11521440" cy="5149352"/>
          </a:xfrm>
        </p:spPr>
        <p:txBody>
          <a:bodyPr>
            <a:normAutofit/>
          </a:bodyPr>
          <a:lstStyle/>
          <a:p>
            <a:r>
              <a:rPr lang="en-US" sz="1600" dirty="0"/>
              <a:t>Nurses must work within their scope of practice, based on state laws, and board of nursing statutes. It is important to know your scope of practice in your state so that you can provide the best care possible to your patients while abiding by state regulations.</a:t>
            </a:r>
          </a:p>
          <a:p>
            <a:r>
              <a:rPr lang="en-US" sz="1600" dirty="0"/>
              <a:t>State Boards of Nursing are the governing bodies that determine the scopes of practice for licensed practical nurses (LPNs) and licensed vocational nurses (LVNs).</a:t>
            </a:r>
          </a:p>
          <a:p>
            <a:r>
              <a:rPr lang="en-US" sz="1600" dirty="0"/>
              <a:t>LPNs/LVNs generally:</a:t>
            </a:r>
          </a:p>
          <a:p>
            <a:pPr lvl="1"/>
            <a:r>
              <a:rPr lang="en-US" sz="1200" dirty="0"/>
              <a:t>administer oral, rectal, ophthalmic, </a:t>
            </a:r>
            <a:r>
              <a:rPr lang="en-US" sz="1200" dirty="0" err="1"/>
              <a:t>otic</a:t>
            </a:r>
            <a:r>
              <a:rPr lang="en-US" sz="1200" dirty="0"/>
              <a:t>, intradermal, subcutaneous, intradermal, and intravenous (IV) medications. </a:t>
            </a:r>
          </a:p>
          <a:p>
            <a:pPr lvl="1"/>
            <a:r>
              <a:rPr lang="en-US" sz="1200" u="sng" dirty="0">
                <a:solidFill>
                  <a:srgbClr val="FF0000"/>
                </a:solidFill>
              </a:rPr>
              <a:t>LPN/LVN may not give medications by rapid IV push.</a:t>
            </a:r>
          </a:p>
          <a:p>
            <a:pPr lvl="1"/>
            <a:r>
              <a:rPr lang="en-US" sz="1200" dirty="0"/>
              <a:t>LPN/LVN not be allowed to administer or monitor IV medications and fluids via a central line (one that is in a large vein close to the patient’s heart).</a:t>
            </a:r>
          </a:p>
        </p:txBody>
      </p:sp>
      <p:pic>
        <p:nvPicPr>
          <p:cNvPr id="4" name="Picture 3">
            <a:extLst>
              <a:ext uri="{FF2B5EF4-FFF2-40B4-BE49-F238E27FC236}">
                <a16:creationId xmlns:a16="http://schemas.microsoft.com/office/drawing/2014/main" id="{B0FFBC31-B5D0-34D5-28B7-E050DB737511}"/>
              </a:ext>
            </a:extLst>
          </p:cNvPr>
          <p:cNvPicPr>
            <a:picLocks noChangeAspect="1"/>
          </p:cNvPicPr>
          <p:nvPr/>
        </p:nvPicPr>
        <p:blipFill>
          <a:blip r:embed="rId2"/>
          <a:stretch>
            <a:fillRect/>
          </a:stretch>
        </p:blipFill>
        <p:spPr>
          <a:xfrm>
            <a:off x="775206" y="4063346"/>
            <a:ext cx="3533775" cy="1295400"/>
          </a:xfrm>
          <a:prstGeom prst="rect">
            <a:avLst/>
          </a:prstGeom>
        </p:spPr>
      </p:pic>
      <p:pic>
        <p:nvPicPr>
          <p:cNvPr id="6" name="Picture 5">
            <a:extLst>
              <a:ext uri="{FF2B5EF4-FFF2-40B4-BE49-F238E27FC236}">
                <a16:creationId xmlns:a16="http://schemas.microsoft.com/office/drawing/2014/main" id="{527B5DF1-7ED3-37C6-3A33-9983DEA47E41}"/>
              </a:ext>
            </a:extLst>
          </p:cNvPr>
          <p:cNvPicPr>
            <a:picLocks noChangeAspect="1"/>
          </p:cNvPicPr>
          <p:nvPr/>
        </p:nvPicPr>
        <p:blipFill>
          <a:blip r:embed="rId3"/>
          <a:stretch>
            <a:fillRect/>
          </a:stretch>
        </p:blipFill>
        <p:spPr>
          <a:xfrm rot="5400000">
            <a:off x="8927086" y="3920627"/>
            <a:ext cx="2143125" cy="2143125"/>
          </a:xfrm>
          <a:prstGeom prst="rect">
            <a:avLst/>
          </a:prstGeom>
        </p:spPr>
      </p:pic>
      <p:pic>
        <p:nvPicPr>
          <p:cNvPr id="7" name="Picture 6">
            <a:extLst>
              <a:ext uri="{FF2B5EF4-FFF2-40B4-BE49-F238E27FC236}">
                <a16:creationId xmlns:a16="http://schemas.microsoft.com/office/drawing/2014/main" id="{A7471B2C-2494-7066-A557-86102DB55CC8}"/>
              </a:ext>
            </a:extLst>
          </p:cNvPr>
          <p:cNvPicPr>
            <a:picLocks noChangeAspect="1"/>
          </p:cNvPicPr>
          <p:nvPr/>
        </p:nvPicPr>
        <p:blipFill>
          <a:blip r:embed="rId4"/>
          <a:stretch>
            <a:fillRect/>
          </a:stretch>
        </p:blipFill>
        <p:spPr>
          <a:xfrm>
            <a:off x="5282350" y="4039690"/>
            <a:ext cx="2400300" cy="1905000"/>
          </a:xfrm>
          <a:prstGeom prst="rect">
            <a:avLst/>
          </a:prstGeom>
        </p:spPr>
      </p:pic>
      <p:sp>
        <p:nvSpPr>
          <p:cNvPr id="5" name="Slide Number Placeholder 4">
            <a:extLst>
              <a:ext uri="{FF2B5EF4-FFF2-40B4-BE49-F238E27FC236}">
                <a16:creationId xmlns:a16="http://schemas.microsoft.com/office/drawing/2014/main" id="{007CB977-2EF0-8B98-D365-8C129B51D214}"/>
              </a:ext>
            </a:extLst>
          </p:cNvPr>
          <p:cNvSpPr>
            <a:spLocks noGrp="1"/>
          </p:cNvSpPr>
          <p:nvPr>
            <p:ph type="sldNum" sz="quarter" idx="12"/>
          </p:nvPr>
        </p:nvSpPr>
        <p:spPr/>
        <p:txBody>
          <a:bodyPr/>
          <a:lstStyle/>
          <a:p>
            <a:fld id="{F3F21C36-1BA9-4333-87E5-4E5D23EC055B}" type="slidenum">
              <a:rPr lang="en-US" smtClean="0"/>
              <a:t>19</a:t>
            </a:fld>
            <a:endParaRPr lang="en-US"/>
          </a:p>
        </p:txBody>
      </p:sp>
    </p:spTree>
    <p:extLst>
      <p:ext uri="{BB962C8B-B14F-4D97-AF65-F5344CB8AC3E}">
        <p14:creationId xmlns:p14="http://schemas.microsoft.com/office/powerpoint/2010/main" val="22458807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252</TotalTime>
  <Words>2352</Words>
  <Application>Microsoft Office PowerPoint</Application>
  <PresentationFormat>Widescreen</PresentationFormat>
  <Paragraphs>172</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Wingdings</vt:lpstr>
      <vt:lpstr>Office Theme</vt:lpstr>
      <vt:lpstr>PowerPoint Presentation</vt:lpstr>
      <vt:lpstr>Pharmacology  Chapter 1</vt:lpstr>
      <vt:lpstr>History of Pharmacology</vt:lpstr>
      <vt:lpstr>Pharmacology in Ancient Times and Cultures</vt:lpstr>
      <vt:lpstr>Pharmacological Advances Through the 19th and 20th Centuries</vt:lpstr>
      <vt:lpstr>Pharmacological Advances Through the 19th and 20th Centuries</vt:lpstr>
      <vt:lpstr>Pharmacology in the 21st Century</vt:lpstr>
      <vt:lpstr>SOURCES OF DRUGS</vt:lpstr>
      <vt:lpstr>Plants: Today, plants are rarely used as medications; the active component of the plant is extracted and utilized </vt:lpstr>
      <vt:lpstr>PowerPoint Presentation</vt:lpstr>
      <vt:lpstr>Animals: Domesticated animals are also a source of drugs.            </vt:lpstr>
      <vt:lpstr>PowerPoint Presentation</vt:lpstr>
      <vt:lpstr>Minerals: When foods grown from rich soil are unavailable, calcium, iron, zinc, magnesium, copper, and selenium are some of the minerals that are offered as necessary supplements.</vt:lpstr>
      <vt:lpstr>PowerPoint Presentation</vt:lpstr>
      <vt:lpstr>Toxins: chemical and biological toxins are commonly used in medicine. The key is in the dosage.</vt:lpstr>
      <vt:lpstr>Synthetic Medications: created by chemical processes, by genetic engineering, or by altering animal cells. Often, drugs that are obtained from another source can be synthesized in the laboratory, thus preserving natural resources. </vt:lpstr>
      <vt:lpstr>CATEGORIZING MEDICATIONS</vt:lpstr>
      <vt:lpstr>PowerPoint Presentation</vt:lpstr>
      <vt:lpstr>THE ROLES OF THE LICENSED PRACTICAL NURSE, LICENSED VOCATIONAL NURSE, AND MEDICAL ASSISTANT IN THE ADMINISTRATION OF MEDICATIONS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Stephanie Bielli</dc:creator>
  <cp:lastModifiedBy>Monica Nicholson</cp:lastModifiedBy>
  <cp:revision>8</cp:revision>
  <dcterms:created xsi:type="dcterms:W3CDTF">2022-11-04T06:55:34Z</dcterms:created>
  <dcterms:modified xsi:type="dcterms:W3CDTF">2023-01-05T18:11:54Z</dcterms:modified>
</cp:coreProperties>
</file>