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02" r:id="rId4"/>
  </p:sldMasterIdLst>
  <p:notesMasterIdLst>
    <p:notesMasterId r:id="rId23"/>
  </p:notesMasterIdLst>
  <p:handoutMasterIdLst>
    <p:handoutMasterId r:id="rId24"/>
  </p:handoutMasterIdLst>
  <p:sldIdLst>
    <p:sldId id="647" r:id="rId5"/>
    <p:sldId id="648" r:id="rId6"/>
    <p:sldId id="651" r:id="rId7"/>
    <p:sldId id="650" r:id="rId8"/>
    <p:sldId id="627" r:id="rId9"/>
    <p:sldId id="653" r:id="rId10"/>
    <p:sldId id="652" r:id="rId11"/>
    <p:sldId id="630" r:id="rId12"/>
    <p:sldId id="636" r:id="rId13"/>
    <p:sldId id="654" r:id="rId14"/>
    <p:sldId id="633" r:id="rId15"/>
    <p:sldId id="634" r:id="rId16"/>
    <p:sldId id="655" r:id="rId17"/>
    <p:sldId id="656" r:id="rId18"/>
    <p:sldId id="626" r:id="rId19"/>
    <p:sldId id="649" r:id="rId20"/>
    <p:sldId id="657" r:id="rId21"/>
    <p:sldId id="658" r:id="rId22"/>
  </p:sldIdLst>
  <p:sldSz cx="9144000" cy="6858000" type="screen4x3"/>
  <p:notesSz cx="6985000" cy="92837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5">
          <p15:clr>
            <a:srgbClr val="A4A3A4"/>
          </p15:clr>
        </p15:guide>
        <p15:guide id="2" pos="22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80808"/>
    <a:srgbClr val="FF9933"/>
    <a:srgbClr val="9900CC"/>
    <a:srgbClr val="CC66FF"/>
    <a:srgbClr val="666699"/>
    <a:srgbClr val="A50021"/>
    <a:srgbClr val="FF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 autoAdjust="0"/>
    <p:restoredTop sz="75674" autoAdjust="0"/>
  </p:normalViewPr>
  <p:slideViewPr>
    <p:cSldViewPr>
      <p:cViewPr varScale="1">
        <p:scale>
          <a:sx n="80" d="100"/>
          <a:sy n="80" d="100"/>
        </p:scale>
        <p:origin x="125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70"/>
    </p:cViewPr>
  </p:sorterViewPr>
  <p:notesViewPr>
    <p:cSldViewPr>
      <p:cViewPr varScale="1">
        <p:scale>
          <a:sx n="58" d="100"/>
          <a:sy n="58" d="100"/>
        </p:scale>
        <p:origin x="-1812" y="-72"/>
      </p:cViewPr>
      <p:guideLst>
        <p:guide orient="horz" pos="2925"/>
        <p:guide pos="22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0" name="Rectangle 2">
            <a:extLst>
              <a:ext uri="{FF2B5EF4-FFF2-40B4-BE49-F238E27FC236}">
                <a16:creationId xmlns:a16="http://schemas.microsoft.com/office/drawing/2014/main" id="{68EACA2D-8D3A-4421-A7AE-0BCA7EF147B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57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40" tIns="46420" rIns="92840" bIns="46420" numCol="1" anchor="t" anchorCtr="0" compatLnSpc="1">
            <a:prstTxWarp prst="textNoShape">
              <a:avLst/>
            </a:prstTxWarp>
          </a:bodyPr>
          <a:lstStyle>
            <a:lvl1pPr defTabSz="927680" eaLnBrk="1" hangingPunct="1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3171" name="Rectangle 3">
            <a:extLst>
              <a:ext uri="{FF2B5EF4-FFF2-40B4-BE49-F238E27FC236}">
                <a16:creationId xmlns:a16="http://schemas.microsoft.com/office/drawing/2014/main" id="{074056CF-1AF1-49C2-AD23-CBD82E70437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9225" y="0"/>
            <a:ext cx="30257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40" tIns="46420" rIns="92840" bIns="46420" numCol="1" anchor="t" anchorCtr="0" compatLnSpc="1">
            <a:prstTxWarp prst="textNoShape">
              <a:avLst/>
            </a:prstTxWarp>
          </a:bodyPr>
          <a:lstStyle>
            <a:lvl1pPr algn="r" defTabSz="927680" eaLnBrk="1" hangingPunct="1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3172" name="Rectangle 4">
            <a:extLst>
              <a:ext uri="{FF2B5EF4-FFF2-40B4-BE49-F238E27FC236}">
                <a16:creationId xmlns:a16="http://schemas.microsoft.com/office/drawing/2014/main" id="{5A19E0D3-B462-4B3D-BB8B-1449AD86A0A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6975"/>
            <a:ext cx="30257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40" tIns="46420" rIns="92840" bIns="46420" numCol="1" anchor="b" anchorCtr="0" compatLnSpc="1">
            <a:prstTxWarp prst="textNoShape">
              <a:avLst/>
            </a:prstTxWarp>
          </a:bodyPr>
          <a:lstStyle>
            <a:lvl1pPr defTabSz="927680" eaLnBrk="1" hangingPunct="1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3173" name="Rectangle 5">
            <a:extLst>
              <a:ext uri="{FF2B5EF4-FFF2-40B4-BE49-F238E27FC236}">
                <a16:creationId xmlns:a16="http://schemas.microsoft.com/office/drawing/2014/main" id="{26A28E2F-6899-4352-B4F5-F12883C0B2E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9225" y="8816975"/>
            <a:ext cx="30257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40" tIns="46420" rIns="92840" bIns="46420" numCol="1" anchor="b" anchorCtr="0" compatLnSpc="1">
            <a:prstTxWarp prst="textNoShape">
              <a:avLst/>
            </a:prstTxWarp>
          </a:bodyPr>
          <a:lstStyle>
            <a:lvl1pPr algn="r" defTabSz="927100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D209FEE8-991D-48AC-8155-9EBAC7D260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146" name="Rectangle 2">
            <a:extLst>
              <a:ext uri="{FF2B5EF4-FFF2-40B4-BE49-F238E27FC236}">
                <a16:creationId xmlns:a16="http://schemas.microsoft.com/office/drawing/2014/main" id="{534641A8-01D7-4795-BF25-17BD936651D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57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4" tIns="45698" rIns="91394" bIns="45698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147" name="Rectangle 3">
            <a:extLst>
              <a:ext uri="{FF2B5EF4-FFF2-40B4-BE49-F238E27FC236}">
                <a16:creationId xmlns:a16="http://schemas.microsoft.com/office/drawing/2014/main" id="{76E52B79-BC02-442C-A71F-A9D1A6EE165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257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4" tIns="45698" rIns="91394" bIns="4569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30945BA-1ACD-4973-B600-7C41D9A174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1575" y="695325"/>
            <a:ext cx="464185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0149" name="Rectangle 5">
            <a:extLst>
              <a:ext uri="{FF2B5EF4-FFF2-40B4-BE49-F238E27FC236}">
                <a16:creationId xmlns:a16="http://schemas.microsoft.com/office/drawing/2014/main" id="{8425F401-B6F7-42B8-9FF9-F9C628F445D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6913" y="4410075"/>
            <a:ext cx="5591175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4" tIns="45698" rIns="91394" bIns="456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150" name="Rectangle 6">
            <a:extLst>
              <a:ext uri="{FF2B5EF4-FFF2-40B4-BE49-F238E27FC236}">
                <a16:creationId xmlns:a16="http://schemas.microsoft.com/office/drawing/2014/main" id="{CAFEA930-18E6-4659-B357-E6E3CDE1AE6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5388"/>
            <a:ext cx="30257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4" tIns="45698" rIns="91394" bIns="45698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151" name="Rectangle 7">
            <a:extLst>
              <a:ext uri="{FF2B5EF4-FFF2-40B4-BE49-F238E27FC236}">
                <a16:creationId xmlns:a16="http://schemas.microsoft.com/office/drawing/2014/main" id="{B03FCC76-79B4-4220-85E8-8F62F53550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15388"/>
            <a:ext cx="30257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4" tIns="45698" rIns="91394" bIns="4569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056FCAB0-6751-4C1E-A6CA-F7A7C4B9744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Causes of </a:t>
            </a:r>
            <a:r>
              <a:rPr kumimoji="1" lang="en-US" sz="1200" b="1" u="none" strike="noStrike" kern="1200" dirty="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abcess</a:t>
            </a:r>
            <a:r>
              <a:rPr kumimoji="1" lang="en-US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inside you:</a:t>
            </a:r>
          </a:p>
          <a:p>
            <a:r>
              <a:rPr kumimoji="1" lang="en-US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 Burst Appendix:</a:t>
            </a:r>
            <a:r>
              <a:rPr kumimoji="1" lang="en-US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If you have appendicitis and the appendix ruptures, it spills gut bacteria into your belly cavity.</a:t>
            </a:r>
          </a:p>
          <a:p>
            <a:r>
              <a:rPr kumimoji="1" lang="en-US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Diverticulitis:</a:t>
            </a:r>
            <a:r>
              <a:rPr kumimoji="1" lang="en-US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Small pouches in your large intestine can inflame and tear, releasing bacteria.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FCAB0-6751-4C1E-A6CA-F7A7C4B97445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5721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“An abscess happens when the immune system tries to contain an infection. WBCs, bacteria, damaged cells, and fluid accumulate and form pus.”</a:t>
            </a:r>
          </a:p>
          <a:p>
            <a:r>
              <a:rPr lang="en-US" dirty="0"/>
              <a:t>“An abscess is </a:t>
            </a:r>
            <a:r>
              <a:rPr lang="en-US" b="1" dirty="0"/>
              <a:t>localized</a:t>
            </a:r>
            <a:r>
              <a:rPr lang="en-US" dirty="0"/>
              <a:t>, meaning the infection is contained in one area. But we still monitor because infection can spread.”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FCAB0-6751-4C1E-A6CA-F7A7C4B97445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6656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FCAB0-6751-4C1E-A6CA-F7A7C4B97445}" type="slidenum">
              <a:rPr lang="en-US" altLang="en-US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0244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FCAB0-6751-4C1E-A6CA-F7A7C4B9744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016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Speaker Notes</a:t>
            </a:r>
          </a:p>
          <a:p>
            <a:pPr>
              <a:buNone/>
            </a:pPr>
            <a:r>
              <a:rPr lang="en-US" dirty="0"/>
              <a:t>“Unlike an abscess, cellulitis isn't necessarily a pocket of pus. The infection is </a:t>
            </a:r>
            <a:r>
              <a:rPr lang="en-US" b="1" dirty="0"/>
              <a:t>spreading through the skin and underlying tissue</a:t>
            </a:r>
            <a:r>
              <a:rPr lang="en-US" dirty="0"/>
              <a:t>.”</a:t>
            </a:r>
          </a:p>
          <a:p>
            <a:pPr>
              <a:buNone/>
            </a:pPr>
            <a:r>
              <a:rPr lang="en-US" dirty="0"/>
              <a:t>“Sometimes the edge of the redness is marked so we can tell whether it's spreading.”</a:t>
            </a:r>
          </a:p>
          <a:p>
            <a:pPr>
              <a:buNone/>
            </a:pPr>
            <a:r>
              <a:rPr lang="en-US" dirty="0"/>
              <a:t>Your existing cellulitis slide actually shows exactly that—marking the edge of the erythema to monitor progression. </a:t>
            </a:r>
          </a:p>
          <a:p>
            <a:pPr>
              <a:buNone/>
            </a:pPr>
            <a:r>
              <a:rPr lang="en-US" b="1" dirty="0"/>
              <a:t>Teaching connection:</a:t>
            </a:r>
            <a:endParaRPr lang="en-US" dirty="0"/>
          </a:p>
          <a:p>
            <a:pPr>
              <a:buNone/>
            </a:pPr>
            <a:r>
              <a:rPr lang="en-US" b="1" dirty="0"/>
              <a:t>Abscess = POCKET of infection.</a:t>
            </a:r>
            <a:br>
              <a:rPr lang="en-US" dirty="0"/>
            </a:br>
            <a:r>
              <a:rPr lang="en-US" b="1" dirty="0"/>
              <a:t>Cellulitis = SPREADING skin infection.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FCAB0-6751-4C1E-A6CA-F7A7C4B97445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396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difference between gangrene and necrosis is that </a:t>
            </a:r>
            <a:r>
              <a:rPr kumimoji="1" lang="en-US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necrosis is a general term for all cell death</a:t>
            </a:r>
            <a:r>
              <a:rPr lang="en-US" dirty="0"/>
              <a:t>, while </a:t>
            </a:r>
            <a:r>
              <a:rPr kumimoji="1" lang="en-US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gangrene is a specific type of necrosis that happens on a large scale, usually in a limb.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FCAB0-6751-4C1E-A6CA-F7A7C4B97445}" type="slidenum">
              <a:rPr lang="en-US" altLang="en-US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6545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Gangrene: l</a:t>
            </a:r>
            <a:r>
              <a:rPr kumimoji="1"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ocalized death and decomposition of body tissue, resulting from either obstructed circulation or bacterial infection.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FCAB0-6751-4C1E-A6CA-F7A7C4B97445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5248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FCAB0-6751-4C1E-A6CA-F7A7C4B97445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350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Serous – pale yellow</a:t>
            </a:r>
          </a:p>
          <a:p>
            <a:r>
              <a:rPr lang="en-US" dirty="0">
                <a:latin typeface="Calibri"/>
                <a:cs typeface="Calibri"/>
              </a:rPr>
              <a:t>Serosanguinous – pale yellow and red drainage</a:t>
            </a:r>
          </a:p>
          <a:p>
            <a:r>
              <a:rPr lang="en-US" dirty="0">
                <a:latin typeface="Calibri"/>
                <a:cs typeface="Calibri"/>
              </a:rPr>
              <a:t>Sanguineous – red drainage</a:t>
            </a:r>
          </a:p>
          <a:p>
            <a:r>
              <a:rPr lang="en-US" dirty="0">
                <a:latin typeface="Calibri"/>
                <a:cs typeface="Calibri"/>
              </a:rPr>
              <a:t>Purulent – green drainage (pus)</a:t>
            </a:r>
          </a:p>
          <a:p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FCAB0-6751-4C1E-A6CA-F7A7C4B97445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2406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FCAB0-6751-4C1E-A6CA-F7A7C4B97445}" type="slidenum">
              <a:rPr lang="en-US" altLang="en-US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5493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FCAB0-6751-4C1E-A6CA-F7A7C4B97445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4109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4554F2B-4BCF-4197-901F-D7CA0C5C3346}" type="datetimeFigureOut">
              <a:rPr lang="en-US" smtClean="0"/>
              <a:t>8/18/26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579720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F21A-8405-4DA5-BEAC-3D4CC71D54EA}" type="datetimeFigureOut">
              <a:rPr lang="en-US" smtClean="0"/>
              <a:t>8/18/26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519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685F84-9683-4B1B-940C-516296C3B9E2}" type="datetimeFigureOut">
              <a:rPr lang="en-US" smtClean="0"/>
              <a:t>8/18/26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046494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B2AD-074C-4247-B20E-4BA1D1B80702}" type="datetimeFigureOut">
              <a:rPr lang="en-US" smtClean="0"/>
              <a:t>8/18/26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846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077EF-3DB9-4852-A8C8-9AA18A70A9F8}" type="datetimeFigureOut">
              <a:rPr lang="en-US" smtClean="0"/>
              <a:t>8/18/26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7517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405D-5078-464B-95D5-AD1D787A29C3}" type="datetimeFigureOut">
              <a:rPr lang="en-US" smtClean="0"/>
              <a:t>8/18/26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065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5EF8-B59A-48DF-A116-AFDAD4B003AB}" type="datetimeFigureOut">
              <a:rPr lang="en-US" smtClean="0"/>
              <a:t>8/18/26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2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94AEE7-DB1F-4DD1-9290-70ECE3C49600}" type="datetimeFigureOut">
              <a:rPr lang="en-US" smtClean="0"/>
              <a:t>8/18/26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89299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8077EF-3DB9-4852-A8C8-9AA18A70A9F8}" type="datetimeFigureOut">
              <a:rPr lang="en-US" smtClean="0"/>
              <a:t>8/18/26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461211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8BB0-1F20-4C6B-A56C-896A9F73FB4A}" type="datetimeFigureOut">
              <a:rPr lang="en-US" smtClean="0"/>
              <a:t>8/18/26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289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C60DA-11B7-472A-AFEF-07FB059A27D8}" type="datetimeFigureOut">
              <a:rPr lang="en-US" smtClean="0"/>
              <a:t>8/18/26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477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E28077EF-3DB9-4852-A8C8-9AA18A70A9F8}" type="datetimeFigureOut">
              <a:rPr lang="en-US" smtClean="0"/>
              <a:t>8/18/26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20479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3" r:id="rId1"/>
    <p:sldLayoutId id="2147484604" r:id="rId2"/>
    <p:sldLayoutId id="2147484605" r:id="rId3"/>
    <p:sldLayoutId id="2147484606" r:id="rId4"/>
    <p:sldLayoutId id="2147484607" r:id="rId5"/>
    <p:sldLayoutId id="2147484608" r:id="rId6"/>
    <p:sldLayoutId id="2147484609" r:id="rId7"/>
    <p:sldLayoutId id="2147484610" r:id="rId8"/>
    <p:sldLayoutId id="2147484611" r:id="rId9"/>
    <p:sldLayoutId id="2147484612" r:id="rId10"/>
    <p:sldLayoutId id="2147484613" r:id="rId11"/>
  </p:sldLayoutIdLst>
  <p:hf sldNum="0" hdr="0" ftr="0" dt="0"/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84C345-1E1D-4D18-B3F3-8A202A2DF1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4498" r="6508" b="3"/>
          <a:stretch/>
        </p:blipFill>
        <p:spPr>
          <a:xfrm>
            <a:off x="20" y="12032"/>
            <a:ext cx="9143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711D85-21F8-4747-9F83-2E07ECD3C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457200"/>
            <a:ext cx="9296400" cy="4041648"/>
          </a:xfrm>
        </p:spPr>
        <p:txBody>
          <a:bodyPr>
            <a:normAutofit/>
          </a:bodyPr>
          <a:lstStyle/>
          <a:p>
            <a:r>
              <a:rPr lang="en-US" sz="5400" dirty="0"/>
              <a:t>Immunity Lecture</a:t>
            </a:r>
            <a:br>
              <a:rPr lang="en-US" sz="5400" dirty="0"/>
            </a:br>
            <a:r>
              <a:rPr lang="en-US" sz="5400" dirty="0"/>
              <a:t> </a:t>
            </a:r>
            <a:r>
              <a:rPr lang="en-US" sz="5400" dirty="0" err="1"/>
              <a:t>Parte</a:t>
            </a:r>
            <a:r>
              <a:rPr lang="en-US" sz="5400" dirty="0"/>
              <a:t> Dos</a:t>
            </a:r>
          </a:p>
        </p:txBody>
      </p:sp>
    </p:spTree>
    <p:extLst>
      <p:ext uri="{BB962C8B-B14F-4D97-AF65-F5344CB8AC3E}">
        <p14:creationId xmlns:p14="http://schemas.microsoft.com/office/powerpoint/2010/main" val="307274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DB93-D422-45AB-BCE1-978F34371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348" y="539087"/>
            <a:ext cx="3400535" cy="158489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Immunity: Definitions</a:t>
            </a:r>
          </a:p>
        </p:txBody>
      </p:sp>
      <p:pic>
        <p:nvPicPr>
          <p:cNvPr id="7" name="Picture 6" descr="Close-up of purple cells">
            <a:extLst>
              <a:ext uri="{FF2B5EF4-FFF2-40B4-BE49-F238E27FC236}">
                <a16:creationId xmlns:a16="http://schemas.microsoft.com/office/drawing/2014/main" id="{F7E480AC-8191-8982-C72F-0AC9F96AEC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17" r="23493"/>
          <a:stretch>
            <a:fillRect/>
          </a:stretch>
        </p:blipFill>
        <p:spPr>
          <a:xfrm>
            <a:off x="20" y="10"/>
            <a:ext cx="4571094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711C07-DDC5-43B3-A5E6-837257377C9B}"/>
              </a:ext>
            </a:extLst>
          </p:cNvPr>
          <p:cNvSpPr txBox="1"/>
          <p:nvPr/>
        </p:nvSpPr>
        <p:spPr>
          <a:xfrm>
            <a:off x="4815347" y="2438399"/>
            <a:ext cx="3429001" cy="3880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18288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cs typeface="+mn-cs"/>
              </a:rPr>
              <a:t>Abscess formation</a:t>
            </a:r>
          </a:p>
          <a:p>
            <a:pPr marL="285750" indent="-18288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cs typeface="+mn-cs"/>
              </a:rPr>
              <a:t>Necrosis</a:t>
            </a:r>
          </a:p>
          <a:p>
            <a:pPr marL="285750" indent="-18288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cs typeface="+mn-cs"/>
              </a:rPr>
              <a:t>Pyemia</a:t>
            </a:r>
          </a:p>
          <a:p>
            <a:pPr marL="285750" indent="-18288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cs typeface="+mn-cs"/>
              </a:rPr>
              <a:t>Serous drainage</a:t>
            </a:r>
          </a:p>
          <a:p>
            <a:pPr marL="285750" indent="-18288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cs typeface="+mn-cs"/>
              </a:rPr>
              <a:t>Bacteremia</a:t>
            </a:r>
          </a:p>
          <a:p>
            <a:pPr marL="285750" indent="-18288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cs typeface="+mn-cs"/>
              </a:rPr>
              <a:t>Septicemia</a:t>
            </a:r>
          </a:p>
          <a:p>
            <a:pPr marL="285750" indent="-18288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cs typeface="+mn-cs"/>
              </a:rPr>
              <a:t>Sepsis</a:t>
            </a:r>
          </a:p>
          <a:p>
            <a:pPr marL="285750" indent="-18288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cs typeface="+mn-cs"/>
              </a:rPr>
              <a:t>Cellulitis</a:t>
            </a:r>
          </a:p>
          <a:p>
            <a:pPr marL="285750" indent="-18288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cs typeface="+mn-cs"/>
              </a:rPr>
              <a:t>Gangrene</a:t>
            </a:r>
          </a:p>
          <a:p>
            <a:pPr marL="285750" indent="-18288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cs typeface="+mn-cs"/>
              </a:rPr>
              <a:t>Purulent drainage</a:t>
            </a:r>
          </a:p>
          <a:p>
            <a:pPr marL="285750" indent="-18288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cs typeface="+mn-cs"/>
              </a:rPr>
              <a:t>Sanguineous drainage</a:t>
            </a:r>
          </a:p>
          <a:p>
            <a:pPr marL="285750" indent="-182880" eaLnBrk="1" hangingPunct="1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cs typeface="+mn-cs"/>
              </a:rPr>
              <a:t>Serosanguineous drainage</a:t>
            </a:r>
          </a:p>
        </p:txBody>
      </p:sp>
    </p:spTree>
    <p:extLst>
      <p:ext uri="{BB962C8B-B14F-4D97-AF65-F5344CB8AC3E}">
        <p14:creationId xmlns:p14="http://schemas.microsoft.com/office/powerpoint/2010/main" val="3679198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67E2D8A-19BE-48A0-889C-CCAC02348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04F52D-9BD5-E3EF-31AE-E5C87BADD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71" y="1362492"/>
            <a:ext cx="3803442" cy="38129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96524-5429-AB08-D935-6D106DD28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8763" y="990600"/>
            <a:ext cx="3992994" cy="5257800"/>
          </a:xfrm>
        </p:spPr>
        <p:txBody>
          <a:bodyPr>
            <a:normAutofit/>
          </a:bodyPr>
          <a:lstStyle/>
          <a:p>
            <a:r>
              <a:rPr lang="en-US" sz="1800" dirty="0"/>
              <a:t>An </a:t>
            </a:r>
            <a:r>
              <a:rPr lang="en-US" sz="1800" b="1" dirty="0"/>
              <a:t>abscess</a:t>
            </a:r>
            <a:r>
              <a:rPr lang="en-US" sz="1800" dirty="0"/>
              <a:t> is a painful, localized collection of pus that forms when the body's immune system tries to fight off a bacterial infection. </a:t>
            </a:r>
          </a:p>
          <a:p>
            <a:r>
              <a:rPr lang="en-US" sz="1800" dirty="0"/>
              <a:t>When bacteria enter the tissue—often through a cut, a hair follicle, or an open wound—white blood cells rush to the site to attack the pathogens. </a:t>
            </a:r>
          </a:p>
          <a:p>
            <a:r>
              <a:rPr lang="en-US" sz="1800" dirty="0"/>
              <a:t>This response creates a pocket filled with living and dead white blood cells, bacteria, and dead tissue, which the body walls off with a capsule of tissue to prevent the infection from spreading</a:t>
            </a:r>
          </a:p>
        </p:txBody>
      </p:sp>
    </p:spTree>
    <p:extLst>
      <p:ext uri="{BB962C8B-B14F-4D97-AF65-F5344CB8AC3E}">
        <p14:creationId xmlns:p14="http://schemas.microsoft.com/office/powerpoint/2010/main" val="2456716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DDD3-B78D-BE74-DA54-945C49186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38200"/>
            <a:ext cx="7664196" cy="435133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Abscess</a:t>
            </a:r>
          </a:p>
          <a:p>
            <a:r>
              <a:rPr lang="en-US" dirty="0"/>
              <a:t>A </a:t>
            </a:r>
            <a:r>
              <a:rPr lang="en-US" b="1" dirty="0"/>
              <a:t>localized pocket of pus</a:t>
            </a:r>
            <a:r>
              <a:rPr lang="en-US" dirty="0"/>
              <a:t> that forms when the body fights an infection.</a:t>
            </a:r>
          </a:p>
          <a:p>
            <a:r>
              <a:rPr lang="en-US" dirty="0"/>
              <a:t>Often caused by </a:t>
            </a:r>
            <a:r>
              <a:rPr lang="en-US" b="1" dirty="0"/>
              <a:t>bacteria</a:t>
            </a:r>
            <a:r>
              <a:rPr lang="en-US" dirty="0"/>
              <a:t> </a:t>
            </a:r>
          </a:p>
          <a:p>
            <a:r>
              <a:rPr lang="en-US" dirty="0"/>
              <a:t>May appear </a:t>
            </a:r>
            <a:r>
              <a:rPr lang="en-US" b="1" dirty="0"/>
              <a:t>red, warm, swollen &amp; painful</a:t>
            </a:r>
            <a:r>
              <a:rPr lang="en-US" dirty="0"/>
              <a:t> </a:t>
            </a:r>
          </a:p>
          <a:p>
            <a:r>
              <a:rPr lang="en-US" dirty="0"/>
              <a:t>Contains </a:t>
            </a:r>
            <a:r>
              <a:rPr lang="en-US" b="1" dirty="0"/>
              <a:t>pus (purulent drainage)</a:t>
            </a:r>
            <a:r>
              <a:rPr lang="en-US" dirty="0"/>
              <a:t> </a:t>
            </a:r>
          </a:p>
          <a:p>
            <a:r>
              <a:rPr lang="en-US" dirty="0"/>
              <a:t>May require </a:t>
            </a:r>
            <a:r>
              <a:rPr lang="en-US" b="1" dirty="0"/>
              <a:t>incision &amp; drainage (I&amp;D)</a:t>
            </a:r>
            <a:r>
              <a:rPr lang="en-US" dirty="0"/>
              <a:t> and/or antibiotics </a:t>
            </a:r>
          </a:p>
          <a:p>
            <a:pPr marL="0" indent="0">
              <a:buNone/>
            </a:pPr>
            <a:r>
              <a:rPr lang="en-US" dirty="0"/>
              <a:t>_________________________________________________________</a:t>
            </a:r>
          </a:p>
          <a:p>
            <a:r>
              <a:rPr lang="en-US" b="1" dirty="0"/>
              <a:t>🩺 Nursing Priorities</a:t>
            </a:r>
          </a:p>
          <a:p>
            <a:r>
              <a:rPr lang="en-US" dirty="0"/>
              <a:t>Assess </a:t>
            </a:r>
            <a:r>
              <a:rPr lang="en-US" b="1" dirty="0"/>
              <a:t>size, redness, warmth, pain &amp; drainage</a:t>
            </a:r>
            <a:r>
              <a:rPr lang="en-US" dirty="0"/>
              <a:t> </a:t>
            </a:r>
          </a:p>
          <a:p>
            <a:r>
              <a:rPr lang="en-US" dirty="0"/>
              <a:t>Monitor for </a:t>
            </a:r>
            <a:r>
              <a:rPr lang="en-US" b="1" dirty="0"/>
              <a:t>fever or spreading infection</a:t>
            </a:r>
            <a:r>
              <a:rPr lang="en-US" dirty="0"/>
              <a:t> </a:t>
            </a:r>
          </a:p>
          <a:p>
            <a:r>
              <a:rPr lang="en-US" dirty="0"/>
              <a:t>Perform wound care as ordered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011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iagram&#10;&#10;Description automatically generated">
            <a:extLst>
              <a:ext uri="{FF2B5EF4-FFF2-40B4-BE49-F238E27FC236}">
                <a16:creationId xmlns:a16="http://schemas.microsoft.com/office/drawing/2014/main" id="{6E65519D-193A-4B47-9EA7-4D68F68E1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219200"/>
            <a:ext cx="7334956" cy="39608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9B506D-9785-4556-B93F-45B1931D9F8C}"/>
              </a:ext>
            </a:extLst>
          </p:cNvPr>
          <p:cNvSpPr/>
          <p:nvPr/>
        </p:nvSpPr>
        <p:spPr>
          <a:xfrm>
            <a:off x="3824504" y="-26770"/>
            <a:ext cx="14939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/>
                <a:cs typeface="Calibri"/>
              </a:rPr>
              <a:t>Abscess</a:t>
            </a:r>
          </a:p>
        </p:txBody>
      </p:sp>
    </p:spTree>
    <p:extLst>
      <p:ext uri="{BB962C8B-B14F-4D97-AF65-F5344CB8AC3E}">
        <p14:creationId xmlns:p14="http://schemas.microsoft.com/office/powerpoint/2010/main" val="493084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C5B29F-57E2-D182-DFF8-78243F370BDB}"/>
              </a:ext>
            </a:extLst>
          </p:cNvPr>
          <p:cNvSpPr txBox="1"/>
          <p:nvPr/>
        </p:nvSpPr>
        <p:spPr>
          <a:xfrm>
            <a:off x="547732" y="1295400"/>
            <a:ext cx="3962400" cy="340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Cellulitis is caused by a bacterial infection</a:t>
            </a:r>
            <a:r>
              <a:rPr lang="en-US" b="0" u="none" strike="noStrike" dirty="0">
                <a:effectLst/>
                <a:latin typeface="Google Sans"/>
              </a:rPr>
              <a:t> that leaks into the deeper layers of your skin and the fat tissue beneath it. </a:t>
            </a:r>
          </a:p>
          <a:p>
            <a:pPr marL="285750" indent="-28575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effectLst/>
                <a:latin typeface="Google Sans"/>
              </a:rPr>
              <a:t>Unlike an abscess—which forms a walled-off pocket of pus—cellulitis is a flat, spreading infection. It causes the skin to look </a:t>
            </a:r>
            <a:r>
              <a:rPr lang="en-US" b="1" u="none" strike="noStrike" dirty="0">
                <a:effectLst/>
                <a:latin typeface="Google Sans"/>
              </a:rPr>
              <a:t>red, swollen, tight, and feel very warm and painful to the touch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4D0B8-73CB-D971-48EF-E8C8DCE1E6A0}"/>
              </a:ext>
            </a:extLst>
          </p:cNvPr>
          <p:cNvSpPr txBox="1"/>
          <p:nvPr/>
        </p:nvSpPr>
        <p:spPr>
          <a:xfrm>
            <a:off x="898358" y="4547817"/>
            <a:ext cx="3048000" cy="2015936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US" u="sng" dirty="0">
                <a:latin typeface="Google Sans"/>
              </a:rPr>
              <a:t>I</a:t>
            </a:r>
            <a:r>
              <a:rPr lang="en-US" b="0" u="sng" strike="noStrike" dirty="0">
                <a:effectLst/>
                <a:latin typeface="Google Sans"/>
              </a:rPr>
              <a:t>t develops by a 2-step process: </a:t>
            </a:r>
          </a:p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US" dirty="0">
                <a:latin typeface="Google Sans"/>
              </a:rPr>
              <a:t>1.</a:t>
            </a:r>
            <a:r>
              <a:rPr lang="en-US" b="0" u="none" strike="noStrike" dirty="0">
                <a:effectLst/>
                <a:latin typeface="Google Sans"/>
              </a:rPr>
              <a:t>bacteria must be present</a:t>
            </a:r>
            <a:endParaRPr lang="en-US" dirty="0">
              <a:latin typeface="Google Sans"/>
            </a:endParaRPr>
          </a:p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US" b="0" u="none" strike="noStrike" dirty="0">
                <a:effectLst/>
                <a:latin typeface="Google Sans"/>
              </a:rPr>
              <a:t>2.must find a way past your skin's defenses.</a:t>
            </a:r>
          </a:p>
        </p:txBody>
      </p:sp>
      <p:pic>
        <p:nvPicPr>
          <p:cNvPr id="6" name="Picture 2" descr="Diagram&#10;&#10;Description automatically generated">
            <a:extLst>
              <a:ext uri="{FF2B5EF4-FFF2-40B4-BE49-F238E27FC236}">
                <a16:creationId xmlns:a16="http://schemas.microsoft.com/office/drawing/2014/main" id="{52054FF4-65B3-A043-149E-6CFD927F7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2583"/>
            <a:ext cx="4451685" cy="54492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E25A04-AF33-4E16-85B4-C638439CDFD8}"/>
              </a:ext>
            </a:extLst>
          </p:cNvPr>
          <p:cNvSpPr txBox="1"/>
          <p:nvPr/>
        </p:nvSpPr>
        <p:spPr>
          <a:xfrm>
            <a:off x="547732" y="0"/>
            <a:ext cx="45800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6600" b="1" dirty="0"/>
              <a:t>Cellulitis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137372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9D5D7B-77A0-6E2F-C6A6-ED8C75E56762}"/>
              </a:ext>
            </a:extLst>
          </p:cNvPr>
          <p:cNvSpPr txBox="1"/>
          <p:nvPr/>
        </p:nvSpPr>
        <p:spPr>
          <a:xfrm>
            <a:off x="693821" y="1371600"/>
            <a:ext cx="7010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bacterial infection of the deeper layers of the skin and subcutaneous tissue.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u="sng" dirty="0"/>
              <a:t>Common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🔴 Redness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🔥 Warmth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Swelling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Pain/tenderness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May develop fever</a:t>
            </a:r>
          </a:p>
          <a:p>
            <a:endParaRPr lang="en-US" dirty="0"/>
          </a:p>
          <a:p>
            <a:pPr>
              <a:buNone/>
            </a:pPr>
            <a:r>
              <a:rPr lang="en-US" b="1" u="sng" dirty="0"/>
              <a:t>🩺 Nursing Priorities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Assess and document the affected area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 for </a:t>
            </a:r>
            <a:r>
              <a:rPr lang="en-US" b="1" dirty="0"/>
              <a:t>spreading redness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Administer </a:t>
            </a:r>
            <a:r>
              <a:rPr lang="en-US" b="1" dirty="0"/>
              <a:t>antibiotics as ordered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 temperature and systemic symptoms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Report </a:t>
            </a:r>
            <a:r>
              <a:rPr lang="en-US" b="1" dirty="0"/>
              <a:t>rapidly spreading redness or worsening symptoms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5FCEF0-FD8A-D396-0090-63062EB8D269}"/>
              </a:ext>
            </a:extLst>
          </p:cNvPr>
          <p:cNvSpPr txBox="1"/>
          <p:nvPr/>
        </p:nvSpPr>
        <p:spPr>
          <a:xfrm>
            <a:off x="685800" y="-7737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7200" b="1" dirty="0"/>
              <a:t>Cellulitis</a:t>
            </a:r>
          </a:p>
        </p:txBody>
      </p:sp>
      <p:pic>
        <p:nvPicPr>
          <p:cNvPr id="8" name="Picture 2" descr="A hand holding an object in his hand&#10;&#10;Description automatically generated">
            <a:extLst>
              <a:ext uri="{FF2B5EF4-FFF2-40B4-BE49-F238E27FC236}">
                <a16:creationId xmlns:a16="http://schemas.microsoft.com/office/drawing/2014/main" id="{1A55248F-4FF3-1099-3748-B564D340E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828800"/>
            <a:ext cx="3886200" cy="2626487"/>
          </a:xfrm>
          <a:prstGeom prst="rect">
            <a:avLst/>
          </a:prstGeom>
          <a:effectLst>
            <a:softEdge rad="285658"/>
          </a:effectLst>
        </p:spPr>
      </p:pic>
    </p:spTree>
    <p:extLst>
      <p:ext uri="{BB962C8B-B14F-4D97-AF65-F5344CB8AC3E}">
        <p14:creationId xmlns:p14="http://schemas.microsoft.com/office/powerpoint/2010/main" val="2869746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4D3716-9248-4F8E-92BD-32BEBDC437F8}"/>
              </a:ext>
            </a:extLst>
          </p:cNvPr>
          <p:cNvSpPr/>
          <p:nvPr/>
        </p:nvSpPr>
        <p:spPr>
          <a:xfrm>
            <a:off x="3078403" y="-49936"/>
            <a:ext cx="29861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/>
                <a:cs typeface="Calibri"/>
              </a:rPr>
              <a:t>Necrosis Left Leg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625BF1-6C0C-4046-E4B5-CFFE9299432A}"/>
              </a:ext>
            </a:extLst>
          </p:cNvPr>
          <p:cNvSpPr/>
          <p:nvPr/>
        </p:nvSpPr>
        <p:spPr>
          <a:xfrm>
            <a:off x="1536762" y="73174"/>
            <a:ext cx="606941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NECROSIS &amp; GANGRENE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4F10D-DC42-08FC-6968-2214E7859351}"/>
              </a:ext>
            </a:extLst>
          </p:cNvPr>
          <p:cNvSpPr txBox="1"/>
          <p:nvPr/>
        </p:nvSpPr>
        <p:spPr>
          <a:xfrm>
            <a:off x="683538" y="842615"/>
            <a:ext cx="81413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Necrosis: Death of body tissue.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Common Causes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🩸 </a:t>
            </a:r>
            <a:r>
              <a:rPr lang="en-US" b="1" dirty="0"/>
              <a:t>Decreased blood flow</a:t>
            </a:r>
            <a:r>
              <a:rPr lang="en-US" dirty="0"/>
              <a:t> → tissue doesn't receive enough oxygen (pressure sores, for example)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🦠 </a:t>
            </a:r>
            <a:r>
              <a:rPr lang="en-US" b="1" dirty="0"/>
              <a:t>Severe infection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🔥 </a:t>
            </a:r>
            <a:r>
              <a:rPr lang="en-US" b="1" dirty="0"/>
              <a:t>Trauma/injury</a:t>
            </a:r>
            <a:r>
              <a:rPr lang="en-US" dirty="0"/>
              <a:t> such as burns or severe wounds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Prolonged pressure → decreased circulation </a:t>
            </a:r>
          </a:p>
          <a:p>
            <a:pPr>
              <a:buNone/>
            </a:pPr>
            <a:r>
              <a:rPr lang="en-US" dirty="0"/>
              <a:t>Necrotic tissue may appear </a:t>
            </a:r>
            <a:r>
              <a:rPr lang="en-US" b="1" dirty="0"/>
              <a:t>black, brown, or devitalized</a:t>
            </a:r>
            <a:r>
              <a:rPr lang="en-US" dirty="0"/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38BF1E-BA4C-2087-1B62-E2CAFF0D18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730" y="3427938"/>
            <a:ext cx="6659222" cy="319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25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hade val="98000"/>
                <a:satMod val="130000"/>
                <a:lumMod val="102000"/>
              </a:schemeClr>
            </a:gs>
            <a:gs pos="100000">
              <a:schemeClr val="bg1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iagram&#10;&#10;Description automatically generated">
            <a:extLst>
              <a:ext uri="{FF2B5EF4-FFF2-40B4-BE49-F238E27FC236}">
                <a16:creationId xmlns:a16="http://schemas.microsoft.com/office/drawing/2014/main" id="{87517099-13F6-4F07-8A62-C282E910B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52400"/>
            <a:ext cx="7463281" cy="37316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063D11-3EDA-8A39-F1D2-2DA69C43808A}"/>
              </a:ext>
            </a:extLst>
          </p:cNvPr>
          <p:cNvSpPr txBox="1"/>
          <p:nvPr/>
        </p:nvSpPr>
        <p:spPr>
          <a:xfrm>
            <a:off x="792402" y="4233074"/>
            <a:ext cx="73609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Nursing assessment: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Assess </a:t>
            </a:r>
            <a:r>
              <a:rPr lang="en-US" b="1" dirty="0"/>
              <a:t>color, temperature, pulses, sensation &amp; drainage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 for signs of </a:t>
            </a:r>
            <a:r>
              <a:rPr lang="en-US" b="1" dirty="0"/>
              <a:t>infection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Protect affected tissue from further injury Report </a:t>
            </a:r>
            <a:r>
              <a:rPr lang="en-US" b="1" dirty="0"/>
              <a:t>new or worsening tissue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Debridement may be ordered to remove dead (necrotic) tissue</a:t>
            </a:r>
            <a:r>
              <a:rPr lang="en-US" dirty="0"/>
              <a:t> Antibiotics if </a:t>
            </a:r>
            <a:r>
              <a:rPr lang="en-US" b="1" dirty="0"/>
              <a:t>infection is present</a:t>
            </a:r>
            <a:r>
              <a:rPr lang="en-US" dirty="0"/>
              <a:t>, as ordered Severe gangrene may require </a:t>
            </a:r>
            <a:r>
              <a:rPr lang="en-US" b="1" dirty="0"/>
              <a:t>surgical intervention/amputation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756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85DA84-CB73-4E5E-9864-2460CE280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49185E-361A-421B-8F2D-11C7FFC68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432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B85BAA-C37F-44B4-B427-B4F10EBB4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9680" y="-4668"/>
            <a:ext cx="27432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C4EE06-D7B4-4FAC-A561-38A1C380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94325"/>
            <a:ext cx="27432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18D83B-903C-4782-B1BB-A45164A71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9680" y="6494325"/>
            <a:ext cx="27432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85589A-A5AC-409A-B2A2-24D871B4C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50" y="158782"/>
            <a:ext cx="8902699" cy="6537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93D8D5-7A70-2362-1948-246E19698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511208"/>
            <a:ext cx="8420099" cy="583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19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A picture containing food&#10;&#10;Description automatically generated">
            <a:extLst>
              <a:ext uri="{FF2B5EF4-FFF2-40B4-BE49-F238E27FC236}">
                <a16:creationId xmlns:a16="http://schemas.microsoft.com/office/drawing/2014/main" id="{DEE99C8A-C2BA-4334-8496-9802753E7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09600"/>
            <a:ext cx="8127471" cy="49458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8251345-6750-45FD-BF36-1B760BAD029B}"/>
              </a:ext>
            </a:extLst>
          </p:cNvPr>
          <p:cNvSpPr/>
          <p:nvPr/>
        </p:nvSpPr>
        <p:spPr>
          <a:xfrm>
            <a:off x="1143000" y="5370822"/>
            <a:ext cx="8157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Serous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800E6B-9110-467D-A4EA-43B6BD0A1923}"/>
              </a:ext>
            </a:extLst>
          </p:cNvPr>
          <p:cNvSpPr/>
          <p:nvPr/>
        </p:nvSpPr>
        <p:spPr>
          <a:xfrm>
            <a:off x="2743977" y="5370822"/>
            <a:ext cx="16653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Serosanguinous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5840F2-280D-435C-B293-791C1D121CB5}"/>
              </a:ext>
            </a:extLst>
          </p:cNvPr>
          <p:cNvSpPr/>
          <p:nvPr/>
        </p:nvSpPr>
        <p:spPr>
          <a:xfrm>
            <a:off x="4876800" y="5383717"/>
            <a:ext cx="1377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Sanguineous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47E8CB-1B4C-40DC-AD1A-225E4B3D7777}"/>
              </a:ext>
            </a:extLst>
          </p:cNvPr>
          <p:cNvSpPr/>
          <p:nvPr/>
        </p:nvSpPr>
        <p:spPr>
          <a:xfrm>
            <a:off x="6961452" y="5370822"/>
            <a:ext cx="9920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Purulent</a:t>
            </a:r>
          </a:p>
        </p:txBody>
      </p:sp>
    </p:spTree>
    <p:extLst>
      <p:ext uri="{BB962C8B-B14F-4D97-AF65-F5344CB8AC3E}">
        <p14:creationId xmlns:p14="http://schemas.microsoft.com/office/powerpoint/2010/main" val="1204463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9ACBF22F-9AFD-4F34-8549-099621858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1036702"/>
            <a:ext cx="8178799" cy="478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250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2DA029-15D4-7A9F-359C-C84640C2CECB}"/>
              </a:ext>
            </a:extLst>
          </p:cNvPr>
          <p:cNvSpPr txBox="1"/>
          <p:nvPr/>
        </p:nvSpPr>
        <p:spPr>
          <a:xfrm>
            <a:off x="762000" y="1443841"/>
            <a:ext cx="8077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🦠 Bacteremia</a:t>
            </a:r>
          </a:p>
          <a:p>
            <a:pPr>
              <a:buNone/>
            </a:pPr>
            <a:r>
              <a:rPr lang="en-US" b="1" dirty="0"/>
              <a:t>Bacteria are present in the bloodstream.</a:t>
            </a:r>
            <a:endParaRPr lang="en-US" dirty="0"/>
          </a:p>
          <a:p>
            <a:pPr>
              <a:buNone/>
            </a:pPr>
            <a:r>
              <a:rPr lang="en-US" b="1" dirty="0"/>
              <a:t>Common Causes</a:t>
            </a:r>
          </a:p>
          <a:p>
            <a:pPr>
              <a:buNone/>
            </a:pPr>
            <a:r>
              <a:rPr lang="en-US" dirty="0"/>
              <a:t>Bacteria can enter the blood from an infection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UTI , Pneumonia , Skin/wound infection , Infected IV/central line </a:t>
            </a:r>
          </a:p>
          <a:p>
            <a:pPr>
              <a:buNone/>
            </a:pPr>
            <a:r>
              <a:rPr lang="en-US" dirty="0"/>
              <a:t>It can also be </a:t>
            </a:r>
            <a:r>
              <a:rPr lang="en-US" b="1" dirty="0"/>
              <a:t>brief/transient</a:t>
            </a:r>
            <a:r>
              <a:rPr lang="en-US" dirty="0"/>
              <a:t> and not necessarily cause illness.</a:t>
            </a:r>
          </a:p>
          <a:p>
            <a:pPr>
              <a:buNone/>
            </a:pPr>
            <a:r>
              <a:rPr lang="en-US" b="1" dirty="0"/>
              <a:t>Bacteremia does NOT automatically mean sepsis.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🚨 Sepsis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life-threatening response to infection that causes organ dysfunction.</a:t>
            </a:r>
            <a:endParaRPr lang="en-US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🧠 Connection:</a:t>
            </a:r>
          </a:p>
          <a:p>
            <a:pPr>
              <a:buNone/>
            </a:pPr>
            <a:r>
              <a:rPr lang="en-US" b="1" dirty="0"/>
              <a:t>Infection somewhere in the body → dysregulated systemic response → organ dysfunction = SEPSIS</a:t>
            </a:r>
            <a:endParaRPr lang="en-US" dirty="0"/>
          </a:p>
        </p:txBody>
      </p:sp>
      <p:pic>
        <p:nvPicPr>
          <p:cNvPr id="5" name="Picture 4" descr="Green chloroplasts in a plant cell">
            <a:extLst>
              <a:ext uri="{FF2B5EF4-FFF2-40B4-BE49-F238E27FC236}">
                <a16:creationId xmlns:a16="http://schemas.microsoft.com/office/drawing/2014/main" id="{BB9F4B8D-C33D-12D7-D624-1604DCD83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304800"/>
            <a:ext cx="236220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80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E807223-DF88-4D6D-970E-08919E5E0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61D8973-EAA9-459A-AF59-BBB4233D6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93F04-C7E5-DF6A-08A7-96AD6B4BAF7C}"/>
              </a:ext>
            </a:extLst>
          </p:cNvPr>
          <p:cNvSpPr txBox="1"/>
          <p:nvPr/>
        </p:nvSpPr>
        <p:spPr>
          <a:xfrm>
            <a:off x="588557" y="685800"/>
            <a:ext cx="4345106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u="sng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Why Does Sepsis Cause Hypotension (low BP)?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3452F-A366-B6BD-5F05-0255E9BC174E}"/>
              </a:ext>
            </a:extLst>
          </p:cNvPr>
          <p:cNvSpPr txBox="1"/>
          <p:nvPr/>
        </p:nvSpPr>
        <p:spPr>
          <a:xfrm>
            <a:off x="588557" y="2286000"/>
            <a:ext cx="4345106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84048" indent="-384048" algn="ctr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None/>
            </a:pPr>
            <a:r>
              <a:rPr lang="en-US" sz="1700" b="1" dirty="0">
                <a:solidFill>
                  <a:schemeClr val="tx2"/>
                </a:solidFill>
              </a:rPr>
              <a:t>Infection</a:t>
            </a:r>
            <a:r>
              <a:rPr lang="en-US" sz="1700" dirty="0">
                <a:solidFill>
                  <a:schemeClr val="tx2"/>
                </a:solidFill>
              </a:rPr>
              <a:t> 🦠</a:t>
            </a:r>
            <a:br>
              <a:rPr lang="en-US" sz="1700" dirty="0">
                <a:solidFill>
                  <a:schemeClr val="tx2"/>
                </a:solidFill>
              </a:rPr>
            </a:br>
            <a:r>
              <a:rPr lang="en-US" sz="1700" dirty="0">
                <a:solidFill>
                  <a:schemeClr val="tx2"/>
                </a:solidFill>
              </a:rPr>
              <a:t>↓</a:t>
            </a:r>
            <a:br>
              <a:rPr lang="en-US" sz="1700" dirty="0">
                <a:solidFill>
                  <a:schemeClr val="tx2"/>
                </a:solidFill>
              </a:rPr>
            </a:br>
            <a:r>
              <a:rPr lang="en-US" sz="1700" dirty="0">
                <a:solidFill>
                  <a:schemeClr val="tx2"/>
                </a:solidFill>
              </a:rPr>
              <a:t>Dysregulated inflammatory response 🔥</a:t>
            </a:r>
            <a:br>
              <a:rPr lang="en-US" sz="1700" dirty="0">
                <a:solidFill>
                  <a:schemeClr val="tx2"/>
                </a:solidFill>
              </a:rPr>
            </a:br>
            <a:r>
              <a:rPr lang="en-US" sz="1700" dirty="0">
                <a:solidFill>
                  <a:schemeClr val="tx2"/>
                </a:solidFill>
              </a:rPr>
              <a:t>↓</a:t>
            </a:r>
            <a:br>
              <a:rPr lang="en-US" sz="1700" dirty="0">
                <a:solidFill>
                  <a:schemeClr val="tx2"/>
                </a:solidFill>
              </a:rPr>
            </a:br>
            <a:r>
              <a:rPr lang="en-US" sz="1700" b="1" dirty="0">
                <a:solidFill>
                  <a:schemeClr val="tx2"/>
                </a:solidFill>
              </a:rPr>
              <a:t>Widespread vasodilation</a:t>
            </a:r>
            <a:r>
              <a:rPr lang="en-US" sz="1700" dirty="0">
                <a:solidFill>
                  <a:schemeClr val="tx2"/>
                </a:solidFill>
              </a:rPr>
              <a:t> 🩸</a:t>
            </a:r>
            <a:br>
              <a:rPr lang="en-US" sz="1700" dirty="0">
                <a:solidFill>
                  <a:schemeClr val="tx2"/>
                </a:solidFill>
              </a:rPr>
            </a:br>
            <a:r>
              <a:rPr lang="en-US" sz="1700" dirty="0">
                <a:solidFill>
                  <a:schemeClr val="tx2"/>
                </a:solidFill>
              </a:rPr>
              <a:t>+</a:t>
            </a:r>
            <a:br>
              <a:rPr lang="en-US" sz="1700" dirty="0">
                <a:solidFill>
                  <a:schemeClr val="tx2"/>
                </a:solidFill>
              </a:rPr>
            </a:br>
            <a:r>
              <a:rPr lang="en-US" sz="1700" b="1" dirty="0">
                <a:solidFill>
                  <a:schemeClr val="tx2"/>
                </a:solidFill>
              </a:rPr>
              <a:t>Capillary leak</a:t>
            </a:r>
            <a:r>
              <a:rPr lang="en-US" sz="1700" dirty="0">
                <a:solidFill>
                  <a:schemeClr val="tx2"/>
                </a:solidFill>
              </a:rPr>
              <a:t> 💧</a:t>
            </a:r>
            <a:br>
              <a:rPr lang="en-US" sz="1700" dirty="0">
                <a:solidFill>
                  <a:schemeClr val="tx2"/>
                </a:solidFill>
              </a:rPr>
            </a:br>
            <a:r>
              <a:rPr lang="en-US" sz="1700" dirty="0">
                <a:solidFill>
                  <a:schemeClr val="tx2"/>
                </a:solidFill>
              </a:rPr>
              <a:t>↓</a:t>
            </a:r>
            <a:br>
              <a:rPr lang="en-US" sz="1700" dirty="0">
                <a:solidFill>
                  <a:schemeClr val="tx2"/>
                </a:solidFill>
              </a:rPr>
            </a:br>
            <a:r>
              <a:rPr lang="en-US" sz="1700" b="1" dirty="0">
                <a:solidFill>
                  <a:schemeClr val="tx2"/>
                </a:solidFill>
              </a:rPr>
              <a:t>↓ Blood pressure</a:t>
            </a:r>
            <a:r>
              <a:rPr lang="en-US" sz="1700" dirty="0">
                <a:solidFill>
                  <a:schemeClr val="tx2"/>
                </a:solidFill>
              </a:rPr>
              <a:t> 📉</a:t>
            </a:r>
            <a:br>
              <a:rPr lang="en-US" sz="1700" dirty="0">
                <a:solidFill>
                  <a:schemeClr val="tx2"/>
                </a:solidFill>
              </a:rPr>
            </a:br>
            <a:r>
              <a:rPr lang="en-US" sz="1700" dirty="0">
                <a:solidFill>
                  <a:schemeClr val="tx2"/>
                </a:solidFill>
              </a:rPr>
              <a:t>↓</a:t>
            </a:r>
            <a:br>
              <a:rPr lang="en-US" sz="1700" dirty="0">
                <a:solidFill>
                  <a:schemeClr val="tx2"/>
                </a:solidFill>
              </a:rPr>
            </a:br>
            <a:r>
              <a:rPr lang="en-US" sz="1700" b="1" dirty="0">
                <a:solidFill>
                  <a:schemeClr val="tx2"/>
                </a:solidFill>
              </a:rPr>
              <a:t>↓ Tissue/organ perfusion</a:t>
            </a:r>
            <a:br>
              <a:rPr lang="en-US" sz="1700" dirty="0">
                <a:solidFill>
                  <a:schemeClr val="tx2"/>
                </a:solidFill>
              </a:rPr>
            </a:br>
            <a:r>
              <a:rPr lang="en-US" sz="1700" dirty="0">
                <a:solidFill>
                  <a:schemeClr val="tx2"/>
                </a:solidFill>
              </a:rPr>
              <a:t>↓</a:t>
            </a:r>
            <a:br>
              <a:rPr lang="en-US" sz="1700" dirty="0">
                <a:solidFill>
                  <a:schemeClr val="tx2"/>
                </a:solidFill>
              </a:rPr>
            </a:br>
            <a:r>
              <a:rPr lang="en-US" sz="1700" dirty="0">
                <a:solidFill>
                  <a:schemeClr val="tx2"/>
                </a:solidFill>
              </a:rPr>
              <a:t>🚨 </a:t>
            </a:r>
            <a:r>
              <a:rPr lang="en-US" sz="1700" b="1" dirty="0">
                <a:solidFill>
                  <a:schemeClr val="tx2"/>
                </a:solidFill>
              </a:rPr>
              <a:t>Organ dysfunction</a:t>
            </a:r>
            <a:endParaRPr lang="en-US" sz="1700" dirty="0">
              <a:solidFill>
                <a:schemeClr val="tx2"/>
              </a:solidFill>
            </a:endParaRPr>
          </a:p>
          <a:p>
            <a:pPr marL="384048" indent="-384048" algn="ctr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None/>
            </a:pPr>
            <a:r>
              <a:rPr lang="en-US" sz="1700" dirty="0">
                <a:solidFill>
                  <a:schemeClr val="tx2"/>
                </a:solidFill>
              </a:rPr>
              <a:t>🧠 </a:t>
            </a:r>
            <a:r>
              <a:rPr lang="en-US" sz="1700" b="1" dirty="0">
                <a:solidFill>
                  <a:schemeClr val="tx2"/>
                </a:solidFill>
              </a:rPr>
              <a:t>Big vessels + leaky vessels = LOW BP</a:t>
            </a:r>
            <a:endParaRPr lang="en-US" sz="1700" dirty="0">
              <a:solidFill>
                <a:schemeClr val="tx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EA8A33-C0D0-416D-8359-724B8828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7745" y="0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 descr="Blood pressure cuff on white background">
            <a:extLst>
              <a:ext uri="{FF2B5EF4-FFF2-40B4-BE49-F238E27FC236}">
                <a16:creationId xmlns:a16="http://schemas.microsoft.com/office/drawing/2014/main" id="{CBBAC77C-5866-2B27-8935-A6848C06A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85" r="33359" b="2"/>
          <a:stretch>
            <a:fillRect/>
          </a:stretch>
        </p:blipFill>
        <p:spPr>
          <a:xfrm>
            <a:off x="5709195" y="10"/>
            <a:ext cx="343480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0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82839-7B5A-472B-8D47-B59115BCE9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Child with a Communicable Disease</a:t>
            </a:r>
            <a:br>
              <a:rPr lang="en-US" dirty="0"/>
            </a:br>
            <a:r>
              <a:rPr lang="en-US" sz="4000" dirty="0"/>
              <a:t>Let's Review your book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4764F-E63C-4357-9C34-1B0D5ED54F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/>
              <a:t>Safe Maternity and Pediatric Nursing Care CH 37</a:t>
            </a:r>
          </a:p>
          <a:p>
            <a:r>
              <a:rPr lang="en-US" dirty="0"/>
              <a:t>Box 37.2, Page 678</a:t>
            </a:r>
          </a:p>
          <a:p>
            <a:r>
              <a:rPr lang="en-US" dirty="0"/>
              <a:t>Safe and Effective Nursing Care</a:t>
            </a:r>
          </a:p>
          <a:p>
            <a:r>
              <a:rPr lang="en-US" dirty="0"/>
              <a:t>Patient Teaching/Guidelines</a:t>
            </a:r>
          </a:p>
          <a:p>
            <a:r>
              <a:rPr lang="en-US" dirty="0"/>
              <a:t>Safety Guidelines</a:t>
            </a:r>
          </a:p>
        </p:txBody>
      </p:sp>
    </p:spTree>
    <p:extLst>
      <p:ext uri="{BB962C8B-B14F-4D97-AF65-F5344CB8AC3E}">
        <p14:creationId xmlns:p14="http://schemas.microsoft.com/office/powerpoint/2010/main" val="852195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8E8E9-4801-4348-AA5C-0F5754E3A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77724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COMMON COMMUNICABLE DISEASES</a:t>
            </a:r>
            <a:b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04744-8753-48E5-ABE0-C1F0DD023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404" y="2648129"/>
            <a:ext cx="4267200" cy="3383670"/>
          </a:xfrm>
        </p:spPr>
        <p:txBody>
          <a:bodyPr>
            <a:normAutofit/>
          </a:bodyPr>
          <a:lstStyle/>
          <a:p>
            <a:r>
              <a:rPr lang="en-US" dirty="0"/>
              <a:t>Influenza: The “Flu”</a:t>
            </a:r>
          </a:p>
          <a:p>
            <a:r>
              <a:rPr lang="en-US" dirty="0"/>
              <a:t>Measles</a:t>
            </a:r>
          </a:p>
          <a:p>
            <a:r>
              <a:rPr lang="en-US" dirty="0"/>
              <a:t>Mumps </a:t>
            </a:r>
          </a:p>
          <a:p>
            <a:r>
              <a:rPr lang="en-US" dirty="0"/>
              <a:t>Rubella (German measles)</a:t>
            </a:r>
          </a:p>
          <a:p>
            <a:r>
              <a:rPr lang="en-US" dirty="0"/>
              <a:t>Roseola</a:t>
            </a:r>
          </a:p>
          <a:p>
            <a:r>
              <a:rPr lang="en-US" dirty="0"/>
              <a:t>Varicella (Chicken pox)</a:t>
            </a:r>
          </a:p>
          <a:p>
            <a:r>
              <a:rPr lang="en-US" dirty="0"/>
              <a:t>Polio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F07128-E705-468D-8098-B712270CFBFB}"/>
              </a:ext>
            </a:extLst>
          </p:cNvPr>
          <p:cNvSpPr/>
          <p:nvPr/>
        </p:nvSpPr>
        <p:spPr>
          <a:xfrm>
            <a:off x="5486400" y="4440862"/>
            <a:ext cx="33602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Hepatitis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Hepatitis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Rotavirus</a:t>
            </a:r>
          </a:p>
          <a:p>
            <a:endParaRPr lang="en-US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Human Papilloma Virus (HPV)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3321F-A1E0-47C3-91E8-B9F049B09864}"/>
              </a:ext>
            </a:extLst>
          </p:cNvPr>
          <p:cNvSpPr txBox="1"/>
          <p:nvPr/>
        </p:nvSpPr>
        <p:spPr>
          <a:xfrm>
            <a:off x="610162" y="826201"/>
            <a:ext cx="45800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u="none" strike="noStrike" dirty="0">
                <a:effectLst/>
                <a:latin typeface="Google Sans"/>
              </a:rPr>
              <a:t>A communicable disease is </a:t>
            </a:r>
            <a:r>
              <a:rPr lang="en-US" dirty="0"/>
              <a:t>an illness caused by germs like viruses, bacteria, or parasites that spreads from one person, animal, or surface to another.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72F886-CDAB-85CA-E815-9489859F1048}"/>
              </a:ext>
            </a:extLst>
          </p:cNvPr>
          <p:cNvSpPr txBox="1"/>
          <p:nvPr/>
        </p:nvSpPr>
        <p:spPr>
          <a:xfrm>
            <a:off x="5486400" y="1919460"/>
            <a:ext cx="3501470" cy="2119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Haemophilus</a:t>
            </a:r>
            <a:r>
              <a:rPr lang="en-US" dirty="0"/>
              <a:t> Influenza Type 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Pneumococcus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Diptheria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Pertussis (Whooping cough)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Tetanus</a:t>
            </a:r>
          </a:p>
        </p:txBody>
      </p:sp>
    </p:spTree>
    <p:extLst>
      <p:ext uri="{BB962C8B-B14F-4D97-AF65-F5344CB8AC3E}">
        <p14:creationId xmlns:p14="http://schemas.microsoft.com/office/powerpoint/2010/main" val="3296351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FC612F-E44C-3C31-4CA6-3578F90A6923}"/>
              </a:ext>
            </a:extLst>
          </p:cNvPr>
          <p:cNvSpPr/>
          <p:nvPr/>
        </p:nvSpPr>
        <p:spPr>
          <a:xfrm>
            <a:off x="2133600" y="2967335"/>
            <a:ext cx="52867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 MADE IT!!!!!!!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92073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0D44A4-82B8-1100-1E9F-EEAB1B156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32" y="4010"/>
            <a:ext cx="9307887" cy="685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1218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DD63A876F1FB4FA9C8C370A05D0E7F" ma:contentTypeVersion="7" ma:contentTypeDescription="Create a new document." ma:contentTypeScope="" ma:versionID="6f739b071c92e50559e55283b38b30a6">
  <xsd:schema xmlns:xsd="http://www.w3.org/2001/XMLSchema" xmlns:xs="http://www.w3.org/2001/XMLSchema" xmlns:p="http://schemas.microsoft.com/office/2006/metadata/properties" xmlns:ns3="4076a6ed-866e-48ba-b9ad-a9406f9c38f3" xmlns:ns4="d03e66c3-456d-493d-9fec-a93579bc56c0" targetNamespace="http://schemas.microsoft.com/office/2006/metadata/properties" ma:root="true" ma:fieldsID="755d4434007c72d62a3223abe29b0333" ns3:_="" ns4:_="">
    <xsd:import namespace="4076a6ed-866e-48ba-b9ad-a9406f9c38f3"/>
    <xsd:import namespace="d03e66c3-456d-493d-9fec-a93579bc56c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76a6ed-866e-48ba-b9ad-a9406f9c38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3e66c3-456d-493d-9fec-a93579bc56c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CEA7CD-2134-4C16-B1CE-5CC9481360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A16A89-06D8-43E9-9E4D-D4B709F57B82}">
  <ds:schemaRefs>
    <ds:schemaRef ds:uri="4076a6ed-866e-48ba-b9ad-a9406f9c38f3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d03e66c3-456d-493d-9fec-a93579bc56c0"/>
  </ds:schemaRefs>
</ds:datastoreItem>
</file>

<file path=customXml/itemProps3.xml><?xml version="1.0" encoding="utf-8"?>
<ds:datastoreItem xmlns:ds="http://schemas.openxmlformats.org/officeDocument/2006/customXml" ds:itemID="{B76F047B-2EFB-47B8-9AB7-316CB38255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76a6ed-866e-48ba-b9ad-a9406f9c38f3"/>
    <ds:schemaRef ds:uri="d03e66c3-456d-493d-9fec-a93579bc56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fa5be20-dc39-4186-a780-7e1bcec99d18}" enabled="1" method="Standard" siteId="{c5063431-d7f2-48db-ac62-eaeaa2e0bff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10130</TotalTime>
  <Words>987</Words>
  <Application>Microsoft Macintosh PowerPoint</Application>
  <PresentationFormat>On-screen Show (4:3)</PresentationFormat>
  <Paragraphs>142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Narrow</vt:lpstr>
      <vt:lpstr>Calibri</vt:lpstr>
      <vt:lpstr>Franklin Gothic Book</vt:lpstr>
      <vt:lpstr>Google Sans</vt:lpstr>
      <vt:lpstr>Times New Roman</vt:lpstr>
      <vt:lpstr>Crop</vt:lpstr>
      <vt:lpstr>Immunity Lecture  Parte Dos</vt:lpstr>
      <vt:lpstr>Immunity: Definitions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Child with a Communicable Disease Let's Review your book</vt:lpstr>
      <vt:lpstr>COMMON COMMUNICABLE DISEASES  </vt:lpstr>
      <vt:lpstr>PowerPoint Presentation</vt:lpstr>
      <vt:lpstr>PowerPoint Presentation</vt:lpstr>
    </vt:vector>
  </TitlesOfParts>
  <Company>OTC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OTC</dc:creator>
  <cp:lastModifiedBy>Marlen Abraham</cp:lastModifiedBy>
  <cp:revision>2752</cp:revision>
  <cp:lastPrinted>2017-09-26T18:28:48Z</cp:lastPrinted>
  <dcterms:created xsi:type="dcterms:W3CDTF">2002-04-03T19:12:35Z</dcterms:created>
  <dcterms:modified xsi:type="dcterms:W3CDTF">2026-08-18T22:12:46Z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0x01010050DD63A876F1FB4FA9C8C370A05D0E7F</vt:lpwstr>
  </property>
</Properties>
</file>